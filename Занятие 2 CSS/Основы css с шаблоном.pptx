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2" r:id="rId1"/>
  </p:sldMasterIdLst>
  <p:notesMasterIdLst>
    <p:notesMasterId r:id="rId6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5" r:id="rId29"/>
    <p:sldId id="286" r:id="rId30"/>
    <p:sldId id="283" r:id="rId31"/>
    <p:sldId id="284" r:id="rId32"/>
    <p:sldId id="287"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16" r:id="rId61"/>
    <p:sldId id="317" r:id="rId62"/>
    <p:sldId id="318" r:id="rId63"/>
    <p:sldId id="319" r:id="rId64"/>
    <p:sldId id="320" r:id="rId6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856"/>
    <p:restoredTop sz="96405"/>
  </p:normalViewPr>
  <p:slideViewPr>
    <p:cSldViewPr snapToGrid="0" snapToObjects="1">
      <p:cViewPr varScale="1">
        <p:scale>
          <a:sx n="114" d="100"/>
          <a:sy n="114" d="100"/>
        </p:scale>
        <p:origin x="540"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R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94BB5C-316A-B448-97CE-D10F6E372898}" type="datetimeFigureOut">
              <a:rPr lang="en-RU" smtClean="0"/>
              <a:t>09/28/2026</a:t>
            </a:fld>
            <a:endParaRPr lang="en-R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R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R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R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B70A82-1DA4-D548-8CEA-3AE5D089E6E8}" type="slidenum">
              <a:rPr lang="en-RU" smtClean="0"/>
              <a:t>‹#›</a:t>
            </a:fld>
            <a:endParaRPr lang="en-RU"/>
          </a:p>
        </p:txBody>
      </p:sp>
    </p:spTree>
    <p:extLst>
      <p:ext uri="{BB962C8B-B14F-4D97-AF65-F5344CB8AC3E}">
        <p14:creationId xmlns:p14="http://schemas.microsoft.com/office/powerpoint/2010/main" val="4262355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GB"/>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7" name="Date Placeholder 6"/>
          <p:cNvSpPr>
            <a:spLocks noGrp="1"/>
          </p:cNvSpPr>
          <p:nvPr>
            <p:ph type="dt" sz="half" idx="10"/>
          </p:nvPr>
        </p:nvSpPr>
        <p:spPr/>
        <p:txBody>
          <a:bodyPr/>
          <a:lstStyle/>
          <a:p>
            <a:fld id="{5086A886-17B2-F04B-9A70-876FAA52C694}" type="datetimeFigureOut">
              <a:rPr lang="en-RU" smtClean="0"/>
              <a:t>09/28/2026</a:t>
            </a:fld>
            <a:endParaRPr lang="en-RU"/>
          </a:p>
        </p:txBody>
      </p:sp>
      <p:sp>
        <p:nvSpPr>
          <p:cNvPr id="8" name="Footer Placeholder 7"/>
          <p:cNvSpPr>
            <a:spLocks noGrp="1"/>
          </p:cNvSpPr>
          <p:nvPr>
            <p:ph type="ftr" sz="quarter" idx="11"/>
          </p:nvPr>
        </p:nvSpPr>
        <p:spPr/>
        <p:txBody>
          <a:bodyPr/>
          <a:lstStyle/>
          <a:p>
            <a:endParaRPr lang="en-RU"/>
          </a:p>
        </p:txBody>
      </p:sp>
      <p:sp>
        <p:nvSpPr>
          <p:cNvPr id="9" name="Slide Number Placeholder 8"/>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2210848769"/>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5086A886-17B2-F04B-9A70-876FAA52C694}" type="datetimeFigureOut">
              <a:rPr lang="en-RU" smtClean="0"/>
              <a:t>09/28/2026</a:t>
            </a:fld>
            <a:endParaRPr lang="en-RU"/>
          </a:p>
        </p:txBody>
      </p:sp>
      <p:sp>
        <p:nvSpPr>
          <p:cNvPr id="8" name="Footer Placeholder 7"/>
          <p:cNvSpPr>
            <a:spLocks noGrp="1"/>
          </p:cNvSpPr>
          <p:nvPr>
            <p:ph type="ftr" sz="quarter" idx="11"/>
          </p:nvPr>
        </p:nvSpPr>
        <p:spPr/>
        <p:txBody>
          <a:bodyPr/>
          <a:lstStyle/>
          <a:p>
            <a:endParaRPr lang="en-RU"/>
          </a:p>
        </p:txBody>
      </p:sp>
      <p:sp>
        <p:nvSpPr>
          <p:cNvPr id="9" name="Slide Number Placeholder 8"/>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1371519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GB"/>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7" name="Date Placeholder 6"/>
          <p:cNvSpPr>
            <a:spLocks noGrp="1"/>
          </p:cNvSpPr>
          <p:nvPr>
            <p:ph type="dt" sz="half" idx="10"/>
          </p:nvPr>
        </p:nvSpPr>
        <p:spPr/>
        <p:txBody>
          <a:bodyPr/>
          <a:lstStyle/>
          <a:p>
            <a:fld id="{5086A886-17B2-F04B-9A70-876FAA52C694}" type="datetimeFigureOut">
              <a:rPr lang="en-RU" smtClean="0"/>
              <a:t>09/28/2026</a:t>
            </a:fld>
            <a:endParaRPr lang="en-RU"/>
          </a:p>
        </p:txBody>
      </p:sp>
      <p:sp>
        <p:nvSpPr>
          <p:cNvPr id="8" name="Footer Placeholder 7"/>
          <p:cNvSpPr>
            <a:spLocks noGrp="1"/>
          </p:cNvSpPr>
          <p:nvPr>
            <p:ph type="ftr" sz="quarter" idx="11"/>
          </p:nvPr>
        </p:nvSpPr>
        <p:spPr/>
        <p:txBody>
          <a:bodyPr/>
          <a:lstStyle/>
          <a:p>
            <a:endParaRPr lang="en-RU"/>
          </a:p>
        </p:txBody>
      </p:sp>
      <p:sp>
        <p:nvSpPr>
          <p:cNvPr id="9" name="Slide Number Placeholder 8"/>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4211852428"/>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8" name="Date Placeholder 7"/>
          <p:cNvSpPr>
            <a:spLocks noGrp="1"/>
          </p:cNvSpPr>
          <p:nvPr>
            <p:ph type="dt" sz="half" idx="10"/>
          </p:nvPr>
        </p:nvSpPr>
        <p:spPr/>
        <p:txBody>
          <a:bodyPr/>
          <a:lstStyle/>
          <a:p>
            <a:fld id="{5086A886-17B2-F04B-9A70-876FAA52C694}" type="datetimeFigureOut">
              <a:rPr lang="en-RU" smtClean="0"/>
              <a:t>09/28/2026</a:t>
            </a:fld>
            <a:endParaRPr lang="en-RU"/>
          </a:p>
        </p:txBody>
      </p:sp>
      <p:sp>
        <p:nvSpPr>
          <p:cNvPr id="9" name="Footer Placeholder 8"/>
          <p:cNvSpPr>
            <a:spLocks noGrp="1"/>
          </p:cNvSpPr>
          <p:nvPr>
            <p:ph type="ftr" sz="quarter" idx="11"/>
          </p:nvPr>
        </p:nvSpPr>
        <p:spPr/>
        <p:txBody>
          <a:bodyPr/>
          <a:lstStyle/>
          <a:p>
            <a:endParaRPr lang="en-RU"/>
          </a:p>
        </p:txBody>
      </p:sp>
      <p:sp>
        <p:nvSpPr>
          <p:cNvPr id="10" name="Slide Number Placeholder 9"/>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27693404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7" name="Date Placeholder 6"/>
          <p:cNvSpPr>
            <a:spLocks noGrp="1"/>
          </p:cNvSpPr>
          <p:nvPr>
            <p:ph type="dt" sz="half" idx="10"/>
          </p:nvPr>
        </p:nvSpPr>
        <p:spPr/>
        <p:txBody>
          <a:bodyPr/>
          <a:lstStyle/>
          <a:p>
            <a:fld id="{5086A886-17B2-F04B-9A70-876FAA52C694}" type="datetimeFigureOut">
              <a:rPr lang="en-RU" smtClean="0"/>
              <a:t>09/28/2026</a:t>
            </a:fld>
            <a:endParaRPr lang="en-RU"/>
          </a:p>
        </p:txBody>
      </p:sp>
      <p:sp>
        <p:nvSpPr>
          <p:cNvPr id="8" name="Footer Placeholder 7"/>
          <p:cNvSpPr>
            <a:spLocks noGrp="1"/>
          </p:cNvSpPr>
          <p:nvPr>
            <p:ph type="ftr" sz="quarter" idx="11"/>
          </p:nvPr>
        </p:nvSpPr>
        <p:spPr/>
        <p:txBody>
          <a:bodyPr/>
          <a:lstStyle/>
          <a:p>
            <a:endParaRPr lang="en-RU"/>
          </a:p>
        </p:txBody>
      </p:sp>
      <p:sp>
        <p:nvSpPr>
          <p:cNvPr id="9" name="Slide Number Placeholder 8"/>
          <p:cNvSpPr>
            <a:spLocks noGrp="1"/>
          </p:cNvSpPr>
          <p:nvPr>
            <p:ph type="sldNum" sz="quarter" idx="12"/>
          </p:nvPr>
        </p:nvSpPr>
        <p:spPr/>
        <p:txBody>
          <a:bodyPr/>
          <a:lstStyle/>
          <a:p>
            <a:fld id="{AA093EB3-C823-0846-A59D-0A2FDB6B91A0}" type="slidenum">
              <a:rPr lang="en-RU" smtClean="0"/>
              <a:t>‹#›</a:t>
            </a:fld>
            <a:endParaRPr lang="en-RU"/>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8816173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5086A886-17B2-F04B-9A70-876FAA52C694}" type="datetimeFigureOut">
              <a:rPr lang="en-RU" smtClean="0"/>
              <a:t>09/28/2026</a:t>
            </a:fld>
            <a:endParaRPr lang="en-RU"/>
          </a:p>
        </p:txBody>
      </p:sp>
      <p:sp>
        <p:nvSpPr>
          <p:cNvPr id="4" name="Footer Placeholder 3"/>
          <p:cNvSpPr>
            <a:spLocks noGrp="1"/>
          </p:cNvSpPr>
          <p:nvPr>
            <p:ph type="ftr" sz="quarter" idx="11"/>
          </p:nvPr>
        </p:nvSpPr>
        <p:spPr/>
        <p:txBody>
          <a:bodyPr/>
          <a:lstStyle/>
          <a:p>
            <a:endParaRPr lang="en-RU"/>
          </a:p>
        </p:txBody>
      </p:sp>
      <p:sp>
        <p:nvSpPr>
          <p:cNvPr id="5" name="Slide Number Placeholder 4"/>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25668852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086A886-17B2-F04B-9A70-876FAA52C694}" type="datetimeFigureOut">
              <a:rPr lang="en-RU" smtClean="0"/>
              <a:t>09/28/2026</a:t>
            </a:fld>
            <a:endParaRPr lang="en-RU"/>
          </a:p>
        </p:txBody>
      </p:sp>
      <p:sp>
        <p:nvSpPr>
          <p:cNvPr id="3" name="Footer Placeholder 2"/>
          <p:cNvSpPr>
            <a:spLocks noGrp="1"/>
          </p:cNvSpPr>
          <p:nvPr>
            <p:ph type="ftr" sz="quarter" idx="11"/>
          </p:nvPr>
        </p:nvSpPr>
        <p:spPr/>
        <p:txBody>
          <a:bodyPr/>
          <a:lstStyle/>
          <a:p>
            <a:endParaRPr lang="en-RU"/>
          </a:p>
        </p:txBody>
      </p:sp>
      <p:sp>
        <p:nvSpPr>
          <p:cNvPr id="4" name="Slide Number Placeholder 3"/>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3019793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GB"/>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9" name="Date Placeholder 8"/>
          <p:cNvSpPr>
            <a:spLocks noGrp="1"/>
          </p:cNvSpPr>
          <p:nvPr>
            <p:ph type="dt" sz="half" idx="10"/>
          </p:nvPr>
        </p:nvSpPr>
        <p:spPr/>
        <p:txBody>
          <a:bodyPr/>
          <a:lstStyle/>
          <a:p>
            <a:fld id="{5086A886-17B2-F04B-9A70-876FAA52C694}" type="datetimeFigureOut">
              <a:rPr lang="en-RU" smtClean="0"/>
              <a:t>09/28/2026</a:t>
            </a:fld>
            <a:endParaRPr lang="en-RU"/>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RU"/>
          </a:p>
        </p:txBody>
      </p:sp>
      <p:sp>
        <p:nvSpPr>
          <p:cNvPr id="11" name="Slide Number Placeholder 10"/>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5231642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GB"/>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5086A886-17B2-F04B-9A70-876FAA52C694}" type="datetimeFigureOut">
              <a:rPr lang="en-RU" smtClean="0"/>
              <a:t>09/28/2026</a:t>
            </a:fld>
            <a:endParaRPr lang="en-RU"/>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RU"/>
          </a:p>
        </p:txBody>
      </p:sp>
      <p:sp>
        <p:nvSpPr>
          <p:cNvPr id="10" name="Slide Number Placeholder 9"/>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197161922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086A886-17B2-F04B-9A70-876FAA52C694}" type="datetimeFigureOut">
              <a:rPr lang="en-RU" smtClean="0"/>
              <a:t>09/28/2026</a:t>
            </a:fld>
            <a:endParaRPr lang="en-RU"/>
          </a:p>
        </p:txBody>
      </p:sp>
      <p:sp>
        <p:nvSpPr>
          <p:cNvPr id="5" name="Footer Placeholder 4"/>
          <p:cNvSpPr>
            <a:spLocks noGrp="1"/>
          </p:cNvSpPr>
          <p:nvPr>
            <p:ph type="ftr" sz="quarter" idx="11"/>
          </p:nvPr>
        </p:nvSpPr>
        <p:spPr/>
        <p:txBody>
          <a:bodyPr/>
          <a:lstStyle/>
          <a:p>
            <a:endParaRPr lang="en-RU"/>
          </a:p>
        </p:txBody>
      </p:sp>
      <p:sp>
        <p:nvSpPr>
          <p:cNvPr id="6" name="Slide Number Placeholder 5"/>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2864505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5086A886-17B2-F04B-9A70-876FAA52C694}" type="datetimeFigureOut">
              <a:rPr lang="en-RU" smtClean="0"/>
              <a:t>09/28/2026</a:t>
            </a:fld>
            <a:endParaRPr lang="en-RU"/>
          </a:p>
        </p:txBody>
      </p:sp>
      <p:sp>
        <p:nvSpPr>
          <p:cNvPr id="5" name="Footer Placeholder 4"/>
          <p:cNvSpPr>
            <a:spLocks noGrp="1"/>
          </p:cNvSpPr>
          <p:nvPr>
            <p:ph type="ftr" sz="quarter" idx="11"/>
          </p:nvPr>
        </p:nvSpPr>
        <p:spPr/>
        <p:txBody>
          <a:bodyPr/>
          <a:lstStyle/>
          <a:p>
            <a:endParaRPr lang="en-RU"/>
          </a:p>
        </p:txBody>
      </p:sp>
      <p:sp>
        <p:nvSpPr>
          <p:cNvPr id="6" name="Slide Number Placeholder 5"/>
          <p:cNvSpPr>
            <a:spLocks noGrp="1"/>
          </p:cNvSpPr>
          <p:nvPr>
            <p:ph type="sldNum" sz="quarter" idx="12"/>
          </p:nvPr>
        </p:nvSpPr>
        <p:spPr/>
        <p:txBody>
          <a:bodyPr/>
          <a:lstStyle/>
          <a:p>
            <a:fld id="{AA093EB3-C823-0846-A59D-0A2FDB6B91A0}" type="slidenum">
              <a:rPr lang="en-RU" smtClean="0"/>
              <a:t>‹#›</a:t>
            </a:fld>
            <a:endParaRPr lang="en-RU"/>
          </a:p>
        </p:txBody>
      </p:sp>
    </p:spTree>
    <p:extLst>
      <p:ext uri="{BB962C8B-B14F-4D97-AF65-F5344CB8AC3E}">
        <p14:creationId xmlns:p14="http://schemas.microsoft.com/office/powerpoint/2010/main" val="344496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5086A886-17B2-F04B-9A70-876FAA52C694}" type="datetimeFigureOut">
              <a:rPr lang="en-RU" smtClean="0"/>
              <a:t>09/28/2026</a:t>
            </a:fld>
            <a:endParaRPr lang="en-RU"/>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RU"/>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AA093EB3-C823-0846-A59D-0A2FDB6B91A0}" type="slidenum">
              <a:rPr lang="en-RU" smtClean="0"/>
              <a:t>‹#›</a:t>
            </a:fld>
            <a:endParaRPr lang="en-RU"/>
          </a:p>
        </p:txBody>
      </p:sp>
    </p:spTree>
    <p:extLst>
      <p:ext uri="{BB962C8B-B14F-4D97-AF65-F5344CB8AC3E}">
        <p14:creationId xmlns:p14="http://schemas.microsoft.com/office/powerpoint/2010/main" val="865620527"/>
      </p:ext>
    </p:extLst>
  </p:cSld>
  <p:clrMap bg1="lt1" tx1="dk1" bg2="lt2" tx2="dk2" accent1="accent1" accent2="accent2" accent3="accent3" accent4="accent4" accent5="accent5" accent6="accent6" hlink="hlink" folHlink="folHlink"/>
  <p:sldLayoutIdLst>
    <p:sldLayoutId id="2147483763" r:id="rId1"/>
    <p:sldLayoutId id="2147483764" r:id="rId2"/>
    <p:sldLayoutId id="2147483765" r:id="rId3"/>
    <p:sldLayoutId id="2147483766" r:id="rId4"/>
    <p:sldLayoutId id="2147483767" r:id="rId5"/>
    <p:sldLayoutId id="2147483768" r:id="rId6"/>
    <p:sldLayoutId id="2147483769" r:id="rId7"/>
    <p:sldLayoutId id="2147483770" r:id="rId8"/>
    <p:sldLayoutId id="2147483771" r:id="rId9"/>
    <p:sldLayoutId id="2147483772" r:id="rId10"/>
    <p:sldLayoutId id="2147483773" r:id="rId11"/>
  </p:sldLayoutIdLst>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 Id="rId4" Type="http://schemas.openxmlformats.org/officeDocument/2006/relationships/image" Target="../media/image3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2.xml"/><Relationship Id="rId4" Type="http://schemas.openxmlformats.org/officeDocument/2006/relationships/image" Target="../media/image6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32F37-8C87-674C-BB94-AC60F892422D}"/>
              </a:ext>
            </a:extLst>
          </p:cNvPr>
          <p:cNvSpPr>
            <a:spLocks noGrp="1"/>
          </p:cNvSpPr>
          <p:nvPr>
            <p:ph type="ctrTitle"/>
          </p:nvPr>
        </p:nvSpPr>
        <p:spPr/>
        <p:txBody>
          <a:bodyPr/>
          <a:lstStyle/>
          <a:p>
            <a:r>
              <a:rPr lang="ru-RU"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Основы </a:t>
            </a:r>
            <a:r>
              <a:rPr lang="en-US"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CSS</a:t>
            </a:r>
            <a:endParaRPr lang="en-RU" dirty="0"/>
          </a:p>
        </p:txBody>
      </p:sp>
      <p:sp>
        <p:nvSpPr>
          <p:cNvPr id="3" name="Subtitle 2">
            <a:extLst>
              <a:ext uri="{FF2B5EF4-FFF2-40B4-BE49-F238E27FC236}">
                <a16:creationId xmlns:a16="http://schemas.microsoft.com/office/drawing/2014/main" id="{91CC4745-64EC-DE44-BDEB-DD492B93666E}"/>
              </a:ext>
            </a:extLst>
          </p:cNvPr>
          <p:cNvSpPr>
            <a:spLocks noGrp="1"/>
          </p:cNvSpPr>
          <p:nvPr>
            <p:ph type="subTitle" idx="1"/>
          </p:nvPr>
        </p:nvSpPr>
        <p:spPr/>
        <p:txBody>
          <a:bodyPr/>
          <a:lstStyle/>
          <a:p>
            <a:r>
              <a:rPr lang="ru-RU" dirty="0"/>
              <a:t>Александр Волков</a:t>
            </a:r>
          </a:p>
          <a:p>
            <a:r>
              <a:rPr lang="ru-RU" dirty="0"/>
              <a:t>Инженер-программист отдела интернет приложений</a:t>
            </a:r>
            <a:endParaRPr lang="en-RU" dirty="0"/>
          </a:p>
        </p:txBody>
      </p:sp>
    </p:spTree>
    <p:extLst>
      <p:ext uri="{BB962C8B-B14F-4D97-AF65-F5344CB8AC3E}">
        <p14:creationId xmlns:p14="http://schemas.microsoft.com/office/powerpoint/2010/main" val="1505118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Что такое </a:t>
            </a:r>
            <a:r>
              <a:rPr lang="en-GB" dirty="0"/>
              <a:t>CSS</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lstStyle/>
          <a:p>
            <a:r>
              <a:rPr lang="ru-RU" sz="1800" dirty="0">
                <a:latin typeface="Arial" panose="020B0604020202020204" pitchFamily="34" charset="0"/>
                <a:cs typeface="Arial" panose="020B0604020202020204" pitchFamily="34" charset="0"/>
              </a:rPr>
              <a:t>	</a:t>
            </a: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что расшифровывается как </a:t>
            </a:r>
            <a:r>
              <a:rPr lang="en-GB" sz="1800" dirty="0">
                <a:latin typeface="Arial" panose="020B0604020202020204" pitchFamily="34" charset="0"/>
                <a:cs typeface="Arial" panose="020B0604020202020204" pitchFamily="34" charset="0"/>
              </a:rPr>
              <a:t>Cascading Style Sheets (</a:t>
            </a:r>
            <a:r>
              <a:rPr lang="ru-RU" sz="1800" dirty="0">
                <a:latin typeface="Arial" panose="020B0604020202020204" pitchFamily="34" charset="0"/>
                <a:cs typeface="Arial" panose="020B0604020202020204" pitchFamily="34" charset="0"/>
              </a:rPr>
              <a:t>Каскадные таблицы стилей), — это язык, используемый для описания внешнего вида и форматирования документа, написанного на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 Проще говоря, </a:t>
            </a: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определяет, как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элементы должны отображаться на экране.	</a:t>
            </a:r>
          </a:p>
        </p:txBody>
      </p:sp>
    </p:spTree>
    <p:extLst>
      <p:ext uri="{BB962C8B-B14F-4D97-AF65-F5344CB8AC3E}">
        <p14:creationId xmlns:p14="http://schemas.microsoft.com/office/powerpoint/2010/main" val="33553571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Что такое </a:t>
            </a:r>
            <a:r>
              <a:rPr lang="en-GB" dirty="0"/>
              <a:t>CSS</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lstStyle/>
          <a:p>
            <a:pPr algn="just">
              <a:lnSpc>
                <a:spcPct val="150000"/>
              </a:lnSpc>
            </a:pPr>
            <a:r>
              <a:rPr lang="ru-RU" sz="1800" dirty="0">
                <a:latin typeface="Arial" panose="020B0604020202020204" pitchFamily="34" charset="0"/>
                <a:cs typeface="Arial" panose="020B0604020202020204" pitchFamily="34" charset="0"/>
              </a:rPr>
              <a:t>Основные функции </a:t>
            </a:r>
            <a:r>
              <a:rPr lang="en-GB" sz="1800" dirty="0">
                <a:latin typeface="Arial" panose="020B0604020202020204" pitchFamily="34" charset="0"/>
                <a:cs typeface="Arial" panose="020B0604020202020204" pitchFamily="34" charset="0"/>
              </a:rPr>
              <a:t>CSS:</a:t>
            </a:r>
            <a:r>
              <a:rPr lang="ru-RU" sz="1800" dirty="0">
                <a:latin typeface="Arial" panose="020B0604020202020204" pitchFamily="34" charset="0"/>
                <a:cs typeface="Arial" panose="020B0604020202020204" pitchFamily="34" charset="0"/>
              </a:rPr>
              <a:t>	</a:t>
            </a:r>
            <a:endParaRPr lang="en-US" sz="1800" dirty="0">
              <a:latin typeface="Arial" panose="020B0604020202020204" pitchFamily="34" charset="0"/>
              <a:cs typeface="Arial" panose="020B0604020202020204" pitchFamily="34" charset="0"/>
            </a:endParaRP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Управление внешним видом</a:t>
            </a: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Отделение представления от содержания</a:t>
            </a: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Повторное использование стилей</a:t>
            </a: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Адаптивный дизайн (</a:t>
            </a:r>
            <a:r>
              <a:rPr lang="en-GB" sz="1800" dirty="0">
                <a:latin typeface="Arial" panose="020B0604020202020204" pitchFamily="34" charset="0"/>
                <a:cs typeface="Arial" panose="020B0604020202020204" pitchFamily="34" charset="0"/>
              </a:rPr>
              <a:t>Responsive Design)</a:t>
            </a:r>
            <a:endParaRPr lang="ru-RU" sz="1800" dirty="0">
              <a:latin typeface="Arial" panose="020B0604020202020204" pitchFamily="34" charset="0"/>
              <a:cs typeface="Arial" panose="020B0604020202020204" pitchFamily="34" charset="0"/>
            </a:endParaRPr>
          </a:p>
          <a:p>
            <a:endParaRPr lang="en-RU" dirty="0"/>
          </a:p>
        </p:txBody>
      </p:sp>
    </p:spTree>
    <p:extLst>
      <p:ext uri="{BB962C8B-B14F-4D97-AF65-F5344CB8AC3E}">
        <p14:creationId xmlns:p14="http://schemas.microsoft.com/office/powerpoint/2010/main" val="1174981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Что такое </a:t>
            </a:r>
            <a:r>
              <a:rPr lang="en-GB" dirty="0"/>
              <a:t>CSS</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fontScale="85000" lnSpcReduction="10000"/>
          </a:bodyPr>
          <a:lstStyle/>
          <a:p>
            <a:pPr algn="just">
              <a:lnSpc>
                <a:spcPct val="150000"/>
              </a:lnSpc>
            </a:pP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работает путем применения правил к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элементам. Правило </a:t>
            </a: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состоит из двух основных частей:</a:t>
            </a:r>
          </a:p>
          <a:p>
            <a:pPr algn="just">
              <a:lnSpc>
                <a:spcPct val="150000"/>
              </a:lnSpc>
            </a:pPr>
            <a:r>
              <a:rPr lang="ru-RU" sz="1800" dirty="0">
                <a:latin typeface="Arial" panose="020B0604020202020204" pitchFamily="34" charset="0"/>
                <a:cs typeface="Arial" panose="020B0604020202020204" pitchFamily="34" charset="0"/>
              </a:rPr>
              <a:t>Селектор (</a:t>
            </a:r>
            <a:r>
              <a:rPr lang="en-GB" sz="1800" dirty="0">
                <a:latin typeface="Arial" panose="020B0604020202020204" pitchFamily="34" charset="0"/>
                <a:cs typeface="Arial" panose="020B0604020202020204" pitchFamily="34" charset="0"/>
              </a:rPr>
              <a:t>Selector): </a:t>
            </a:r>
            <a:r>
              <a:rPr lang="ru-RU" sz="1800" dirty="0">
                <a:latin typeface="Arial" panose="020B0604020202020204" pitchFamily="34" charset="0"/>
                <a:cs typeface="Arial" panose="020B0604020202020204" pitchFamily="34" charset="0"/>
              </a:rPr>
              <a:t>Определяет, к каким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элементам будет применяться правило. Селекторы могут быть простыми (например, по имени тега, классу или идентификатору) или сложными (комбинации селекторов).</a:t>
            </a:r>
          </a:p>
          <a:p>
            <a:pPr algn="just">
              <a:lnSpc>
                <a:spcPct val="150000"/>
              </a:lnSpc>
            </a:pPr>
            <a:r>
              <a:rPr lang="ru-RU" sz="1800" dirty="0">
                <a:latin typeface="Arial" panose="020B0604020202020204" pitchFamily="34" charset="0"/>
                <a:cs typeface="Arial" panose="020B0604020202020204" pitchFamily="34" charset="0"/>
              </a:rPr>
              <a:t>Блок объявлений (</a:t>
            </a:r>
            <a:r>
              <a:rPr lang="en-GB" sz="1800" dirty="0">
                <a:latin typeface="Arial" panose="020B0604020202020204" pitchFamily="34" charset="0"/>
                <a:cs typeface="Arial" panose="020B0604020202020204" pitchFamily="34" charset="0"/>
              </a:rPr>
              <a:t>Declaration Block): </a:t>
            </a:r>
            <a:r>
              <a:rPr lang="ru-RU" sz="1800" dirty="0">
                <a:latin typeface="Arial" panose="020B0604020202020204" pitchFamily="34" charset="0"/>
                <a:cs typeface="Arial" panose="020B0604020202020204" pitchFamily="34" charset="0"/>
              </a:rPr>
              <a:t>Содержит одно или несколько объявлений, разделенных точкой с запятой. Каждое объявление состоит из имени свойства </a:t>
            </a: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и значения этого свойства.</a:t>
            </a:r>
          </a:p>
        </p:txBody>
      </p:sp>
    </p:spTree>
    <p:extLst>
      <p:ext uri="{BB962C8B-B14F-4D97-AF65-F5344CB8AC3E}">
        <p14:creationId xmlns:p14="http://schemas.microsoft.com/office/powerpoint/2010/main" val="1861521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B73666CD-1952-2A4E-8D61-BE9B7F388015}"/>
              </a:ext>
            </a:extLst>
          </p:cNvPr>
          <p:cNvPicPr>
            <a:picLocks noChangeAspect="1"/>
          </p:cNvPicPr>
          <p:nvPr/>
        </p:nvPicPr>
        <p:blipFill>
          <a:blip r:embed="rId2"/>
          <a:stretch>
            <a:fillRect/>
          </a:stretch>
        </p:blipFill>
        <p:spPr>
          <a:xfrm>
            <a:off x="2762101" y="3213100"/>
            <a:ext cx="2006600" cy="1752600"/>
          </a:xfrm>
          <a:prstGeom prst="rect">
            <a:avLst/>
          </a:prstGeom>
        </p:spPr>
      </p:pic>
      <p:pic>
        <p:nvPicPr>
          <p:cNvPr id="5" name="Picture 4">
            <a:extLst>
              <a:ext uri="{FF2B5EF4-FFF2-40B4-BE49-F238E27FC236}">
                <a16:creationId xmlns:a16="http://schemas.microsoft.com/office/drawing/2014/main" id="{D84FD14F-0BFA-7940-AA97-77A3C29DB77D}"/>
              </a:ext>
            </a:extLst>
          </p:cNvPr>
          <p:cNvPicPr>
            <a:picLocks noChangeAspect="1"/>
          </p:cNvPicPr>
          <p:nvPr/>
        </p:nvPicPr>
        <p:blipFill>
          <a:blip r:embed="rId3"/>
          <a:stretch>
            <a:fillRect/>
          </a:stretch>
        </p:blipFill>
        <p:spPr>
          <a:xfrm>
            <a:off x="5482124" y="3092450"/>
            <a:ext cx="3784600" cy="1993900"/>
          </a:xfrm>
          <a:prstGeom prst="rect">
            <a:avLst/>
          </a:prstGeom>
          <a:ln>
            <a:solidFill>
              <a:schemeClr val="tx1"/>
            </a:solidFill>
          </a:ln>
        </p:spPr>
      </p:pic>
    </p:spTree>
    <p:extLst>
      <p:ext uri="{BB962C8B-B14F-4D97-AF65-F5344CB8AC3E}">
        <p14:creationId xmlns:p14="http://schemas.microsoft.com/office/powerpoint/2010/main" val="2808191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00C1525-DFD7-A543-B4BA-996D3D694D77}"/>
              </a:ext>
            </a:extLst>
          </p:cNvPr>
          <p:cNvPicPr>
            <a:picLocks noChangeAspect="1"/>
          </p:cNvPicPr>
          <p:nvPr/>
        </p:nvPicPr>
        <p:blipFill>
          <a:blip r:embed="rId2"/>
          <a:stretch>
            <a:fillRect/>
          </a:stretch>
        </p:blipFill>
        <p:spPr>
          <a:xfrm>
            <a:off x="2362200" y="2366585"/>
            <a:ext cx="7467600" cy="3644900"/>
          </a:xfrm>
          <a:prstGeom prst="rect">
            <a:avLst/>
          </a:prstGeom>
        </p:spPr>
      </p:pic>
    </p:spTree>
    <p:extLst>
      <p:ext uri="{BB962C8B-B14F-4D97-AF65-F5344CB8AC3E}">
        <p14:creationId xmlns:p14="http://schemas.microsoft.com/office/powerpoint/2010/main" val="2443606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209BA561-7B3D-624D-A4CA-3CB640661CED}"/>
              </a:ext>
            </a:extLst>
          </p:cNvPr>
          <p:cNvPicPr>
            <a:picLocks noChangeAspect="1"/>
          </p:cNvPicPr>
          <p:nvPr/>
        </p:nvPicPr>
        <p:blipFill>
          <a:blip r:embed="rId2"/>
          <a:stretch>
            <a:fillRect/>
          </a:stretch>
        </p:blipFill>
        <p:spPr>
          <a:xfrm>
            <a:off x="2431412" y="4728732"/>
            <a:ext cx="7391400" cy="1778000"/>
          </a:xfrm>
          <a:prstGeom prst="rect">
            <a:avLst/>
          </a:prstGeom>
          <a:ln>
            <a:solidFill>
              <a:schemeClr val="tx1"/>
            </a:solidFill>
          </a:ln>
        </p:spPr>
      </p:pic>
      <p:pic>
        <p:nvPicPr>
          <p:cNvPr id="7" name="Picture 6">
            <a:extLst>
              <a:ext uri="{FF2B5EF4-FFF2-40B4-BE49-F238E27FC236}">
                <a16:creationId xmlns:a16="http://schemas.microsoft.com/office/drawing/2014/main" id="{B1077FB9-706C-C648-8147-E66685D617FA}"/>
              </a:ext>
            </a:extLst>
          </p:cNvPr>
          <p:cNvPicPr>
            <a:picLocks noChangeAspect="1"/>
          </p:cNvPicPr>
          <p:nvPr/>
        </p:nvPicPr>
        <p:blipFill>
          <a:blip r:embed="rId3"/>
          <a:stretch>
            <a:fillRect/>
          </a:stretch>
        </p:blipFill>
        <p:spPr>
          <a:xfrm>
            <a:off x="4198937" y="2317750"/>
            <a:ext cx="3606800" cy="2222500"/>
          </a:xfrm>
          <a:prstGeom prst="rect">
            <a:avLst/>
          </a:prstGeom>
        </p:spPr>
      </p:pic>
    </p:spTree>
    <p:extLst>
      <p:ext uri="{BB962C8B-B14F-4D97-AF65-F5344CB8AC3E}">
        <p14:creationId xmlns:p14="http://schemas.microsoft.com/office/powerpoint/2010/main" val="37562829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Выбор нескольких элементов</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16FFC20-297E-4243-9DEB-5D3D15075117}"/>
              </a:ext>
            </a:extLst>
          </p:cNvPr>
          <p:cNvPicPr>
            <a:picLocks noChangeAspect="1"/>
          </p:cNvPicPr>
          <p:nvPr/>
        </p:nvPicPr>
        <p:blipFill>
          <a:blip r:embed="rId2"/>
          <a:stretch>
            <a:fillRect/>
          </a:stretch>
        </p:blipFill>
        <p:spPr>
          <a:xfrm>
            <a:off x="5717811" y="2887980"/>
            <a:ext cx="3873500" cy="2552700"/>
          </a:xfrm>
          <a:prstGeom prst="rect">
            <a:avLst/>
          </a:prstGeom>
          <a:ln>
            <a:solidFill>
              <a:schemeClr val="tx1"/>
            </a:solidFill>
          </a:ln>
        </p:spPr>
      </p:pic>
      <p:pic>
        <p:nvPicPr>
          <p:cNvPr id="8" name="Picture 7">
            <a:extLst>
              <a:ext uri="{FF2B5EF4-FFF2-40B4-BE49-F238E27FC236}">
                <a16:creationId xmlns:a16="http://schemas.microsoft.com/office/drawing/2014/main" id="{964F840E-8172-1044-BAD7-BCBE780E4A87}"/>
              </a:ext>
            </a:extLst>
          </p:cNvPr>
          <p:cNvPicPr>
            <a:picLocks noChangeAspect="1"/>
          </p:cNvPicPr>
          <p:nvPr/>
        </p:nvPicPr>
        <p:blipFill>
          <a:blip r:embed="rId3"/>
          <a:stretch>
            <a:fillRect/>
          </a:stretch>
        </p:blipFill>
        <p:spPr>
          <a:xfrm>
            <a:off x="2696435" y="2887980"/>
            <a:ext cx="2222500" cy="2565400"/>
          </a:xfrm>
          <a:prstGeom prst="rect">
            <a:avLst/>
          </a:prstGeom>
        </p:spPr>
      </p:pic>
    </p:spTree>
    <p:extLst>
      <p:ext uri="{BB962C8B-B14F-4D97-AF65-F5344CB8AC3E}">
        <p14:creationId xmlns:p14="http://schemas.microsoft.com/office/powerpoint/2010/main" val="24822395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Выбор нескольких элементов</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937E945-00B8-1241-A8DF-BAB8B2EC3BFB}"/>
              </a:ext>
            </a:extLst>
          </p:cNvPr>
          <p:cNvPicPr>
            <a:picLocks noChangeAspect="1"/>
          </p:cNvPicPr>
          <p:nvPr/>
        </p:nvPicPr>
        <p:blipFill>
          <a:blip r:embed="rId2"/>
          <a:stretch>
            <a:fillRect/>
          </a:stretch>
        </p:blipFill>
        <p:spPr>
          <a:xfrm>
            <a:off x="2832421" y="2283641"/>
            <a:ext cx="6527157" cy="4418042"/>
          </a:xfrm>
          <a:prstGeom prst="rect">
            <a:avLst/>
          </a:prstGeom>
        </p:spPr>
      </p:pic>
    </p:spTree>
    <p:extLst>
      <p:ext uri="{BB962C8B-B14F-4D97-AF65-F5344CB8AC3E}">
        <p14:creationId xmlns:p14="http://schemas.microsoft.com/office/powerpoint/2010/main" val="30339646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ТИПЫ СЕЛЕКТОРОВ</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Селектор элемента</a:t>
            </a:r>
          </a:p>
          <a:p>
            <a:pPr marL="342900" indent="-342900" algn="just">
              <a:lnSpc>
                <a:spcPct val="150000"/>
              </a:lnSpc>
              <a:buFont typeface="+mj-lt"/>
              <a:buAutoNum type="arabicPeriod"/>
            </a:pPr>
            <a:r>
              <a:rPr lang="en-US" sz="1800" dirty="0">
                <a:latin typeface="Arial" panose="020B0604020202020204" pitchFamily="34" charset="0"/>
                <a:cs typeface="Arial" panose="020B0604020202020204" pitchFamily="34" charset="0"/>
              </a:rPr>
              <a:t>ID </a:t>
            </a:r>
            <a:r>
              <a:rPr lang="ru-RU" sz="1800" dirty="0">
                <a:latin typeface="Arial" panose="020B0604020202020204" pitchFamily="34" charset="0"/>
                <a:cs typeface="Arial" panose="020B0604020202020204" pitchFamily="34" charset="0"/>
              </a:rPr>
              <a:t>селектор</a:t>
            </a: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Селектор класса</a:t>
            </a: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Селектор атрибута</a:t>
            </a:r>
          </a:p>
          <a:p>
            <a:pPr marL="342900" indent="-342900" algn="just">
              <a:lnSpc>
                <a:spcPct val="150000"/>
              </a:lnSpc>
              <a:buFont typeface="+mj-lt"/>
              <a:buAutoNum type="arabicPeriod"/>
            </a:pPr>
            <a:r>
              <a:rPr lang="ru-RU" sz="1800" dirty="0">
                <a:latin typeface="Arial" panose="020B0604020202020204" pitchFamily="34" charset="0"/>
                <a:cs typeface="Arial" panose="020B0604020202020204" pitchFamily="34" charset="0"/>
              </a:rPr>
              <a:t>Селектор </a:t>
            </a:r>
            <a:r>
              <a:rPr lang="ru-RU" sz="1800" dirty="0" err="1">
                <a:latin typeface="Arial" panose="020B0604020202020204" pitchFamily="34" charset="0"/>
                <a:cs typeface="Arial" panose="020B0604020202020204" pitchFamily="34" charset="0"/>
              </a:rPr>
              <a:t>псевдокласса</a:t>
            </a:r>
            <a:endParaRPr lang="ru-RU" sz="1800" dirty="0">
              <a:latin typeface="Arial" panose="020B0604020202020204" pitchFamily="34" charset="0"/>
              <a:cs typeface="Arial" panose="020B0604020202020204" pitchFamily="34" charset="0"/>
            </a:endParaRPr>
          </a:p>
          <a:p>
            <a:pPr algn="just">
              <a:lnSpc>
                <a:spcPct val="150000"/>
              </a:lnSpc>
            </a:pPr>
            <a:endParaRPr lang="ru-R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7501563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ID </a:t>
            </a:r>
            <a:r>
              <a:rPr lang="ru-RU" dirty="0"/>
              <a:t>селектор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r>
              <a:rPr lang="ru-RU" sz="1800" dirty="0">
                <a:latin typeface="Arial" panose="020B0604020202020204" pitchFamily="34" charset="0"/>
                <a:cs typeface="Arial" panose="020B0604020202020204" pitchFamily="34" charset="0"/>
              </a:rPr>
              <a:t>Выбирает элемент с указанным </a:t>
            </a:r>
            <a:r>
              <a:rPr lang="en-GB" sz="1800" dirty="0">
                <a:latin typeface="Arial" panose="020B0604020202020204" pitchFamily="34" charset="0"/>
                <a:cs typeface="Arial" panose="020B0604020202020204" pitchFamily="34" charset="0"/>
              </a:rPr>
              <a:t>ID </a:t>
            </a:r>
            <a:r>
              <a:rPr lang="ru-RU" sz="1800" dirty="0">
                <a:latin typeface="Arial" panose="020B0604020202020204" pitchFamily="34" charset="0"/>
                <a:cs typeface="Arial" panose="020B0604020202020204" pitchFamily="34" charset="0"/>
              </a:rPr>
              <a:t>на данной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 странице</a:t>
            </a:r>
            <a:r>
              <a:rPr lang="en-GB" sz="1800" dirty="0">
                <a:latin typeface="Arial" panose="020B0604020202020204" pitchFamily="34" charset="0"/>
                <a:cs typeface="Arial" panose="020B0604020202020204" pitchFamily="34" charset="0"/>
              </a:rPr>
              <a:t>.</a:t>
            </a:r>
            <a:r>
              <a:rPr lang="ru-RU" sz="1800" dirty="0">
                <a:latin typeface="Arial" panose="020B0604020202020204" pitchFamily="34" charset="0"/>
                <a:cs typeface="Arial" panose="020B0604020202020204" pitchFamily="34" charset="0"/>
              </a:rPr>
              <a:t> В рамках документа </a:t>
            </a:r>
            <a:r>
              <a:rPr lang="en-US" sz="1800" dirty="0">
                <a:latin typeface="Arial" panose="020B0604020202020204" pitchFamily="34" charset="0"/>
                <a:cs typeface="Arial" panose="020B0604020202020204" pitchFamily="34" charset="0"/>
              </a:rPr>
              <a:t>ID </a:t>
            </a:r>
            <a:r>
              <a:rPr lang="ru-RU" sz="1800" dirty="0">
                <a:latin typeface="Arial" panose="020B0604020202020204" pitchFamily="34" charset="0"/>
                <a:cs typeface="Arial" panose="020B0604020202020204" pitchFamily="34" charset="0"/>
              </a:rPr>
              <a:t>элементов должны быть уникальны, даже если вам разрешено использовать один и тот же </a:t>
            </a:r>
            <a:r>
              <a:rPr lang="en-GB" sz="1800" dirty="0">
                <a:latin typeface="Arial" panose="020B0604020202020204" pitchFamily="34" charset="0"/>
                <a:cs typeface="Arial" panose="020B0604020202020204" pitchFamily="34" charset="0"/>
              </a:rPr>
              <a:t>ID </a:t>
            </a:r>
            <a:r>
              <a:rPr lang="ru-RU" sz="1800" dirty="0">
                <a:latin typeface="Arial" panose="020B0604020202020204" pitchFamily="34" charset="0"/>
                <a:cs typeface="Arial" panose="020B0604020202020204" pitchFamily="34" charset="0"/>
              </a:rPr>
              <a:t>для нескольких элементов.</a:t>
            </a:r>
          </a:p>
        </p:txBody>
      </p:sp>
    </p:spTree>
    <p:extLst>
      <p:ext uri="{BB962C8B-B14F-4D97-AF65-F5344CB8AC3E}">
        <p14:creationId xmlns:p14="http://schemas.microsoft.com/office/powerpoint/2010/main" val="3107331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4A031C8-AF0E-D74D-BAA8-EB72A25B6288}"/>
              </a:ext>
            </a:extLst>
          </p:cNvPr>
          <p:cNvPicPr>
            <a:picLocks noChangeAspect="1"/>
          </p:cNvPicPr>
          <p:nvPr/>
        </p:nvPicPr>
        <p:blipFill>
          <a:blip r:embed="rId2"/>
          <a:stretch>
            <a:fillRect/>
          </a:stretch>
        </p:blipFill>
        <p:spPr>
          <a:xfrm>
            <a:off x="9159494" y="5289566"/>
            <a:ext cx="2133600" cy="965200"/>
          </a:xfrm>
          <a:prstGeom prst="rect">
            <a:avLst/>
          </a:prstGeom>
          <a:ln>
            <a:solidFill>
              <a:schemeClr val="tx1"/>
            </a:solidFill>
          </a:ln>
        </p:spPr>
      </p:pic>
      <p:pic>
        <p:nvPicPr>
          <p:cNvPr id="5" name="Picture 4">
            <a:extLst>
              <a:ext uri="{FF2B5EF4-FFF2-40B4-BE49-F238E27FC236}">
                <a16:creationId xmlns:a16="http://schemas.microsoft.com/office/drawing/2014/main" id="{498EBE7C-D3C5-AF4F-884D-D41EBD75620E}"/>
              </a:ext>
            </a:extLst>
          </p:cNvPr>
          <p:cNvPicPr>
            <a:picLocks noChangeAspect="1"/>
          </p:cNvPicPr>
          <p:nvPr/>
        </p:nvPicPr>
        <p:blipFill>
          <a:blip r:embed="rId3"/>
          <a:stretch>
            <a:fillRect/>
          </a:stretch>
        </p:blipFill>
        <p:spPr>
          <a:xfrm>
            <a:off x="9115044" y="2804160"/>
            <a:ext cx="2222500" cy="1955800"/>
          </a:xfrm>
          <a:prstGeom prst="rect">
            <a:avLst/>
          </a:prstGeom>
        </p:spPr>
      </p:pic>
      <p:pic>
        <p:nvPicPr>
          <p:cNvPr id="6" name="Picture 5">
            <a:extLst>
              <a:ext uri="{FF2B5EF4-FFF2-40B4-BE49-F238E27FC236}">
                <a16:creationId xmlns:a16="http://schemas.microsoft.com/office/drawing/2014/main" id="{B9900335-D49A-994C-83F0-9DF1E090D657}"/>
              </a:ext>
            </a:extLst>
          </p:cNvPr>
          <p:cNvPicPr>
            <a:picLocks noChangeAspect="1"/>
          </p:cNvPicPr>
          <p:nvPr/>
        </p:nvPicPr>
        <p:blipFill>
          <a:blip r:embed="rId4"/>
          <a:stretch>
            <a:fillRect/>
          </a:stretch>
        </p:blipFill>
        <p:spPr>
          <a:xfrm>
            <a:off x="745744" y="2638044"/>
            <a:ext cx="7467600" cy="3873500"/>
          </a:xfrm>
          <a:prstGeom prst="rect">
            <a:avLst/>
          </a:prstGeom>
        </p:spPr>
      </p:pic>
    </p:spTree>
    <p:extLst>
      <p:ext uri="{BB962C8B-B14F-4D97-AF65-F5344CB8AC3E}">
        <p14:creationId xmlns:p14="http://schemas.microsoft.com/office/powerpoint/2010/main" val="11139206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класса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r>
              <a:rPr lang="ru-RU" sz="1800" dirty="0">
                <a:latin typeface="Arial" panose="020B0604020202020204" pitchFamily="34" charset="0"/>
                <a:cs typeface="Arial" panose="020B0604020202020204" pitchFamily="34" charset="0"/>
              </a:rPr>
              <a:t>Выбирает элементы на странице с указанным классом. Один из наиболее фундаментальных и часто используемых типов селекторов. </a:t>
            </a:r>
          </a:p>
          <a:p>
            <a:pPr algn="just">
              <a:lnSpc>
                <a:spcPct val="150000"/>
              </a:lnSpc>
            </a:pPr>
            <a:endParaRPr lang="ru-R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91903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8E9D6EFC-922E-B94C-981A-E07D42C6CC01}"/>
              </a:ext>
            </a:extLst>
          </p:cNvPr>
          <p:cNvPicPr>
            <a:picLocks noChangeAspect="1"/>
          </p:cNvPicPr>
          <p:nvPr/>
        </p:nvPicPr>
        <p:blipFill>
          <a:blip r:embed="rId2"/>
          <a:stretch>
            <a:fillRect/>
          </a:stretch>
        </p:blipFill>
        <p:spPr>
          <a:xfrm>
            <a:off x="1156374" y="2498389"/>
            <a:ext cx="6248400" cy="4038082"/>
          </a:xfrm>
          <a:prstGeom prst="rect">
            <a:avLst/>
          </a:prstGeom>
        </p:spPr>
      </p:pic>
      <p:pic>
        <p:nvPicPr>
          <p:cNvPr id="5" name="Picture 4">
            <a:extLst>
              <a:ext uri="{FF2B5EF4-FFF2-40B4-BE49-F238E27FC236}">
                <a16:creationId xmlns:a16="http://schemas.microsoft.com/office/drawing/2014/main" id="{7268D27C-D4C1-DF4A-9BF6-600710F6E3EB}"/>
              </a:ext>
            </a:extLst>
          </p:cNvPr>
          <p:cNvPicPr>
            <a:picLocks noChangeAspect="1"/>
          </p:cNvPicPr>
          <p:nvPr/>
        </p:nvPicPr>
        <p:blipFill>
          <a:blip r:embed="rId3"/>
          <a:stretch>
            <a:fillRect/>
          </a:stretch>
        </p:blipFill>
        <p:spPr>
          <a:xfrm>
            <a:off x="8479536" y="2290615"/>
            <a:ext cx="2323634" cy="4453631"/>
          </a:xfrm>
          <a:prstGeom prst="rect">
            <a:avLst/>
          </a:prstGeom>
        </p:spPr>
      </p:pic>
    </p:spTree>
    <p:extLst>
      <p:ext uri="{BB962C8B-B14F-4D97-AF65-F5344CB8AC3E}">
        <p14:creationId xmlns:p14="http://schemas.microsoft.com/office/powerpoint/2010/main" val="15112845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E4FFB5E0-F40F-E74D-A308-FEF13D213307}"/>
              </a:ext>
            </a:extLst>
          </p:cNvPr>
          <p:cNvPicPr>
            <a:picLocks noChangeAspect="1"/>
          </p:cNvPicPr>
          <p:nvPr/>
        </p:nvPicPr>
        <p:blipFill>
          <a:blip r:embed="rId2"/>
          <a:stretch>
            <a:fillRect/>
          </a:stretch>
        </p:blipFill>
        <p:spPr>
          <a:xfrm>
            <a:off x="3790950" y="2731008"/>
            <a:ext cx="4610100" cy="3162300"/>
          </a:xfrm>
          <a:prstGeom prst="rect">
            <a:avLst/>
          </a:prstGeom>
          <a:ln>
            <a:solidFill>
              <a:schemeClr val="tx1"/>
            </a:solidFill>
          </a:ln>
        </p:spPr>
      </p:pic>
    </p:spTree>
    <p:extLst>
      <p:ext uri="{BB962C8B-B14F-4D97-AF65-F5344CB8AC3E}">
        <p14:creationId xmlns:p14="http://schemas.microsoft.com/office/powerpoint/2010/main" val="18865157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атрибута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p:txBody>
          <a:bodyPr>
            <a:normAutofit/>
          </a:bodyPr>
          <a:lstStyle/>
          <a:p>
            <a:pPr algn="just">
              <a:lnSpc>
                <a:spcPct val="150000"/>
              </a:lnSpc>
            </a:pPr>
            <a:r>
              <a:rPr lang="ru-RU" sz="1800" dirty="0">
                <a:latin typeface="Arial" panose="020B0604020202020204" pitchFamily="34" charset="0"/>
                <a:cs typeface="Arial" panose="020B0604020202020204" pitchFamily="34" charset="0"/>
              </a:rPr>
              <a:t>Селекторы атрибутов в </a:t>
            </a: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позволяют вам выбирать и стилизовать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элементы на основе наличия или значения определенных атрибутов. Они предоставляют способ добавления стилей в зависимости от конкретных характеристик элементов, указанных в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коде.</a:t>
            </a:r>
          </a:p>
          <a:p>
            <a:pPr algn="just">
              <a:lnSpc>
                <a:spcPct val="150000"/>
              </a:lnSpc>
            </a:pPr>
            <a:endParaRPr lang="ru-R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608910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атрибута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fontScale="70000" lnSpcReduction="20000"/>
          </a:bodyPr>
          <a:lstStyle/>
          <a:p>
            <a:pPr algn="just">
              <a:lnSpc>
                <a:spcPct val="150000"/>
              </a:lnSpc>
            </a:pPr>
            <a:r>
              <a:rPr lang="ru-RU" sz="1800" dirty="0">
                <a:latin typeface="Arial" panose="020B0604020202020204" pitchFamily="34" charset="0"/>
                <a:cs typeface="Arial" panose="020B0604020202020204" pitchFamily="34" charset="0"/>
              </a:rPr>
              <a:t>Существует несколько вариантов синтаксиса для селекторов атрибутов:</a:t>
            </a:r>
          </a:p>
          <a:p>
            <a:pPr algn="just">
              <a:lnSpc>
                <a:spcPct val="150000"/>
              </a:lnSpc>
            </a:pPr>
            <a:r>
              <a:rPr lang="ru-RU" sz="1800" dirty="0">
                <a:latin typeface="Arial" panose="020B0604020202020204" pitchFamily="34" charset="0"/>
                <a:cs typeface="Arial" panose="020B0604020202020204" pitchFamily="34" charset="0"/>
              </a:rPr>
              <a:t>1.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Выбирает все элементы, у которых есть атрибут.</a:t>
            </a:r>
          </a:p>
          <a:p>
            <a:pPr algn="just">
              <a:lnSpc>
                <a:spcPct val="150000"/>
              </a:lnSpc>
            </a:pPr>
            <a:r>
              <a:rPr lang="ru-RU" sz="1800" dirty="0">
                <a:latin typeface="Arial" panose="020B0604020202020204" pitchFamily="34" charset="0"/>
                <a:cs typeface="Arial" panose="020B0604020202020204" pitchFamily="34" charset="0"/>
              </a:rPr>
              <a:t>2. [</a:t>
            </a:r>
            <a:r>
              <a:rPr lang="en-GB" sz="1800" dirty="0">
                <a:latin typeface="Arial" panose="020B0604020202020204" pitchFamily="34" charset="0"/>
                <a:cs typeface="Arial" panose="020B0604020202020204" pitchFamily="34" charset="0"/>
              </a:rPr>
              <a:t>attribute=value]: </a:t>
            </a:r>
            <a:r>
              <a:rPr lang="ru-RU" sz="1800" dirty="0">
                <a:latin typeface="Arial" panose="020B0604020202020204" pitchFamily="34" charset="0"/>
                <a:cs typeface="Arial" panose="020B0604020202020204" pitchFamily="34" charset="0"/>
              </a:rPr>
              <a:t>Выбирает все элементы, у которых атрибут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имеет точное значение </a:t>
            </a:r>
            <a:r>
              <a:rPr lang="en-GB" sz="1800" dirty="0">
                <a:latin typeface="Arial" panose="020B0604020202020204" pitchFamily="34" charset="0"/>
                <a:cs typeface="Arial" panose="020B0604020202020204" pitchFamily="34" charset="0"/>
              </a:rPr>
              <a:t>value.</a:t>
            </a:r>
          </a:p>
          <a:p>
            <a:pPr algn="just">
              <a:lnSpc>
                <a:spcPct val="150000"/>
              </a:lnSpc>
            </a:pPr>
            <a:r>
              <a:rPr lang="en-GB" sz="1800" dirty="0">
                <a:latin typeface="Arial" panose="020B0604020202020204" pitchFamily="34" charset="0"/>
                <a:cs typeface="Arial" panose="020B0604020202020204" pitchFamily="34" charset="0"/>
              </a:rPr>
              <a:t>3. [attribute~=value]: </a:t>
            </a:r>
            <a:r>
              <a:rPr lang="ru-RU" sz="1800" dirty="0">
                <a:latin typeface="Arial" panose="020B0604020202020204" pitchFamily="34" charset="0"/>
                <a:cs typeface="Arial" panose="020B0604020202020204" pitchFamily="34" charset="0"/>
              </a:rPr>
              <a:t>Выбирает элементы, где атрибут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содержит значение </a:t>
            </a:r>
            <a:r>
              <a:rPr lang="en-GB" sz="1800" dirty="0">
                <a:latin typeface="Arial" panose="020B0604020202020204" pitchFamily="34" charset="0"/>
                <a:cs typeface="Arial" panose="020B0604020202020204" pitchFamily="34" charset="0"/>
              </a:rPr>
              <a:t>value </a:t>
            </a:r>
            <a:r>
              <a:rPr lang="ru-RU" sz="1800" dirty="0">
                <a:latin typeface="Arial" panose="020B0604020202020204" pitchFamily="34" charset="0"/>
                <a:cs typeface="Arial" panose="020B0604020202020204" pitchFamily="34" charset="0"/>
              </a:rPr>
              <a:t>в списке значений, разделенных пробелами.</a:t>
            </a:r>
          </a:p>
          <a:p>
            <a:pPr algn="just">
              <a:lnSpc>
                <a:spcPct val="150000"/>
              </a:lnSpc>
            </a:pPr>
            <a:r>
              <a:rPr lang="ru-RU" sz="1800" dirty="0">
                <a:latin typeface="Arial" panose="020B0604020202020204" pitchFamily="34" charset="0"/>
                <a:cs typeface="Arial" panose="020B0604020202020204" pitchFamily="34" charset="0"/>
              </a:rPr>
              <a:t>4. [</a:t>
            </a:r>
            <a:r>
              <a:rPr lang="en-GB" sz="1800" dirty="0">
                <a:latin typeface="Arial" panose="020B0604020202020204" pitchFamily="34" charset="0"/>
                <a:cs typeface="Arial" panose="020B0604020202020204" pitchFamily="34" charset="0"/>
              </a:rPr>
              <a:t>attribute|=value]: </a:t>
            </a:r>
            <a:r>
              <a:rPr lang="ru-RU" sz="1800" dirty="0">
                <a:latin typeface="Arial" panose="020B0604020202020204" pitchFamily="34" charset="0"/>
                <a:cs typeface="Arial" panose="020B0604020202020204" pitchFamily="34" charset="0"/>
              </a:rPr>
              <a:t>Выбирает элементы, где атрибут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начинается со значения </a:t>
            </a:r>
            <a:r>
              <a:rPr lang="en-GB" sz="1800" dirty="0">
                <a:latin typeface="Arial" panose="020B0604020202020204" pitchFamily="34" charset="0"/>
                <a:cs typeface="Arial" panose="020B0604020202020204" pitchFamily="34" charset="0"/>
              </a:rPr>
              <a:t>value, </a:t>
            </a:r>
            <a:r>
              <a:rPr lang="ru-RU" sz="1800" dirty="0">
                <a:latin typeface="Arial" panose="020B0604020202020204" pitchFamily="34" charset="0"/>
                <a:cs typeface="Arial" panose="020B0604020202020204" pitchFamily="34" charset="0"/>
              </a:rPr>
              <a:t>за которым может следовать дефис (-). Это часто используется для указания языковых кодов.</a:t>
            </a:r>
          </a:p>
          <a:p>
            <a:pPr algn="just">
              <a:lnSpc>
                <a:spcPct val="150000"/>
              </a:lnSpc>
            </a:pPr>
            <a:r>
              <a:rPr lang="ru-RU" sz="1800" dirty="0">
                <a:latin typeface="Arial" panose="020B0604020202020204" pitchFamily="34" charset="0"/>
                <a:cs typeface="Arial" panose="020B0604020202020204" pitchFamily="34" charset="0"/>
              </a:rPr>
              <a:t>5. [</a:t>
            </a:r>
            <a:r>
              <a:rPr lang="en-GB" sz="1800" dirty="0">
                <a:latin typeface="Arial" panose="020B0604020202020204" pitchFamily="34" charset="0"/>
                <a:cs typeface="Arial" panose="020B0604020202020204" pitchFamily="34" charset="0"/>
              </a:rPr>
              <a:t>attribute^=value]: </a:t>
            </a:r>
            <a:r>
              <a:rPr lang="ru-RU" sz="1800" dirty="0">
                <a:latin typeface="Arial" panose="020B0604020202020204" pitchFamily="34" charset="0"/>
                <a:cs typeface="Arial" panose="020B0604020202020204" pitchFamily="34" charset="0"/>
              </a:rPr>
              <a:t>Выбирает элементы, где атрибут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начинается со значения </a:t>
            </a:r>
            <a:r>
              <a:rPr lang="en-GB" sz="1800" dirty="0">
                <a:latin typeface="Arial" panose="020B0604020202020204" pitchFamily="34" charset="0"/>
                <a:cs typeface="Arial" panose="020B0604020202020204" pitchFamily="34" charset="0"/>
              </a:rPr>
              <a:t>value.</a:t>
            </a:r>
          </a:p>
          <a:p>
            <a:pPr algn="just">
              <a:lnSpc>
                <a:spcPct val="150000"/>
              </a:lnSpc>
            </a:pPr>
            <a:r>
              <a:rPr lang="en-GB" sz="1800" dirty="0">
                <a:latin typeface="Arial" panose="020B0604020202020204" pitchFamily="34" charset="0"/>
                <a:cs typeface="Arial" panose="020B0604020202020204" pitchFamily="34" charset="0"/>
              </a:rPr>
              <a:t>6. [attribute$=value]: </a:t>
            </a:r>
            <a:r>
              <a:rPr lang="ru-RU" sz="1800" dirty="0">
                <a:latin typeface="Arial" panose="020B0604020202020204" pitchFamily="34" charset="0"/>
                <a:cs typeface="Arial" panose="020B0604020202020204" pitchFamily="34" charset="0"/>
              </a:rPr>
              <a:t>Выбирает элементы, где атрибут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заканчивается значением </a:t>
            </a:r>
            <a:r>
              <a:rPr lang="en-GB" sz="1800" dirty="0">
                <a:latin typeface="Arial" panose="020B0604020202020204" pitchFamily="34" charset="0"/>
                <a:cs typeface="Arial" panose="020B0604020202020204" pitchFamily="34" charset="0"/>
              </a:rPr>
              <a:t>value.</a:t>
            </a:r>
          </a:p>
          <a:p>
            <a:pPr algn="just">
              <a:lnSpc>
                <a:spcPct val="150000"/>
              </a:lnSpc>
            </a:pPr>
            <a:r>
              <a:rPr lang="en-GB" sz="1800" dirty="0">
                <a:latin typeface="Arial" panose="020B0604020202020204" pitchFamily="34" charset="0"/>
                <a:cs typeface="Arial" panose="020B0604020202020204" pitchFamily="34" charset="0"/>
              </a:rPr>
              <a:t>7.  [attribute*=value]:  </a:t>
            </a:r>
            <a:r>
              <a:rPr lang="ru-RU" sz="1800" dirty="0">
                <a:latin typeface="Arial" panose="020B0604020202020204" pitchFamily="34" charset="0"/>
                <a:cs typeface="Arial" panose="020B0604020202020204" pitchFamily="34" charset="0"/>
              </a:rPr>
              <a:t>Выбирает элементы, где атрибут </a:t>
            </a:r>
            <a:r>
              <a:rPr lang="en-GB" sz="1800" dirty="0">
                <a:latin typeface="Arial" panose="020B0604020202020204" pitchFamily="34" charset="0"/>
                <a:cs typeface="Arial" panose="020B0604020202020204" pitchFamily="34" charset="0"/>
              </a:rPr>
              <a:t>attribute </a:t>
            </a:r>
            <a:r>
              <a:rPr lang="ru-RU" sz="1800" dirty="0">
                <a:latin typeface="Arial" panose="020B0604020202020204" pitchFamily="34" charset="0"/>
                <a:cs typeface="Arial" panose="020B0604020202020204" pitchFamily="34" charset="0"/>
              </a:rPr>
              <a:t>содержит значение </a:t>
            </a:r>
            <a:r>
              <a:rPr lang="en-GB" sz="1800" dirty="0">
                <a:latin typeface="Arial" panose="020B0604020202020204" pitchFamily="34" charset="0"/>
                <a:cs typeface="Arial" panose="020B0604020202020204" pitchFamily="34" charset="0"/>
              </a:rPr>
              <a:t>value </a:t>
            </a:r>
            <a:r>
              <a:rPr lang="ru-RU" sz="1800" dirty="0">
                <a:latin typeface="Arial" panose="020B0604020202020204" pitchFamily="34" charset="0"/>
                <a:cs typeface="Arial" panose="020B0604020202020204" pitchFamily="34" charset="0"/>
              </a:rPr>
              <a:t>в не в начальной или последней позиции.</a:t>
            </a:r>
          </a:p>
        </p:txBody>
      </p:sp>
    </p:spTree>
    <p:extLst>
      <p:ext uri="{BB962C8B-B14F-4D97-AF65-F5344CB8AC3E}">
        <p14:creationId xmlns:p14="http://schemas.microsoft.com/office/powerpoint/2010/main" val="130857572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F229FC1D-97A8-114B-B25C-FA4907FC24E0}"/>
              </a:ext>
            </a:extLst>
          </p:cNvPr>
          <p:cNvPicPr>
            <a:picLocks noChangeAspect="1"/>
          </p:cNvPicPr>
          <p:nvPr/>
        </p:nvPicPr>
        <p:blipFill>
          <a:blip r:embed="rId2"/>
          <a:stretch>
            <a:fillRect/>
          </a:stretch>
        </p:blipFill>
        <p:spPr>
          <a:xfrm>
            <a:off x="2362200" y="2273300"/>
            <a:ext cx="7467600" cy="4584700"/>
          </a:xfrm>
          <a:prstGeom prst="rect">
            <a:avLst/>
          </a:prstGeom>
        </p:spPr>
      </p:pic>
    </p:spTree>
    <p:extLst>
      <p:ext uri="{BB962C8B-B14F-4D97-AF65-F5344CB8AC3E}">
        <p14:creationId xmlns:p14="http://schemas.microsoft.com/office/powerpoint/2010/main" val="17913713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75FCFD5B-B2EF-A24D-963F-4F542B54F499}"/>
              </a:ext>
            </a:extLst>
          </p:cNvPr>
          <p:cNvPicPr>
            <a:picLocks noChangeAspect="1"/>
          </p:cNvPicPr>
          <p:nvPr/>
        </p:nvPicPr>
        <p:blipFill>
          <a:blip r:embed="rId2"/>
          <a:stretch>
            <a:fillRect/>
          </a:stretch>
        </p:blipFill>
        <p:spPr>
          <a:xfrm>
            <a:off x="2804834" y="2723389"/>
            <a:ext cx="6934200" cy="1981200"/>
          </a:xfrm>
          <a:prstGeom prst="rect">
            <a:avLst/>
          </a:prstGeom>
        </p:spPr>
      </p:pic>
      <p:pic>
        <p:nvPicPr>
          <p:cNvPr id="6" name="Picture 5">
            <a:extLst>
              <a:ext uri="{FF2B5EF4-FFF2-40B4-BE49-F238E27FC236}">
                <a16:creationId xmlns:a16="http://schemas.microsoft.com/office/drawing/2014/main" id="{27FFF0BB-2A3E-2241-A32C-6E5EE9E68DA6}"/>
              </a:ext>
            </a:extLst>
          </p:cNvPr>
          <p:cNvPicPr>
            <a:picLocks noChangeAspect="1"/>
          </p:cNvPicPr>
          <p:nvPr/>
        </p:nvPicPr>
        <p:blipFill>
          <a:blip r:embed="rId3"/>
          <a:stretch>
            <a:fillRect/>
          </a:stretch>
        </p:blipFill>
        <p:spPr>
          <a:xfrm>
            <a:off x="5395634" y="5497331"/>
            <a:ext cx="1752600" cy="889000"/>
          </a:xfrm>
          <a:prstGeom prst="rect">
            <a:avLst/>
          </a:prstGeom>
          <a:ln>
            <a:solidFill>
              <a:schemeClr val="tx1"/>
            </a:solidFill>
          </a:ln>
        </p:spPr>
      </p:pic>
    </p:spTree>
    <p:extLst>
      <p:ext uri="{BB962C8B-B14F-4D97-AF65-F5344CB8AC3E}">
        <p14:creationId xmlns:p14="http://schemas.microsoft.com/office/powerpoint/2010/main" val="33808511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213E76B4-F1B2-3142-95A2-70EFA001C717}"/>
              </a:ext>
            </a:extLst>
          </p:cNvPr>
          <p:cNvPicPr>
            <a:picLocks noChangeAspect="1"/>
          </p:cNvPicPr>
          <p:nvPr/>
        </p:nvPicPr>
        <p:blipFill>
          <a:blip r:embed="rId2"/>
          <a:stretch>
            <a:fillRect/>
          </a:stretch>
        </p:blipFill>
        <p:spPr>
          <a:xfrm>
            <a:off x="2362200" y="2638044"/>
            <a:ext cx="7467600" cy="3873500"/>
          </a:xfrm>
          <a:prstGeom prst="rect">
            <a:avLst/>
          </a:prstGeom>
        </p:spPr>
      </p:pic>
    </p:spTree>
    <p:extLst>
      <p:ext uri="{BB962C8B-B14F-4D97-AF65-F5344CB8AC3E}">
        <p14:creationId xmlns:p14="http://schemas.microsoft.com/office/powerpoint/2010/main" val="1884684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11A1D3B6-9407-DD43-A10E-20F4DBB8B33F}"/>
              </a:ext>
            </a:extLst>
          </p:cNvPr>
          <p:cNvPicPr>
            <a:picLocks noChangeAspect="1"/>
          </p:cNvPicPr>
          <p:nvPr/>
        </p:nvPicPr>
        <p:blipFill>
          <a:blip r:embed="rId2"/>
          <a:stretch>
            <a:fillRect/>
          </a:stretch>
        </p:blipFill>
        <p:spPr>
          <a:xfrm>
            <a:off x="4768850" y="5459393"/>
            <a:ext cx="2654300" cy="762000"/>
          </a:xfrm>
          <a:prstGeom prst="rect">
            <a:avLst/>
          </a:prstGeom>
          <a:ln>
            <a:solidFill>
              <a:schemeClr val="tx1"/>
            </a:solidFill>
          </a:ln>
        </p:spPr>
      </p:pic>
      <p:pic>
        <p:nvPicPr>
          <p:cNvPr id="6" name="Picture 5">
            <a:extLst>
              <a:ext uri="{FF2B5EF4-FFF2-40B4-BE49-F238E27FC236}">
                <a16:creationId xmlns:a16="http://schemas.microsoft.com/office/drawing/2014/main" id="{03D57773-30C0-474C-9777-079BD8F152C4}"/>
              </a:ext>
            </a:extLst>
          </p:cNvPr>
          <p:cNvPicPr>
            <a:picLocks noChangeAspect="1"/>
          </p:cNvPicPr>
          <p:nvPr/>
        </p:nvPicPr>
        <p:blipFill>
          <a:blip r:embed="rId3"/>
          <a:stretch>
            <a:fillRect/>
          </a:stretch>
        </p:blipFill>
        <p:spPr>
          <a:xfrm>
            <a:off x="3435350" y="2902437"/>
            <a:ext cx="5321300" cy="1981200"/>
          </a:xfrm>
          <a:prstGeom prst="rect">
            <a:avLst/>
          </a:prstGeom>
        </p:spPr>
      </p:pic>
    </p:spTree>
    <p:extLst>
      <p:ext uri="{BB962C8B-B14F-4D97-AF65-F5344CB8AC3E}">
        <p14:creationId xmlns:p14="http://schemas.microsoft.com/office/powerpoint/2010/main" val="18583082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E028A66-FA9D-9149-AADF-C7092D59E86B}"/>
              </a:ext>
            </a:extLst>
          </p:cNvPr>
          <p:cNvPicPr>
            <a:picLocks noChangeAspect="1"/>
          </p:cNvPicPr>
          <p:nvPr/>
        </p:nvPicPr>
        <p:blipFill>
          <a:blip r:embed="rId2"/>
          <a:stretch>
            <a:fillRect/>
          </a:stretch>
        </p:blipFill>
        <p:spPr>
          <a:xfrm>
            <a:off x="2394639" y="2770445"/>
            <a:ext cx="7402721" cy="3122863"/>
          </a:xfrm>
          <a:prstGeom prst="rect">
            <a:avLst/>
          </a:prstGeom>
        </p:spPr>
      </p:pic>
    </p:spTree>
    <p:extLst>
      <p:ext uri="{BB962C8B-B14F-4D97-AF65-F5344CB8AC3E}">
        <p14:creationId xmlns:p14="http://schemas.microsoft.com/office/powerpoint/2010/main" val="26035493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FDE9E69-092B-E040-8A31-6511E77FBFBE}"/>
              </a:ext>
            </a:extLst>
          </p:cNvPr>
          <p:cNvPicPr>
            <a:picLocks noChangeAspect="1"/>
          </p:cNvPicPr>
          <p:nvPr/>
        </p:nvPicPr>
        <p:blipFill>
          <a:blip r:embed="rId2"/>
          <a:stretch>
            <a:fillRect/>
          </a:stretch>
        </p:blipFill>
        <p:spPr>
          <a:xfrm>
            <a:off x="4692650" y="3950293"/>
            <a:ext cx="2806700" cy="2946400"/>
          </a:xfrm>
          <a:prstGeom prst="rect">
            <a:avLst/>
          </a:prstGeom>
          <a:ln>
            <a:solidFill>
              <a:schemeClr val="tx1"/>
            </a:solidFill>
          </a:ln>
        </p:spPr>
      </p:pic>
      <p:pic>
        <p:nvPicPr>
          <p:cNvPr id="6" name="Picture 5">
            <a:extLst>
              <a:ext uri="{FF2B5EF4-FFF2-40B4-BE49-F238E27FC236}">
                <a16:creationId xmlns:a16="http://schemas.microsoft.com/office/drawing/2014/main" id="{C8EE0644-62C6-EB49-8143-688401841724}"/>
              </a:ext>
            </a:extLst>
          </p:cNvPr>
          <p:cNvPicPr>
            <a:picLocks noChangeAspect="1"/>
          </p:cNvPicPr>
          <p:nvPr/>
        </p:nvPicPr>
        <p:blipFill>
          <a:blip r:embed="rId3"/>
          <a:stretch>
            <a:fillRect/>
          </a:stretch>
        </p:blipFill>
        <p:spPr>
          <a:xfrm>
            <a:off x="4292600" y="2153412"/>
            <a:ext cx="3606800" cy="1752600"/>
          </a:xfrm>
          <a:prstGeom prst="rect">
            <a:avLst/>
          </a:prstGeom>
        </p:spPr>
      </p:pic>
    </p:spTree>
    <p:extLst>
      <p:ext uri="{BB962C8B-B14F-4D97-AF65-F5344CB8AC3E}">
        <p14:creationId xmlns:p14="http://schemas.microsoft.com/office/powerpoint/2010/main" val="19370703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F9BA78CC-DB9D-CF48-8ADC-DE4E3951606D}"/>
              </a:ext>
            </a:extLst>
          </p:cNvPr>
          <p:cNvPicPr>
            <a:picLocks noChangeAspect="1"/>
          </p:cNvPicPr>
          <p:nvPr/>
        </p:nvPicPr>
        <p:blipFill>
          <a:blip r:embed="rId2"/>
          <a:stretch>
            <a:fillRect/>
          </a:stretch>
        </p:blipFill>
        <p:spPr>
          <a:xfrm>
            <a:off x="2362200" y="2259169"/>
            <a:ext cx="7467600" cy="4114800"/>
          </a:xfrm>
          <a:prstGeom prst="rect">
            <a:avLst/>
          </a:prstGeom>
        </p:spPr>
      </p:pic>
    </p:spTree>
    <p:extLst>
      <p:ext uri="{BB962C8B-B14F-4D97-AF65-F5344CB8AC3E}">
        <p14:creationId xmlns:p14="http://schemas.microsoft.com/office/powerpoint/2010/main" val="7892348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04DAA379-A42A-1F47-82DA-009A9FE8CAF1}"/>
              </a:ext>
            </a:extLst>
          </p:cNvPr>
          <p:cNvPicPr>
            <a:picLocks noChangeAspect="1"/>
          </p:cNvPicPr>
          <p:nvPr/>
        </p:nvPicPr>
        <p:blipFill>
          <a:blip r:embed="rId2"/>
          <a:stretch>
            <a:fillRect/>
          </a:stretch>
        </p:blipFill>
        <p:spPr>
          <a:xfrm>
            <a:off x="5066662" y="2451100"/>
            <a:ext cx="2222500" cy="1955800"/>
          </a:xfrm>
          <a:prstGeom prst="rect">
            <a:avLst/>
          </a:prstGeom>
        </p:spPr>
      </p:pic>
      <p:pic>
        <p:nvPicPr>
          <p:cNvPr id="6" name="Picture 5">
            <a:extLst>
              <a:ext uri="{FF2B5EF4-FFF2-40B4-BE49-F238E27FC236}">
                <a16:creationId xmlns:a16="http://schemas.microsoft.com/office/drawing/2014/main" id="{C9C4A6EE-04E6-574D-8469-CCE0CB35E48C}"/>
              </a:ext>
            </a:extLst>
          </p:cNvPr>
          <p:cNvPicPr>
            <a:picLocks noChangeAspect="1"/>
          </p:cNvPicPr>
          <p:nvPr/>
        </p:nvPicPr>
        <p:blipFill>
          <a:blip r:embed="rId3"/>
          <a:stretch>
            <a:fillRect/>
          </a:stretch>
        </p:blipFill>
        <p:spPr>
          <a:xfrm>
            <a:off x="4996812" y="4842800"/>
            <a:ext cx="2362200" cy="1333500"/>
          </a:xfrm>
          <a:prstGeom prst="rect">
            <a:avLst/>
          </a:prstGeom>
          <a:ln>
            <a:solidFill>
              <a:schemeClr val="tx1"/>
            </a:solidFill>
          </a:ln>
        </p:spPr>
      </p:pic>
    </p:spTree>
    <p:extLst>
      <p:ext uri="{BB962C8B-B14F-4D97-AF65-F5344CB8AC3E}">
        <p14:creationId xmlns:p14="http://schemas.microsoft.com/office/powerpoint/2010/main" val="26336492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6641CB16-F587-EF4F-A627-C5025A0DBC17}"/>
              </a:ext>
            </a:extLst>
          </p:cNvPr>
          <p:cNvPicPr>
            <a:picLocks noChangeAspect="1"/>
          </p:cNvPicPr>
          <p:nvPr/>
        </p:nvPicPr>
        <p:blipFill>
          <a:blip r:embed="rId2"/>
          <a:stretch>
            <a:fillRect/>
          </a:stretch>
        </p:blipFill>
        <p:spPr>
          <a:xfrm>
            <a:off x="2362200" y="2227210"/>
            <a:ext cx="7467600" cy="4114800"/>
          </a:xfrm>
          <a:prstGeom prst="rect">
            <a:avLst/>
          </a:prstGeom>
        </p:spPr>
      </p:pic>
    </p:spTree>
    <p:extLst>
      <p:ext uri="{BB962C8B-B14F-4D97-AF65-F5344CB8AC3E}">
        <p14:creationId xmlns:p14="http://schemas.microsoft.com/office/powerpoint/2010/main" val="35448985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991E4222-15DC-0E49-AFDD-A5655FBF0649}"/>
              </a:ext>
            </a:extLst>
          </p:cNvPr>
          <p:cNvPicPr>
            <a:picLocks noChangeAspect="1"/>
          </p:cNvPicPr>
          <p:nvPr/>
        </p:nvPicPr>
        <p:blipFill>
          <a:blip r:embed="rId2"/>
          <a:stretch>
            <a:fillRect/>
          </a:stretch>
        </p:blipFill>
        <p:spPr>
          <a:xfrm>
            <a:off x="5346700" y="5075005"/>
            <a:ext cx="1498600" cy="673100"/>
          </a:xfrm>
          <a:prstGeom prst="rect">
            <a:avLst/>
          </a:prstGeom>
          <a:ln>
            <a:solidFill>
              <a:schemeClr val="tx1"/>
            </a:solidFill>
          </a:ln>
        </p:spPr>
      </p:pic>
      <p:pic>
        <p:nvPicPr>
          <p:cNvPr id="6" name="Picture 5">
            <a:extLst>
              <a:ext uri="{FF2B5EF4-FFF2-40B4-BE49-F238E27FC236}">
                <a16:creationId xmlns:a16="http://schemas.microsoft.com/office/drawing/2014/main" id="{BA7FC5A8-9444-2149-96D7-B69A5E37AC32}"/>
              </a:ext>
            </a:extLst>
          </p:cNvPr>
          <p:cNvPicPr>
            <a:picLocks noChangeAspect="1"/>
          </p:cNvPicPr>
          <p:nvPr/>
        </p:nvPicPr>
        <p:blipFill>
          <a:blip r:embed="rId3"/>
          <a:stretch>
            <a:fillRect/>
          </a:stretch>
        </p:blipFill>
        <p:spPr>
          <a:xfrm>
            <a:off x="4610100" y="2451100"/>
            <a:ext cx="2971800" cy="1955800"/>
          </a:xfrm>
          <a:prstGeom prst="rect">
            <a:avLst/>
          </a:prstGeom>
        </p:spPr>
      </p:pic>
    </p:spTree>
    <p:extLst>
      <p:ext uri="{BB962C8B-B14F-4D97-AF65-F5344CB8AC3E}">
        <p14:creationId xmlns:p14="http://schemas.microsoft.com/office/powerpoint/2010/main" val="101788977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892A3477-F67E-8642-B7F2-D8A1D01F1B2A}"/>
              </a:ext>
            </a:extLst>
          </p:cNvPr>
          <p:cNvPicPr>
            <a:picLocks noChangeAspect="1"/>
          </p:cNvPicPr>
          <p:nvPr/>
        </p:nvPicPr>
        <p:blipFill>
          <a:blip r:embed="rId2"/>
          <a:stretch>
            <a:fillRect/>
          </a:stretch>
        </p:blipFill>
        <p:spPr>
          <a:xfrm>
            <a:off x="2362200" y="2298330"/>
            <a:ext cx="7467600" cy="4114800"/>
          </a:xfrm>
          <a:prstGeom prst="rect">
            <a:avLst/>
          </a:prstGeom>
        </p:spPr>
      </p:pic>
    </p:spTree>
    <p:extLst>
      <p:ext uri="{BB962C8B-B14F-4D97-AF65-F5344CB8AC3E}">
        <p14:creationId xmlns:p14="http://schemas.microsoft.com/office/powerpoint/2010/main" val="22743808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C5B1BF3E-D75D-D14F-95A2-F5BDDC459021}"/>
              </a:ext>
            </a:extLst>
          </p:cNvPr>
          <p:cNvPicPr>
            <a:picLocks noChangeAspect="1"/>
          </p:cNvPicPr>
          <p:nvPr/>
        </p:nvPicPr>
        <p:blipFill>
          <a:blip r:embed="rId2"/>
          <a:stretch>
            <a:fillRect/>
          </a:stretch>
        </p:blipFill>
        <p:spPr>
          <a:xfrm>
            <a:off x="5361302" y="4914909"/>
            <a:ext cx="1270000" cy="635000"/>
          </a:xfrm>
          <a:prstGeom prst="rect">
            <a:avLst/>
          </a:prstGeom>
          <a:ln>
            <a:solidFill>
              <a:schemeClr val="tx1"/>
            </a:solidFill>
          </a:ln>
        </p:spPr>
      </p:pic>
      <p:pic>
        <p:nvPicPr>
          <p:cNvPr id="6" name="Picture 5">
            <a:extLst>
              <a:ext uri="{FF2B5EF4-FFF2-40B4-BE49-F238E27FC236}">
                <a16:creationId xmlns:a16="http://schemas.microsoft.com/office/drawing/2014/main" id="{8365AC7A-AB59-B043-948C-B7042F321878}"/>
              </a:ext>
            </a:extLst>
          </p:cNvPr>
          <p:cNvPicPr>
            <a:picLocks noChangeAspect="1"/>
          </p:cNvPicPr>
          <p:nvPr/>
        </p:nvPicPr>
        <p:blipFill>
          <a:blip r:embed="rId3"/>
          <a:stretch>
            <a:fillRect/>
          </a:stretch>
        </p:blipFill>
        <p:spPr>
          <a:xfrm>
            <a:off x="4235450" y="2552700"/>
            <a:ext cx="3721100" cy="1752600"/>
          </a:xfrm>
          <a:prstGeom prst="rect">
            <a:avLst/>
          </a:prstGeom>
        </p:spPr>
      </p:pic>
    </p:spTree>
    <p:extLst>
      <p:ext uri="{BB962C8B-B14F-4D97-AF65-F5344CB8AC3E}">
        <p14:creationId xmlns:p14="http://schemas.microsoft.com/office/powerpoint/2010/main" val="229513002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8" name="Picture 7">
            <a:extLst>
              <a:ext uri="{FF2B5EF4-FFF2-40B4-BE49-F238E27FC236}">
                <a16:creationId xmlns:a16="http://schemas.microsoft.com/office/drawing/2014/main" id="{C5676D68-6B9F-7944-8F78-E590939C34F1}"/>
              </a:ext>
            </a:extLst>
          </p:cNvPr>
          <p:cNvPicPr>
            <a:picLocks noChangeAspect="1"/>
          </p:cNvPicPr>
          <p:nvPr/>
        </p:nvPicPr>
        <p:blipFill>
          <a:blip r:embed="rId2"/>
          <a:stretch>
            <a:fillRect/>
          </a:stretch>
        </p:blipFill>
        <p:spPr>
          <a:xfrm>
            <a:off x="2362200" y="2288170"/>
            <a:ext cx="7467600" cy="4114800"/>
          </a:xfrm>
          <a:prstGeom prst="rect">
            <a:avLst/>
          </a:prstGeom>
        </p:spPr>
      </p:pic>
    </p:spTree>
    <p:extLst>
      <p:ext uri="{BB962C8B-B14F-4D97-AF65-F5344CB8AC3E}">
        <p14:creationId xmlns:p14="http://schemas.microsoft.com/office/powerpoint/2010/main" val="36552087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Пример</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DEF0A773-D3D8-B443-A3A8-FB6491EB272D}"/>
              </a:ext>
            </a:extLst>
          </p:cNvPr>
          <p:cNvPicPr>
            <a:picLocks noChangeAspect="1"/>
          </p:cNvPicPr>
          <p:nvPr/>
        </p:nvPicPr>
        <p:blipFill>
          <a:blip r:embed="rId2"/>
          <a:stretch>
            <a:fillRect/>
          </a:stretch>
        </p:blipFill>
        <p:spPr>
          <a:xfrm>
            <a:off x="4806950" y="4751043"/>
            <a:ext cx="2578100" cy="965200"/>
          </a:xfrm>
          <a:prstGeom prst="rect">
            <a:avLst/>
          </a:prstGeom>
          <a:ln>
            <a:solidFill>
              <a:schemeClr val="tx1"/>
            </a:solidFill>
          </a:ln>
        </p:spPr>
      </p:pic>
      <p:pic>
        <p:nvPicPr>
          <p:cNvPr id="6" name="Picture 5">
            <a:extLst>
              <a:ext uri="{FF2B5EF4-FFF2-40B4-BE49-F238E27FC236}">
                <a16:creationId xmlns:a16="http://schemas.microsoft.com/office/drawing/2014/main" id="{EC0C9E7C-0F53-DA40-88FA-FC80C6B0030D}"/>
              </a:ext>
            </a:extLst>
          </p:cNvPr>
          <p:cNvPicPr>
            <a:picLocks noChangeAspect="1"/>
          </p:cNvPicPr>
          <p:nvPr/>
        </p:nvPicPr>
        <p:blipFill>
          <a:blip r:embed="rId3"/>
          <a:stretch>
            <a:fillRect/>
          </a:stretch>
        </p:blipFill>
        <p:spPr>
          <a:xfrm>
            <a:off x="4508500" y="2439663"/>
            <a:ext cx="3175000" cy="1752600"/>
          </a:xfrm>
          <a:prstGeom prst="rect">
            <a:avLst/>
          </a:prstGeom>
        </p:spPr>
      </p:pic>
    </p:spTree>
    <p:extLst>
      <p:ext uri="{BB962C8B-B14F-4D97-AF65-F5344CB8AC3E}">
        <p14:creationId xmlns:p14="http://schemas.microsoft.com/office/powerpoint/2010/main" val="5320700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a:t>
            </a:r>
            <a:r>
              <a:rPr lang="ru-RU" dirty="0" err="1"/>
              <a:t>псевдокласса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r>
              <a:rPr lang="ru-RU" sz="1800" dirty="0" err="1">
                <a:latin typeface="Arial" panose="020B0604020202020204" pitchFamily="34" charset="0"/>
                <a:cs typeface="Arial" panose="020B0604020202020204" pitchFamily="34" charset="0"/>
              </a:rPr>
              <a:t>Псевдокласс</a:t>
            </a:r>
            <a:r>
              <a:rPr lang="ru-RU" sz="1800" dirty="0">
                <a:latin typeface="Arial" panose="020B0604020202020204" pitchFamily="34" charset="0"/>
                <a:cs typeface="Arial" panose="020B0604020202020204" pitchFamily="34" charset="0"/>
              </a:rPr>
              <a:t> — это селектор, который выбирает элементы, находящиеся в специфическом состоянии, например, они являются первым элементом своего типа, или на них наведён указатель мыши. Они обычно действуют так, как если бы вы применили класс к какой-то части вашего документа, что часто помогает сократить избыточные классы в разметке и даёт более гибкий, удобный в поддержке код.</a:t>
            </a:r>
          </a:p>
          <a:p>
            <a:pPr algn="just">
              <a:lnSpc>
                <a:spcPct val="150000"/>
              </a:lnSpc>
            </a:pPr>
            <a:endParaRPr lang="ru-RU"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392302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a:t>
            </a:r>
            <a:r>
              <a:rPr lang="ru-RU" dirty="0" err="1"/>
              <a:t>псевдокласса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ru-RU"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D3EA2618-A884-F646-AD6B-0679B80AD2B5}"/>
              </a:ext>
            </a:extLst>
          </p:cNvPr>
          <p:cNvPicPr>
            <a:picLocks noChangeAspect="1"/>
          </p:cNvPicPr>
          <p:nvPr/>
        </p:nvPicPr>
        <p:blipFill>
          <a:blip r:embed="rId2"/>
          <a:stretch>
            <a:fillRect/>
          </a:stretch>
        </p:blipFill>
        <p:spPr>
          <a:xfrm>
            <a:off x="603846" y="3013088"/>
            <a:ext cx="7018652" cy="2712777"/>
          </a:xfrm>
          <a:prstGeom prst="rect">
            <a:avLst/>
          </a:prstGeom>
        </p:spPr>
      </p:pic>
      <p:pic>
        <p:nvPicPr>
          <p:cNvPr id="5" name="Picture 4">
            <a:extLst>
              <a:ext uri="{FF2B5EF4-FFF2-40B4-BE49-F238E27FC236}">
                <a16:creationId xmlns:a16="http://schemas.microsoft.com/office/drawing/2014/main" id="{7E9A285B-630E-2B48-AE4A-EC8CCEE227FE}"/>
              </a:ext>
            </a:extLst>
          </p:cNvPr>
          <p:cNvPicPr>
            <a:picLocks noChangeAspect="1"/>
          </p:cNvPicPr>
          <p:nvPr/>
        </p:nvPicPr>
        <p:blipFill>
          <a:blip r:embed="rId3"/>
          <a:stretch>
            <a:fillRect/>
          </a:stretch>
        </p:blipFill>
        <p:spPr>
          <a:xfrm>
            <a:off x="9111654" y="4712208"/>
            <a:ext cx="1879600" cy="1181100"/>
          </a:xfrm>
          <a:prstGeom prst="rect">
            <a:avLst/>
          </a:prstGeom>
          <a:ln>
            <a:solidFill>
              <a:schemeClr val="tx1"/>
            </a:solidFill>
          </a:ln>
        </p:spPr>
      </p:pic>
      <p:pic>
        <p:nvPicPr>
          <p:cNvPr id="6" name="Picture 5">
            <a:extLst>
              <a:ext uri="{FF2B5EF4-FFF2-40B4-BE49-F238E27FC236}">
                <a16:creationId xmlns:a16="http://schemas.microsoft.com/office/drawing/2014/main" id="{D191B220-4922-2747-9E34-A8DF96BE2195}"/>
              </a:ext>
            </a:extLst>
          </p:cNvPr>
          <p:cNvPicPr>
            <a:picLocks noChangeAspect="1"/>
          </p:cNvPicPr>
          <p:nvPr/>
        </p:nvPicPr>
        <p:blipFill>
          <a:blip r:embed="rId4"/>
          <a:stretch>
            <a:fillRect/>
          </a:stretch>
        </p:blipFill>
        <p:spPr>
          <a:xfrm>
            <a:off x="8514754" y="2488692"/>
            <a:ext cx="3073400" cy="1981200"/>
          </a:xfrm>
          <a:prstGeom prst="rect">
            <a:avLst/>
          </a:prstGeom>
        </p:spPr>
      </p:pic>
    </p:spTree>
    <p:extLst>
      <p:ext uri="{BB962C8B-B14F-4D97-AF65-F5344CB8AC3E}">
        <p14:creationId xmlns:p14="http://schemas.microsoft.com/office/powerpoint/2010/main" val="262208518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a:t>
            </a:r>
            <a:r>
              <a:rPr lang="ru-RU" dirty="0" err="1"/>
              <a:t>псевдоэлемента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fontScale="92500"/>
          </a:bodyPr>
          <a:lstStyle/>
          <a:p>
            <a:pPr algn="just">
              <a:lnSpc>
                <a:spcPct val="150000"/>
              </a:lnSpc>
            </a:pPr>
            <a:r>
              <a:rPr lang="ru-RU" sz="1800" dirty="0">
                <a:latin typeface="Arial" panose="020B0604020202020204" pitchFamily="34" charset="0"/>
                <a:cs typeface="Arial" panose="020B0604020202020204" pitchFamily="34" charset="0"/>
              </a:rPr>
              <a:t>	</a:t>
            </a:r>
            <a:r>
              <a:rPr lang="ru-RU" sz="1800" dirty="0" err="1">
                <a:latin typeface="Arial" panose="020B0604020202020204" pitchFamily="34" charset="0"/>
                <a:cs typeface="Arial" panose="020B0604020202020204" pitchFamily="34" charset="0"/>
              </a:rPr>
              <a:t>Псевдоэлементы</a:t>
            </a:r>
            <a:r>
              <a:rPr lang="ru-RU" sz="1800" dirty="0">
                <a:latin typeface="Arial" panose="020B0604020202020204" pitchFamily="34" charset="0"/>
                <a:cs typeface="Arial" panose="020B0604020202020204" pitchFamily="34" charset="0"/>
              </a:rPr>
              <a:t> ведут себя сходным образом, однако они действуют так, как если бы вы добавили в разметку целый новый </a:t>
            </a:r>
            <a:r>
              <a:rPr lang="en-GB" sz="1800" dirty="0">
                <a:latin typeface="Arial" panose="020B0604020202020204" pitchFamily="34" charset="0"/>
                <a:cs typeface="Arial" panose="020B0604020202020204" pitchFamily="34" charset="0"/>
              </a:rPr>
              <a:t>HTML-</a:t>
            </a:r>
            <a:r>
              <a:rPr lang="ru-RU" sz="1800" dirty="0">
                <a:latin typeface="Arial" panose="020B0604020202020204" pitchFamily="34" charset="0"/>
                <a:cs typeface="Arial" panose="020B0604020202020204" pitchFamily="34" charset="0"/>
              </a:rPr>
              <a:t>элемент, а не применили класс к существующим элементам.</a:t>
            </a:r>
          </a:p>
          <a:p>
            <a:pPr algn="just">
              <a:lnSpc>
                <a:spcPct val="150000"/>
              </a:lnSpc>
            </a:pPr>
            <a:r>
              <a:rPr lang="ru-RU" sz="1800" dirty="0"/>
              <a:t>	</a:t>
            </a:r>
            <a:r>
              <a:rPr lang="ru-RU" sz="1800" dirty="0">
                <a:latin typeface="Arial" panose="020B0604020202020204" pitchFamily="34" charset="0"/>
                <a:cs typeface="Arial" panose="020B0604020202020204" pitchFamily="34" charset="0"/>
              </a:rPr>
              <a:t>Например, если вы хотите выбрать первую строку абзаца, вы могли бы обернуть её в &lt;</a:t>
            </a:r>
            <a:r>
              <a:rPr lang="en-GB" sz="1800" dirty="0">
                <a:latin typeface="Arial" panose="020B0604020202020204" pitchFamily="34" charset="0"/>
                <a:cs typeface="Arial" panose="020B0604020202020204" pitchFamily="34" charset="0"/>
              </a:rPr>
              <a:t>span&gt; </a:t>
            </a:r>
            <a:r>
              <a:rPr lang="ru-RU" sz="1800" dirty="0">
                <a:latin typeface="Arial" panose="020B0604020202020204" pitchFamily="34" charset="0"/>
                <a:cs typeface="Arial" panose="020B0604020202020204" pitchFamily="34" charset="0"/>
              </a:rPr>
              <a:t>и использовать селектор элемента; однако это может не сработать, если количество слов, которые вы обернули, будет больше или меньше ширины родительского элемента. Поскольку мы, как правило, не знаем, сколько слов поместится в строке — т.к. их количество меняется, если меняется ширина экрана или размер шрифта — то надёжного решения при помощи </a:t>
            </a:r>
            <a:r>
              <a:rPr lang="en-GB" sz="1800" dirty="0">
                <a:latin typeface="Arial" panose="020B0604020202020204" pitchFamily="34" charset="0"/>
                <a:cs typeface="Arial" panose="020B0604020202020204" pitchFamily="34" charset="0"/>
              </a:rPr>
              <a:t>HTML </a:t>
            </a:r>
            <a:r>
              <a:rPr lang="ru-RU" sz="1800" dirty="0">
                <a:latin typeface="Arial" panose="020B0604020202020204" pitchFamily="34" charset="0"/>
                <a:cs typeface="Arial" panose="020B0604020202020204" pitchFamily="34" charset="0"/>
              </a:rPr>
              <a:t>нет.</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5644039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a:t>
            </a:r>
            <a:r>
              <a:rPr lang="ru-RU" dirty="0" err="1"/>
              <a:t>псевдоэлемента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en-GB" sz="1800" dirty="0">
              <a:latin typeface="Arial" panose="020B0604020202020204" pitchFamily="34" charset="0"/>
              <a:cs typeface="Arial" panose="020B0604020202020204" pitchFamily="34" charset="0"/>
            </a:endParaRPr>
          </a:p>
        </p:txBody>
      </p:sp>
      <p:pic>
        <p:nvPicPr>
          <p:cNvPr id="4" name="Picture 3">
            <a:extLst>
              <a:ext uri="{FF2B5EF4-FFF2-40B4-BE49-F238E27FC236}">
                <a16:creationId xmlns:a16="http://schemas.microsoft.com/office/drawing/2014/main" id="{722AE6BF-5875-B14D-AB71-317F3EF5E844}"/>
              </a:ext>
            </a:extLst>
          </p:cNvPr>
          <p:cNvPicPr>
            <a:picLocks noChangeAspect="1"/>
          </p:cNvPicPr>
          <p:nvPr/>
        </p:nvPicPr>
        <p:blipFill>
          <a:blip r:embed="rId2"/>
          <a:stretch>
            <a:fillRect/>
          </a:stretch>
        </p:blipFill>
        <p:spPr>
          <a:xfrm>
            <a:off x="2116163" y="2341862"/>
            <a:ext cx="7844701" cy="2482112"/>
          </a:xfrm>
          <a:prstGeom prst="rect">
            <a:avLst/>
          </a:prstGeom>
        </p:spPr>
      </p:pic>
      <p:pic>
        <p:nvPicPr>
          <p:cNvPr id="5" name="Picture 4">
            <a:extLst>
              <a:ext uri="{FF2B5EF4-FFF2-40B4-BE49-F238E27FC236}">
                <a16:creationId xmlns:a16="http://schemas.microsoft.com/office/drawing/2014/main" id="{1516A611-6BF4-E34F-BD4E-7CC0B5F68B60}"/>
              </a:ext>
            </a:extLst>
          </p:cNvPr>
          <p:cNvPicPr>
            <a:picLocks noChangeAspect="1"/>
          </p:cNvPicPr>
          <p:nvPr/>
        </p:nvPicPr>
        <p:blipFill>
          <a:blip r:embed="rId3"/>
          <a:stretch>
            <a:fillRect/>
          </a:stretch>
        </p:blipFill>
        <p:spPr>
          <a:xfrm>
            <a:off x="3917950" y="4860529"/>
            <a:ext cx="4356100" cy="1981200"/>
          </a:xfrm>
          <a:prstGeom prst="rect">
            <a:avLst/>
          </a:prstGeom>
        </p:spPr>
      </p:pic>
    </p:spTree>
    <p:extLst>
      <p:ext uri="{BB962C8B-B14F-4D97-AF65-F5344CB8AC3E}">
        <p14:creationId xmlns:p14="http://schemas.microsoft.com/office/powerpoint/2010/main" val="109403646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a:t>
            </a:r>
            <a:r>
              <a:rPr lang="ru-RU" dirty="0" err="1"/>
              <a:t>псевдоэлемента</a:t>
            </a:r>
            <a:endParaRPr lang="en-RU" dirty="0"/>
          </a:p>
        </p:txBody>
      </p:sp>
      <p:sp>
        <p:nvSpPr>
          <p:cNvPr id="3" name="Content Placeholder 2">
            <a:extLst>
              <a:ext uri="{FF2B5EF4-FFF2-40B4-BE49-F238E27FC236}">
                <a16:creationId xmlns:a16="http://schemas.microsoft.com/office/drawing/2014/main" id="{9201C46A-8C5A-784B-A65F-702503E8F5AC}"/>
              </a:ext>
            </a:extLst>
          </p:cNvPr>
          <p:cNvSpPr>
            <a:spLocks noGrp="1"/>
          </p:cNvSpPr>
          <p:nvPr>
            <p:ph idx="1"/>
          </p:nvPr>
        </p:nvSpPr>
        <p:spPr>
          <a:xfrm>
            <a:off x="2231136" y="2638044"/>
            <a:ext cx="7729728" cy="4108196"/>
          </a:xfrm>
        </p:spPr>
        <p:txBody>
          <a:bodyPr>
            <a:normAutofit/>
          </a:bodyPr>
          <a:lstStyle/>
          <a:p>
            <a:pPr algn="just">
              <a:lnSpc>
                <a:spcPct val="150000"/>
              </a:lnSpc>
            </a:pPr>
            <a:endParaRPr lang="en-GB"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58A911CC-9A19-B648-9B31-E3CA39B6EE67}"/>
              </a:ext>
            </a:extLst>
          </p:cNvPr>
          <p:cNvPicPr>
            <a:picLocks noChangeAspect="1"/>
          </p:cNvPicPr>
          <p:nvPr/>
        </p:nvPicPr>
        <p:blipFill>
          <a:blip r:embed="rId2"/>
          <a:stretch>
            <a:fillRect/>
          </a:stretch>
        </p:blipFill>
        <p:spPr>
          <a:xfrm>
            <a:off x="725862" y="3009191"/>
            <a:ext cx="6997700" cy="2603500"/>
          </a:xfrm>
          <a:prstGeom prst="rect">
            <a:avLst/>
          </a:prstGeom>
          <a:ln>
            <a:solidFill>
              <a:schemeClr val="tx1"/>
            </a:solidFill>
          </a:ln>
        </p:spPr>
      </p:pic>
      <p:pic>
        <p:nvPicPr>
          <p:cNvPr id="7" name="Picture 6">
            <a:extLst>
              <a:ext uri="{FF2B5EF4-FFF2-40B4-BE49-F238E27FC236}">
                <a16:creationId xmlns:a16="http://schemas.microsoft.com/office/drawing/2014/main" id="{67927736-E93E-E342-A191-C4C87D4EFB29}"/>
              </a:ext>
            </a:extLst>
          </p:cNvPr>
          <p:cNvPicPr>
            <a:picLocks noChangeAspect="1"/>
          </p:cNvPicPr>
          <p:nvPr/>
        </p:nvPicPr>
        <p:blipFill>
          <a:blip r:embed="rId3"/>
          <a:stretch>
            <a:fillRect/>
          </a:stretch>
        </p:blipFill>
        <p:spPr>
          <a:xfrm>
            <a:off x="8291330" y="2394551"/>
            <a:ext cx="3174808" cy="4119560"/>
          </a:xfrm>
          <a:prstGeom prst="rect">
            <a:avLst/>
          </a:prstGeom>
          <a:ln>
            <a:solidFill>
              <a:schemeClr val="tx1"/>
            </a:solidFill>
          </a:ln>
        </p:spPr>
      </p:pic>
    </p:spTree>
    <p:extLst>
      <p:ext uri="{BB962C8B-B14F-4D97-AF65-F5344CB8AC3E}">
        <p14:creationId xmlns:p14="http://schemas.microsoft.com/office/powerpoint/2010/main" val="289367304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a:t>
            </a:r>
            <a:r>
              <a:rPr lang="ru-RU" dirty="0" err="1"/>
              <a:t>псевдоэлемента</a:t>
            </a:r>
            <a:endParaRPr lang="en-RU" dirty="0"/>
          </a:p>
        </p:txBody>
      </p:sp>
      <p:graphicFrame>
        <p:nvGraphicFramePr>
          <p:cNvPr id="5" name="Content Placeholder 4">
            <a:extLst>
              <a:ext uri="{FF2B5EF4-FFF2-40B4-BE49-F238E27FC236}">
                <a16:creationId xmlns:a16="http://schemas.microsoft.com/office/drawing/2014/main" id="{BF0A935B-8DF2-5B4C-BC1B-1BB3A2AFCBDD}"/>
              </a:ext>
            </a:extLst>
          </p:cNvPr>
          <p:cNvGraphicFramePr>
            <a:graphicFrameLocks noGrp="1"/>
          </p:cNvGraphicFramePr>
          <p:nvPr>
            <p:ph idx="1"/>
            <p:extLst>
              <p:ext uri="{D42A27DB-BD31-4B8C-83A1-F6EECF244321}">
                <p14:modId xmlns:p14="http://schemas.microsoft.com/office/powerpoint/2010/main" val="799009284"/>
              </p:ext>
            </p:extLst>
          </p:nvPr>
        </p:nvGraphicFramePr>
        <p:xfrm>
          <a:off x="1021080" y="2262505"/>
          <a:ext cx="10149840" cy="4359733"/>
        </p:xfrm>
        <a:graphic>
          <a:graphicData uri="http://schemas.openxmlformats.org/drawingml/2006/table">
            <a:tbl>
              <a:tblPr>
                <a:tableStyleId>{2D5ABB26-0587-4C30-8999-92F81FD0307C}</a:tableStyleId>
              </a:tblPr>
              <a:tblGrid>
                <a:gridCol w="1963554">
                  <a:extLst>
                    <a:ext uri="{9D8B030D-6E8A-4147-A177-3AD203B41FA5}">
                      <a16:colId xmlns:a16="http://schemas.microsoft.com/office/drawing/2014/main" val="2139908927"/>
                    </a:ext>
                  </a:extLst>
                </a:gridCol>
                <a:gridCol w="8186286">
                  <a:extLst>
                    <a:ext uri="{9D8B030D-6E8A-4147-A177-3AD203B41FA5}">
                      <a16:colId xmlns:a16="http://schemas.microsoft.com/office/drawing/2014/main" val="1968218853"/>
                    </a:ext>
                  </a:extLst>
                </a:gridCol>
              </a:tblGrid>
              <a:tr h="701838">
                <a:tc>
                  <a:txBody>
                    <a:bodyPr/>
                    <a:lstStyle/>
                    <a:p>
                      <a:r>
                        <a:rPr lang="en-GB" sz="1400" dirty="0">
                          <a:latin typeface="Arial" panose="020B0604020202020204" pitchFamily="34" charset="0"/>
                          <a:cs typeface="Arial" panose="020B0604020202020204" pitchFamily="34" charset="0"/>
                        </a:rPr>
                        <a:t>::after</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элементу, который допускает стилизацию и появляется после текущего содержимого порождающего элемента.</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6096647"/>
                  </a:ext>
                </a:extLst>
              </a:tr>
              <a:tr h="701838">
                <a:tc>
                  <a:txBody>
                    <a:bodyPr/>
                    <a:lstStyle/>
                    <a:p>
                      <a:r>
                        <a:rPr lang="en-GB" sz="1400" dirty="0">
                          <a:latin typeface="Arial" panose="020B0604020202020204" pitchFamily="34" charset="0"/>
                          <a:cs typeface="Arial" panose="020B0604020202020204" pitchFamily="34" charset="0"/>
                        </a:rPr>
                        <a:t>::before</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элементу, который допускает стилизацию и появляется перед текущим содержимым порождающего элемента.</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61079019"/>
                  </a:ext>
                </a:extLst>
              </a:tr>
              <a:tr h="280716">
                <a:tc>
                  <a:txBody>
                    <a:bodyPr/>
                    <a:lstStyle/>
                    <a:p>
                      <a:r>
                        <a:rPr lang="en-GB" sz="1400" dirty="0">
                          <a:latin typeface="Arial" panose="020B0604020202020204" pitchFamily="34" charset="0"/>
                          <a:cs typeface="Arial" panose="020B0604020202020204" pitchFamily="34" charset="0"/>
                        </a:rPr>
                        <a:t>::first-letter</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первой букве элемента.</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488657339"/>
                  </a:ext>
                </a:extLst>
              </a:tr>
              <a:tr h="491277">
                <a:tc>
                  <a:txBody>
                    <a:bodyPr/>
                    <a:lstStyle/>
                    <a:p>
                      <a:r>
                        <a:rPr lang="en-GB" sz="1400" dirty="0">
                          <a:latin typeface="Arial" panose="020B0604020202020204" pitchFamily="34" charset="0"/>
                          <a:cs typeface="Arial" panose="020B0604020202020204" pitchFamily="34" charset="0"/>
                        </a:rPr>
                        <a:t>::first-line</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первой строке содержимого порождающего элемента.</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09951325"/>
                  </a:ext>
                </a:extLst>
              </a:tr>
              <a:tr h="491277">
                <a:tc>
                  <a:txBody>
                    <a:bodyPr/>
                    <a:lstStyle/>
                    <a:p>
                      <a:r>
                        <a:rPr lang="en-GB" sz="1400" dirty="0">
                          <a:latin typeface="Arial" panose="020B0604020202020204" pitchFamily="34" charset="0"/>
                          <a:cs typeface="Arial" panose="020B0604020202020204" pitchFamily="34" charset="0"/>
                        </a:rPr>
                        <a:t>::grammar-error</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части документа, содержащей грамматическую ошибку, отмеченную браузером.</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582080489"/>
                  </a:ext>
                </a:extLst>
              </a:tr>
              <a:tr h="701838">
                <a:tc>
                  <a:txBody>
                    <a:bodyPr/>
                    <a:lstStyle/>
                    <a:p>
                      <a:r>
                        <a:rPr lang="en-GB" sz="1400" dirty="0">
                          <a:latin typeface="Arial" panose="020B0604020202020204" pitchFamily="34" charset="0"/>
                          <a:cs typeface="Arial" panose="020B0604020202020204" pitchFamily="34" charset="0"/>
                        </a:rPr>
                        <a:t>::marker</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полю маркера пункта списка, которое обычно содержит жирную точку или число.</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3598231"/>
                  </a:ext>
                </a:extLst>
              </a:tr>
              <a:tr h="491277">
                <a:tc>
                  <a:txBody>
                    <a:bodyPr/>
                    <a:lstStyle/>
                    <a:p>
                      <a:r>
                        <a:rPr lang="en-GB" sz="1400" dirty="0">
                          <a:latin typeface="Arial" panose="020B0604020202020204" pitchFamily="34" charset="0"/>
                          <a:cs typeface="Arial" panose="020B0604020202020204" pitchFamily="34" charset="0"/>
                        </a:rPr>
                        <a:t>::selection</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a:latin typeface="Arial" panose="020B0604020202020204" pitchFamily="34" charset="0"/>
                          <a:cs typeface="Arial" panose="020B0604020202020204" pitchFamily="34" charset="0"/>
                        </a:rPr>
                        <a:t>Соответствует части документа, которая была выбрана.</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83215097"/>
                  </a:ext>
                </a:extLst>
              </a:tr>
              <a:tr h="491277">
                <a:tc>
                  <a:txBody>
                    <a:bodyPr/>
                    <a:lstStyle/>
                    <a:p>
                      <a:r>
                        <a:rPr lang="en-GB" sz="1400" dirty="0">
                          <a:latin typeface="Arial" panose="020B0604020202020204" pitchFamily="34" charset="0"/>
                          <a:cs typeface="Arial" panose="020B0604020202020204" pitchFamily="34" charset="0"/>
                        </a:rPr>
                        <a:t>::spelling-error</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ru-RU" sz="1400" dirty="0">
                          <a:latin typeface="Arial" panose="020B0604020202020204" pitchFamily="34" charset="0"/>
                          <a:cs typeface="Arial" panose="020B0604020202020204" pitchFamily="34" charset="0"/>
                        </a:rPr>
                        <a:t>Соответствует части документа, содержащей орфографическую ошибку, отмеченную браузером.</a:t>
                      </a:r>
                    </a:p>
                  </a:txBody>
                  <a:tcPr marL="70155" marR="70155"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386414970"/>
                  </a:ext>
                </a:extLst>
              </a:tr>
            </a:tbl>
          </a:graphicData>
        </a:graphic>
      </p:graphicFrame>
    </p:spTree>
    <p:extLst>
      <p:ext uri="{BB962C8B-B14F-4D97-AF65-F5344CB8AC3E}">
        <p14:creationId xmlns:p14="http://schemas.microsoft.com/office/powerpoint/2010/main" val="348974492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Комбинаторы</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fontScale="92500" lnSpcReduction="20000"/>
          </a:bodyPr>
          <a:lstStyle/>
          <a:p>
            <a:pPr algn="just">
              <a:lnSpc>
                <a:spcPct val="150000"/>
              </a:lnSpc>
            </a:pPr>
            <a:r>
              <a:rPr lang="ru-RU" sz="1400" dirty="0">
                <a:latin typeface="Arial" panose="020B0604020202020204" pitchFamily="34" charset="0"/>
                <a:cs typeface="Arial" panose="020B0604020202020204" pitchFamily="34" charset="0"/>
              </a:rPr>
              <a:t>Комбинаторы в </a:t>
            </a:r>
            <a:r>
              <a:rPr lang="en-GB" sz="1400" dirty="0">
                <a:latin typeface="Arial" panose="020B0604020202020204" pitchFamily="34" charset="0"/>
                <a:cs typeface="Arial" panose="020B0604020202020204" pitchFamily="34" charset="0"/>
              </a:rPr>
              <a:t>CSS — </a:t>
            </a:r>
            <a:r>
              <a:rPr lang="ru-RU" sz="1400" dirty="0">
                <a:latin typeface="Arial" panose="020B0604020202020204" pitchFamily="34" charset="0"/>
                <a:cs typeface="Arial" panose="020B0604020202020204" pitchFamily="34" charset="0"/>
              </a:rPr>
              <a:t>это специальные символы, которые позволяют вам выбирать элементы на основе их отношений с другими элементами в </a:t>
            </a:r>
            <a:r>
              <a:rPr lang="en-GB" sz="1400" dirty="0">
                <a:latin typeface="Arial" panose="020B0604020202020204" pitchFamily="34" charset="0"/>
                <a:cs typeface="Arial" panose="020B0604020202020204" pitchFamily="34" charset="0"/>
              </a:rPr>
              <a:t>HTML-</a:t>
            </a:r>
            <a:r>
              <a:rPr lang="ru-RU" sz="1400" dirty="0">
                <a:latin typeface="Arial" panose="020B0604020202020204" pitchFamily="34" charset="0"/>
                <a:cs typeface="Arial" panose="020B0604020202020204" pitchFamily="34" charset="0"/>
              </a:rPr>
              <a:t>структуре. Они определяют, как один селектор соотносится с другим, позволяя вам создавать более сложные и точные правила стилизации.</a:t>
            </a:r>
          </a:p>
          <a:p>
            <a:pPr algn="just">
              <a:lnSpc>
                <a:spcPct val="150000"/>
              </a:lnSpc>
            </a:pPr>
            <a:r>
              <a:rPr lang="ru-RU" sz="1400" dirty="0">
                <a:latin typeface="Arial" panose="020B0604020202020204" pitchFamily="34" charset="0"/>
                <a:cs typeface="Arial" panose="020B0604020202020204" pitchFamily="34" charset="0"/>
              </a:rPr>
              <a:t>Существует четыре основных типа комбинаторов:</a:t>
            </a:r>
          </a:p>
          <a:p>
            <a:pPr lvl="2" algn="just">
              <a:lnSpc>
                <a:spcPct val="150000"/>
              </a:lnSpc>
            </a:pPr>
            <a:r>
              <a:rPr lang="ru-RU" sz="1400" dirty="0">
                <a:latin typeface="Arial" panose="020B0604020202020204" pitchFamily="34" charset="0"/>
                <a:cs typeface="Arial" panose="020B0604020202020204" pitchFamily="34" charset="0"/>
              </a:rPr>
              <a:t>1. Селектор потомков </a:t>
            </a:r>
          </a:p>
          <a:p>
            <a:pPr lvl="2" algn="just">
              <a:lnSpc>
                <a:spcPct val="150000"/>
              </a:lnSpc>
            </a:pPr>
            <a:r>
              <a:rPr lang="ru-RU" sz="1400" dirty="0">
                <a:latin typeface="Arial" panose="020B0604020202020204" pitchFamily="34" charset="0"/>
                <a:cs typeface="Arial" panose="020B0604020202020204" pitchFamily="34" charset="0"/>
              </a:rPr>
              <a:t>2. Селектор дочерних элементов</a:t>
            </a:r>
            <a:endParaRPr lang="en-GB" sz="1400" dirty="0">
              <a:latin typeface="Arial" panose="020B0604020202020204" pitchFamily="34" charset="0"/>
              <a:cs typeface="Arial" panose="020B0604020202020204" pitchFamily="34" charset="0"/>
            </a:endParaRPr>
          </a:p>
          <a:p>
            <a:pPr lvl="2" algn="just">
              <a:lnSpc>
                <a:spcPct val="150000"/>
              </a:lnSpc>
            </a:pPr>
            <a:r>
              <a:rPr lang="en-GB" sz="1400" dirty="0">
                <a:latin typeface="Arial" panose="020B0604020202020204" pitchFamily="34" charset="0"/>
                <a:cs typeface="Arial" panose="020B0604020202020204" pitchFamily="34" charset="0"/>
              </a:rPr>
              <a:t>3. </a:t>
            </a:r>
            <a:r>
              <a:rPr lang="ru-RU" sz="1400" dirty="0">
                <a:latin typeface="Arial" panose="020B0604020202020204" pitchFamily="34" charset="0"/>
                <a:cs typeface="Arial" panose="020B0604020202020204" pitchFamily="34" charset="0"/>
              </a:rPr>
              <a:t>Селектор соседних элементов</a:t>
            </a:r>
            <a:endParaRPr lang="en-GB" sz="1400" dirty="0">
              <a:latin typeface="Arial" panose="020B0604020202020204" pitchFamily="34" charset="0"/>
              <a:cs typeface="Arial" panose="020B0604020202020204" pitchFamily="34" charset="0"/>
            </a:endParaRPr>
          </a:p>
          <a:p>
            <a:pPr lvl="2" algn="just">
              <a:lnSpc>
                <a:spcPct val="150000"/>
              </a:lnSpc>
            </a:pPr>
            <a:r>
              <a:rPr lang="en-GB" sz="1400" dirty="0">
                <a:latin typeface="Arial" panose="020B0604020202020204" pitchFamily="34" charset="0"/>
                <a:cs typeface="Arial" panose="020B0604020202020204" pitchFamily="34" charset="0"/>
              </a:rPr>
              <a:t>4. </a:t>
            </a:r>
            <a:r>
              <a:rPr lang="ru-RU" sz="1400" dirty="0">
                <a:latin typeface="Arial" panose="020B0604020202020204" pitchFamily="34" charset="0"/>
                <a:cs typeface="Arial" panose="020B0604020202020204" pitchFamily="34" charset="0"/>
              </a:rPr>
              <a:t>Общий селектор соседних элементов</a:t>
            </a:r>
            <a:endParaRPr lang="en-GB" sz="1400" dirty="0">
              <a:latin typeface="Arial" panose="020B0604020202020204" pitchFamily="34" charset="0"/>
              <a:cs typeface="Arial" panose="020B0604020202020204" pitchFamily="34" charset="0"/>
            </a:endParaRPr>
          </a:p>
          <a:p>
            <a:endParaRPr lang="en-RU" dirty="0"/>
          </a:p>
        </p:txBody>
      </p:sp>
    </p:spTree>
    <p:extLst>
      <p:ext uri="{BB962C8B-B14F-4D97-AF65-F5344CB8AC3E}">
        <p14:creationId xmlns:p14="http://schemas.microsoft.com/office/powerpoint/2010/main" val="153626853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потомков</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r>
              <a:rPr lang="ru-RU" sz="1400" dirty="0">
                <a:latin typeface="Arial" panose="020B0604020202020204" pitchFamily="34" charset="0"/>
                <a:cs typeface="Arial" panose="020B0604020202020204" pitchFamily="34" charset="0"/>
              </a:rPr>
              <a:t>Селектор потомков (</a:t>
            </a:r>
            <a:r>
              <a:rPr lang="en-GB" sz="1400" dirty="0">
                <a:latin typeface="Arial" panose="020B0604020202020204" pitchFamily="34" charset="0"/>
                <a:cs typeface="Arial" panose="020B0604020202020204" pitchFamily="34" charset="0"/>
              </a:rPr>
              <a:t>Descendant selector): selector1 selector2</a:t>
            </a:r>
            <a:r>
              <a:rPr lang="ru-RU" sz="1400" dirty="0">
                <a:latin typeface="Arial" panose="020B0604020202020204" pitchFamily="34" charset="0"/>
                <a:cs typeface="Arial" panose="020B0604020202020204" pitchFamily="34" charset="0"/>
              </a:rPr>
              <a:t>. Выбирает все элементы, соответствующие </a:t>
            </a:r>
            <a:r>
              <a:rPr lang="en-GB" sz="1400" dirty="0">
                <a:latin typeface="Arial" panose="020B0604020202020204" pitchFamily="34" charset="0"/>
                <a:cs typeface="Arial" panose="020B0604020202020204" pitchFamily="34" charset="0"/>
              </a:rPr>
              <a:t>selector2, </a:t>
            </a:r>
            <a:r>
              <a:rPr lang="ru-RU" sz="1400" dirty="0">
                <a:latin typeface="Arial" panose="020B0604020202020204" pitchFamily="34" charset="0"/>
                <a:cs typeface="Arial" panose="020B0604020202020204" pitchFamily="34" charset="0"/>
              </a:rPr>
              <a:t>которые являются потомками (детьми, внуками, правнуками и т.д.) элемента, соответствующего </a:t>
            </a:r>
            <a:r>
              <a:rPr lang="en-GB" sz="1400" dirty="0">
                <a:latin typeface="Arial" panose="020B0604020202020204" pitchFamily="34" charset="0"/>
                <a:cs typeface="Arial" panose="020B0604020202020204" pitchFamily="34" charset="0"/>
              </a:rPr>
              <a:t>selector1.</a:t>
            </a:r>
          </a:p>
          <a:p>
            <a:pPr algn="just">
              <a:lnSpc>
                <a:spcPct val="150000"/>
              </a:lnSpc>
            </a:pPr>
            <a:r>
              <a:rPr lang="ru-RU" sz="1400" dirty="0">
                <a:latin typeface="Arial" panose="020B0604020202020204" pitchFamily="34" charset="0"/>
                <a:cs typeface="Arial" panose="020B0604020202020204" pitchFamily="34" charset="0"/>
              </a:rPr>
              <a:t>Синтаксис: </a:t>
            </a:r>
            <a:r>
              <a:rPr lang="en-GB" sz="1400" dirty="0">
                <a:latin typeface="Arial" panose="020B0604020202020204" pitchFamily="34" charset="0"/>
                <a:cs typeface="Arial" panose="020B0604020202020204" pitchFamily="34" charset="0"/>
              </a:rPr>
              <a:t>selector1 </a:t>
            </a:r>
            <a:r>
              <a:rPr lang="ru-RU" sz="1400" dirty="0">
                <a:latin typeface="Arial" panose="020B0604020202020204" pitchFamily="34" charset="0"/>
                <a:cs typeface="Arial" panose="020B0604020202020204" pitchFamily="34" charset="0"/>
              </a:rPr>
              <a:t>пробел </a:t>
            </a:r>
            <a:r>
              <a:rPr lang="en-GB" sz="1400" dirty="0">
                <a:latin typeface="Arial" panose="020B0604020202020204" pitchFamily="34" charset="0"/>
                <a:cs typeface="Arial" panose="020B0604020202020204" pitchFamily="34" charset="0"/>
              </a:rPr>
              <a:t>selector2</a:t>
            </a:r>
            <a:r>
              <a:rPr lang="ru-RU" sz="1400" dirty="0">
                <a:latin typeface="Arial" panose="020B0604020202020204" pitchFamily="34" charset="0"/>
                <a:cs typeface="Arial" panose="020B0604020202020204" pitchFamily="34" charset="0"/>
              </a:rPr>
              <a:t>.</a:t>
            </a:r>
            <a:endParaRPr lang="en-GB"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7081596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потомков</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endParaRPr lang="en-GB" sz="1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5087B9DE-7E73-C248-B942-DE5F3A81F4BA}"/>
              </a:ext>
            </a:extLst>
          </p:cNvPr>
          <p:cNvPicPr>
            <a:picLocks noChangeAspect="1"/>
          </p:cNvPicPr>
          <p:nvPr/>
        </p:nvPicPr>
        <p:blipFill>
          <a:blip r:embed="rId2"/>
          <a:stretch>
            <a:fillRect/>
          </a:stretch>
        </p:blipFill>
        <p:spPr>
          <a:xfrm>
            <a:off x="2498275" y="4207570"/>
            <a:ext cx="7195450" cy="2421326"/>
          </a:xfrm>
          <a:prstGeom prst="rect">
            <a:avLst/>
          </a:prstGeom>
        </p:spPr>
      </p:pic>
      <p:pic>
        <p:nvPicPr>
          <p:cNvPr id="6" name="Picture 5">
            <a:extLst>
              <a:ext uri="{FF2B5EF4-FFF2-40B4-BE49-F238E27FC236}">
                <a16:creationId xmlns:a16="http://schemas.microsoft.com/office/drawing/2014/main" id="{06D800EE-770D-5C41-8815-71B9E6EF9FC6}"/>
              </a:ext>
            </a:extLst>
          </p:cNvPr>
          <p:cNvPicPr>
            <a:picLocks noChangeAspect="1"/>
          </p:cNvPicPr>
          <p:nvPr/>
        </p:nvPicPr>
        <p:blipFill>
          <a:blip r:embed="rId3"/>
          <a:stretch>
            <a:fillRect/>
          </a:stretch>
        </p:blipFill>
        <p:spPr>
          <a:xfrm>
            <a:off x="2513675" y="2347988"/>
            <a:ext cx="7156450" cy="1725512"/>
          </a:xfrm>
          <a:prstGeom prst="rect">
            <a:avLst/>
          </a:prstGeom>
        </p:spPr>
      </p:pic>
    </p:spTree>
    <p:extLst>
      <p:ext uri="{BB962C8B-B14F-4D97-AF65-F5344CB8AC3E}">
        <p14:creationId xmlns:p14="http://schemas.microsoft.com/office/powerpoint/2010/main" val="112950497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дочерних элементов</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r>
              <a:rPr lang="ru-RU" sz="1400" dirty="0">
                <a:latin typeface="Arial" panose="020B0604020202020204" pitchFamily="34" charset="0"/>
                <a:cs typeface="Arial" panose="020B0604020202020204" pitchFamily="34" charset="0"/>
              </a:rPr>
              <a:t>Выбирает все элементы, соответствующие </a:t>
            </a:r>
            <a:r>
              <a:rPr lang="en-GB" sz="1400" dirty="0">
                <a:latin typeface="Arial" panose="020B0604020202020204" pitchFamily="34" charset="0"/>
                <a:cs typeface="Arial" panose="020B0604020202020204" pitchFamily="34" charset="0"/>
              </a:rPr>
              <a:t>selector2, </a:t>
            </a:r>
            <a:r>
              <a:rPr lang="ru-RU" sz="1400" dirty="0">
                <a:latin typeface="Arial" panose="020B0604020202020204" pitchFamily="34" charset="0"/>
                <a:cs typeface="Arial" panose="020B0604020202020204" pitchFamily="34" charset="0"/>
              </a:rPr>
              <a:t>которые являются непосредственными дочерними элементами (детьми) элемента, соответствующего </a:t>
            </a:r>
            <a:r>
              <a:rPr lang="en-GB" sz="1400" dirty="0">
                <a:latin typeface="Arial" panose="020B0604020202020204" pitchFamily="34" charset="0"/>
                <a:cs typeface="Arial" panose="020B0604020202020204" pitchFamily="34" charset="0"/>
              </a:rPr>
              <a:t>selector1.</a:t>
            </a:r>
          </a:p>
          <a:p>
            <a:pPr algn="just">
              <a:lnSpc>
                <a:spcPct val="150000"/>
              </a:lnSpc>
            </a:pPr>
            <a:r>
              <a:rPr lang="ru-RU" sz="1400" dirty="0">
                <a:latin typeface="Arial" panose="020B0604020202020204" pitchFamily="34" charset="0"/>
                <a:cs typeface="Arial" panose="020B0604020202020204" pitchFamily="34" charset="0"/>
              </a:rPr>
              <a:t>Синтаксис: </a:t>
            </a:r>
            <a:r>
              <a:rPr lang="en-GB" sz="1400" dirty="0">
                <a:latin typeface="Arial" panose="020B0604020202020204" pitchFamily="34" charset="0"/>
                <a:cs typeface="Arial" panose="020B0604020202020204" pitchFamily="34" charset="0"/>
              </a:rPr>
              <a:t>selector1 &gt; selector2</a:t>
            </a:r>
          </a:p>
          <a:p>
            <a:pPr algn="just">
              <a:lnSpc>
                <a:spcPct val="150000"/>
              </a:lnSpc>
            </a:pPr>
            <a:endParaRPr lang="en-GB"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3699537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дочерних элементов</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endParaRPr lang="en-GB" sz="1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B9B2678B-5C2B-6741-9D38-7F1AC43E98C7}"/>
              </a:ext>
            </a:extLst>
          </p:cNvPr>
          <p:cNvPicPr>
            <a:picLocks noChangeAspect="1"/>
          </p:cNvPicPr>
          <p:nvPr/>
        </p:nvPicPr>
        <p:blipFill>
          <a:blip r:embed="rId2"/>
          <a:stretch>
            <a:fillRect/>
          </a:stretch>
        </p:blipFill>
        <p:spPr>
          <a:xfrm>
            <a:off x="2283222" y="2354801"/>
            <a:ext cx="7603532" cy="1226629"/>
          </a:xfrm>
          <a:prstGeom prst="rect">
            <a:avLst/>
          </a:prstGeom>
        </p:spPr>
      </p:pic>
      <p:pic>
        <p:nvPicPr>
          <p:cNvPr id="8" name="Picture 7">
            <a:extLst>
              <a:ext uri="{FF2B5EF4-FFF2-40B4-BE49-F238E27FC236}">
                <a16:creationId xmlns:a16="http://schemas.microsoft.com/office/drawing/2014/main" id="{30932798-538B-4741-A087-7E3A32189792}"/>
              </a:ext>
            </a:extLst>
          </p:cNvPr>
          <p:cNvPicPr>
            <a:picLocks noChangeAspect="1"/>
          </p:cNvPicPr>
          <p:nvPr/>
        </p:nvPicPr>
        <p:blipFill>
          <a:blip r:embed="rId3"/>
          <a:stretch>
            <a:fillRect/>
          </a:stretch>
        </p:blipFill>
        <p:spPr>
          <a:xfrm>
            <a:off x="2231136" y="3969847"/>
            <a:ext cx="7707704" cy="2288562"/>
          </a:xfrm>
          <a:prstGeom prst="rect">
            <a:avLst/>
          </a:prstGeom>
        </p:spPr>
      </p:pic>
    </p:spTree>
    <p:extLst>
      <p:ext uri="{BB962C8B-B14F-4D97-AF65-F5344CB8AC3E}">
        <p14:creationId xmlns:p14="http://schemas.microsoft.com/office/powerpoint/2010/main" val="76886422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Селектор соседних элементов</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endParaRPr lang="en-GB" sz="14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C5E714D9-4369-B842-BC9F-65491E1DEFFF}"/>
              </a:ext>
            </a:extLst>
          </p:cNvPr>
          <p:cNvPicPr>
            <a:picLocks noChangeAspect="1"/>
          </p:cNvPicPr>
          <p:nvPr/>
        </p:nvPicPr>
        <p:blipFill>
          <a:blip r:embed="rId2"/>
          <a:stretch>
            <a:fillRect/>
          </a:stretch>
        </p:blipFill>
        <p:spPr>
          <a:xfrm>
            <a:off x="2286835" y="4371886"/>
            <a:ext cx="7529093" cy="2325161"/>
          </a:xfrm>
          <a:prstGeom prst="rect">
            <a:avLst/>
          </a:prstGeom>
        </p:spPr>
      </p:pic>
      <p:pic>
        <p:nvPicPr>
          <p:cNvPr id="9" name="Picture 8">
            <a:extLst>
              <a:ext uri="{FF2B5EF4-FFF2-40B4-BE49-F238E27FC236}">
                <a16:creationId xmlns:a16="http://schemas.microsoft.com/office/drawing/2014/main" id="{E26FEF73-8872-2247-AB16-BFAE0624D542}"/>
              </a:ext>
            </a:extLst>
          </p:cNvPr>
          <p:cNvPicPr>
            <a:picLocks noChangeAspect="1"/>
          </p:cNvPicPr>
          <p:nvPr/>
        </p:nvPicPr>
        <p:blipFill>
          <a:blip r:embed="rId3"/>
          <a:stretch>
            <a:fillRect/>
          </a:stretch>
        </p:blipFill>
        <p:spPr>
          <a:xfrm>
            <a:off x="2376071" y="2364254"/>
            <a:ext cx="7439857" cy="1819150"/>
          </a:xfrm>
          <a:prstGeom prst="rect">
            <a:avLst/>
          </a:prstGeom>
        </p:spPr>
      </p:pic>
    </p:spTree>
    <p:extLst>
      <p:ext uri="{BB962C8B-B14F-4D97-AF65-F5344CB8AC3E}">
        <p14:creationId xmlns:p14="http://schemas.microsoft.com/office/powerpoint/2010/main" val="3033112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Общий селектор соседних элементов</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endParaRPr lang="en-GB" sz="1400" dirty="0">
              <a:latin typeface="Arial" panose="020B0604020202020204" pitchFamily="34" charset="0"/>
              <a:cs typeface="Arial" panose="020B0604020202020204" pitchFamily="34" charset="0"/>
            </a:endParaRPr>
          </a:p>
        </p:txBody>
      </p:sp>
      <p:pic>
        <p:nvPicPr>
          <p:cNvPr id="7" name="Picture 6">
            <a:extLst>
              <a:ext uri="{FF2B5EF4-FFF2-40B4-BE49-F238E27FC236}">
                <a16:creationId xmlns:a16="http://schemas.microsoft.com/office/drawing/2014/main" id="{51DEB942-BAE7-0147-8527-06E3FED6FDDF}"/>
              </a:ext>
            </a:extLst>
          </p:cNvPr>
          <p:cNvPicPr>
            <a:picLocks noChangeAspect="1"/>
          </p:cNvPicPr>
          <p:nvPr/>
        </p:nvPicPr>
        <p:blipFill>
          <a:blip r:embed="rId2"/>
          <a:stretch>
            <a:fillRect/>
          </a:stretch>
        </p:blipFill>
        <p:spPr>
          <a:xfrm>
            <a:off x="3667507" y="3899315"/>
            <a:ext cx="4673600" cy="2463800"/>
          </a:xfrm>
          <a:prstGeom prst="rect">
            <a:avLst/>
          </a:prstGeom>
        </p:spPr>
      </p:pic>
      <p:pic>
        <p:nvPicPr>
          <p:cNvPr id="8" name="Picture 7">
            <a:extLst>
              <a:ext uri="{FF2B5EF4-FFF2-40B4-BE49-F238E27FC236}">
                <a16:creationId xmlns:a16="http://schemas.microsoft.com/office/drawing/2014/main" id="{51165B95-4FF3-7845-A845-72103C3DB9F7}"/>
              </a:ext>
            </a:extLst>
          </p:cNvPr>
          <p:cNvPicPr>
            <a:picLocks noChangeAspect="1"/>
          </p:cNvPicPr>
          <p:nvPr/>
        </p:nvPicPr>
        <p:blipFill>
          <a:blip r:embed="rId3"/>
          <a:stretch>
            <a:fillRect/>
          </a:stretch>
        </p:blipFill>
        <p:spPr>
          <a:xfrm>
            <a:off x="2333840" y="2349850"/>
            <a:ext cx="7524320" cy="1329325"/>
          </a:xfrm>
          <a:prstGeom prst="rect">
            <a:avLst/>
          </a:prstGeom>
        </p:spPr>
      </p:pic>
    </p:spTree>
    <p:extLst>
      <p:ext uri="{BB962C8B-B14F-4D97-AF65-F5344CB8AC3E}">
        <p14:creationId xmlns:p14="http://schemas.microsoft.com/office/powerpoint/2010/main" val="158968626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Наследование и специфичность</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r>
              <a:rPr lang="ru-RU" sz="1400" b="1" dirty="0">
                <a:latin typeface="Arial" panose="020B0604020202020204" pitchFamily="34" charset="0"/>
                <a:cs typeface="Arial" panose="020B0604020202020204" pitchFamily="34" charset="0"/>
              </a:rPr>
              <a:t>	Каскад</a:t>
            </a:r>
            <a:r>
              <a:rPr lang="ru-RU" sz="1400" dirty="0">
                <a:latin typeface="Arial" panose="020B0604020202020204" pitchFamily="34" charset="0"/>
                <a:cs typeface="Arial" panose="020B0604020202020204" pitchFamily="34" charset="0"/>
              </a:rPr>
              <a:t> и тесно связанная концепция </a:t>
            </a:r>
            <a:r>
              <a:rPr lang="ru-RU" sz="1400" b="1" dirty="0">
                <a:latin typeface="Arial" panose="020B0604020202020204" pitchFamily="34" charset="0"/>
                <a:cs typeface="Arial" panose="020B0604020202020204" pitchFamily="34" charset="0"/>
              </a:rPr>
              <a:t>специфичности</a:t>
            </a:r>
            <a:r>
              <a:rPr lang="ru-RU" sz="1400" dirty="0">
                <a:latin typeface="Arial" panose="020B0604020202020204" pitchFamily="34" charset="0"/>
                <a:cs typeface="Arial" panose="020B0604020202020204" pitchFamily="34" charset="0"/>
              </a:rPr>
              <a:t> — это механизмы, которые контролируют, какое именно правило применяется, когда имеется конфликт. Стиль вашего элемента может определять не то правило, на которое вы рассчитывали, поэтому вам необходимо понимать, как работают эти механизмы.</a:t>
            </a:r>
          </a:p>
          <a:p>
            <a:pPr algn="just">
              <a:lnSpc>
                <a:spcPct val="150000"/>
              </a:lnSpc>
            </a:pPr>
            <a:r>
              <a:rPr lang="ru-RU" sz="1400" dirty="0"/>
              <a:t>	</a:t>
            </a:r>
            <a:r>
              <a:rPr lang="ru-RU" sz="1400" dirty="0">
                <a:latin typeface="Arial" panose="020B0604020202020204" pitchFamily="34" charset="0"/>
                <a:cs typeface="Arial" panose="020B0604020202020204" pitchFamily="34" charset="0"/>
              </a:rPr>
              <a:t>Также значимой является концепция наследования, которая заключается в том, что некоторые свойства </a:t>
            </a:r>
            <a:r>
              <a:rPr lang="en-GB" sz="1400" dirty="0">
                <a:latin typeface="Arial" panose="020B0604020202020204" pitchFamily="34" charset="0"/>
                <a:cs typeface="Arial" panose="020B0604020202020204" pitchFamily="34" charset="0"/>
              </a:rPr>
              <a:t>CSS </a:t>
            </a:r>
            <a:r>
              <a:rPr lang="ru-RU" sz="1400" dirty="0">
                <a:latin typeface="Arial" panose="020B0604020202020204" pitchFamily="34" charset="0"/>
                <a:cs typeface="Arial" panose="020B0604020202020204" pitchFamily="34" charset="0"/>
              </a:rPr>
              <a:t>наследуют по умолчанию значения, установленные для родительского элемента текущего элемента, а некоторые не наследуют. Это также может стать причиной поведения, которое вы, возможно, не ожидаете.</a:t>
            </a:r>
            <a:endParaRPr lang="en-GB" sz="1400" dirty="0">
              <a:latin typeface="Arial" panose="020B0604020202020204" pitchFamily="34" charset="0"/>
              <a:cs typeface="Arial" panose="020B0604020202020204" pitchFamily="34" charset="0"/>
            </a:endParaRPr>
          </a:p>
          <a:p>
            <a:pPr algn="just">
              <a:lnSpc>
                <a:spcPct val="150000"/>
              </a:lnSpc>
            </a:pPr>
            <a:endParaRPr lang="en-GB"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308193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специфичность</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a:bodyPr>
          <a:lstStyle/>
          <a:p>
            <a:pPr algn="just">
              <a:lnSpc>
                <a:spcPct val="150000"/>
              </a:lnSpc>
            </a:pPr>
            <a:endParaRPr lang="en-GB" sz="1400" dirty="0">
              <a:latin typeface="Arial" panose="020B0604020202020204" pitchFamily="34" charset="0"/>
              <a:cs typeface="Arial" panose="020B0604020202020204" pitchFamily="34" charset="0"/>
            </a:endParaRPr>
          </a:p>
        </p:txBody>
      </p:sp>
      <p:pic>
        <p:nvPicPr>
          <p:cNvPr id="5" name="Picture 4">
            <a:extLst>
              <a:ext uri="{FF2B5EF4-FFF2-40B4-BE49-F238E27FC236}">
                <a16:creationId xmlns:a16="http://schemas.microsoft.com/office/drawing/2014/main" id="{A3848CDC-5DC5-9544-9B94-9F717884552B}"/>
              </a:ext>
            </a:extLst>
          </p:cNvPr>
          <p:cNvPicPr>
            <a:picLocks noChangeAspect="1"/>
          </p:cNvPicPr>
          <p:nvPr/>
        </p:nvPicPr>
        <p:blipFill>
          <a:blip r:embed="rId2"/>
          <a:stretch>
            <a:fillRect/>
          </a:stretch>
        </p:blipFill>
        <p:spPr>
          <a:xfrm>
            <a:off x="4777210" y="6178886"/>
            <a:ext cx="2555770" cy="632356"/>
          </a:xfrm>
          <a:prstGeom prst="rect">
            <a:avLst/>
          </a:prstGeom>
          <a:ln>
            <a:solidFill>
              <a:schemeClr val="tx1"/>
            </a:solidFill>
          </a:ln>
        </p:spPr>
      </p:pic>
      <p:pic>
        <p:nvPicPr>
          <p:cNvPr id="6" name="Picture 5">
            <a:extLst>
              <a:ext uri="{FF2B5EF4-FFF2-40B4-BE49-F238E27FC236}">
                <a16:creationId xmlns:a16="http://schemas.microsoft.com/office/drawing/2014/main" id="{FC3A70E9-0577-7843-8C5E-73E955E362D2}"/>
              </a:ext>
            </a:extLst>
          </p:cNvPr>
          <p:cNvPicPr>
            <a:picLocks noChangeAspect="1"/>
          </p:cNvPicPr>
          <p:nvPr/>
        </p:nvPicPr>
        <p:blipFill>
          <a:blip r:embed="rId3"/>
          <a:stretch>
            <a:fillRect/>
          </a:stretch>
        </p:blipFill>
        <p:spPr>
          <a:xfrm>
            <a:off x="4933950" y="3465419"/>
            <a:ext cx="2324100" cy="2692400"/>
          </a:xfrm>
          <a:prstGeom prst="rect">
            <a:avLst/>
          </a:prstGeom>
        </p:spPr>
      </p:pic>
      <p:pic>
        <p:nvPicPr>
          <p:cNvPr id="7" name="Picture 6">
            <a:extLst>
              <a:ext uri="{FF2B5EF4-FFF2-40B4-BE49-F238E27FC236}">
                <a16:creationId xmlns:a16="http://schemas.microsoft.com/office/drawing/2014/main" id="{A2D95157-0464-AE41-83D4-93BEC8A32F33}"/>
              </a:ext>
            </a:extLst>
          </p:cNvPr>
          <p:cNvPicPr>
            <a:picLocks noChangeAspect="1"/>
          </p:cNvPicPr>
          <p:nvPr/>
        </p:nvPicPr>
        <p:blipFill>
          <a:blip r:embed="rId4"/>
          <a:stretch>
            <a:fillRect/>
          </a:stretch>
        </p:blipFill>
        <p:spPr>
          <a:xfrm>
            <a:off x="3168650" y="2153412"/>
            <a:ext cx="5854700" cy="1346200"/>
          </a:xfrm>
          <a:prstGeom prst="rect">
            <a:avLst/>
          </a:prstGeom>
        </p:spPr>
      </p:pic>
    </p:spTree>
    <p:extLst>
      <p:ext uri="{BB962C8B-B14F-4D97-AF65-F5344CB8AC3E}">
        <p14:creationId xmlns:p14="http://schemas.microsoft.com/office/powerpoint/2010/main" val="285844858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Наследование</a:t>
            </a:r>
            <a:endParaRPr lang="en-RU" dirty="0"/>
          </a:p>
        </p:txBody>
      </p:sp>
      <p:sp>
        <p:nvSpPr>
          <p:cNvPr id="4" name="Content Placeholder 3">
            <a:extLst>
              <a:ext uri="{FF2B5EF4-FFF2-40B4-BE49-F238E27FC236}">
                <a16:creationId xmlns:a16="http://schemas.microsoft.com/office/drawing/2014/main" id="{173ABDA8-8DB6-AA4D-A4E9-5AFDF703CE0C}"/>
              </a:ext>
            </a:extLst>
          </p:cNvPr>
          <p:cNvSpPr>
            <a:spLocks noGrp="1"/>
          </p:cNvSpPr>
          <p:nvPr>
            <p:ph idx="1"/>
          </p:nvPr>
        </p:nvSpPr>
        <p:spPr/>
        <p:txBody>
          <a:bodyPr>
            <a:normAutofit lnSpcReduction="10000"/>
          </a:bodyPr>
          <a:lstStyle/>
          <a:p>
            <a:pPr algn="just">
              <a:lnSpc>
                <a:spcPct val="150000"/>
              </a:lnSpc>
            </a:pPr>
            <a:r>
              <a:rPr lang="ru-RU" sz="1400" dirty="0">
                <a:latin typeface="Arial" panose="020B0604020202020204" pitchFamily="34" charset="0"/>
                <a:cs typeface="Arial" panose="020B0604020202020204" pitchFamily="34" charset="0"/>
              </a:rPr>
              <a:t>Наследование в этом контексте означает то, что некоторые значения свойства </a:t>
            </a:r>
            <a:r>
              <a:rPr lang="en-GB" sz="1400" dirty="0">
                <a:latin typeface="Arial" panose="020B0604020202020204" pitchFamily="34" charset="0"/>
                <a:cs typeface="Arial" panose="020B0604020202020204" pitchFamily="34" charset="0"/>
              </a:rPr>
              <a:t>CSS, </a:t>
            </a:r>
            <a:r>
              <a:rPr lang="ru-RU" sz="1400" dirty="0">
                <a:latin typeface="Arial" panose="020B0604020202020204" pitchFamily="34" charset="0"/>
                <a:cs typeface="Arial" panose="020B0604020202020204" pitchFamily="34" charset="0"/>
              </a:rPr>
              <a:t>установленные для родительских элементов наследуются их дочерними элементами, а некоторые нет.</a:t>
            </a:r>
          </a:p>
          <a:p>
            <a:pPr algn="just">
              <a:lnSpc>
                <a:spcPct val="150000"/>
              </a:lnSpc>
            </a:pPr>
            <a:r>
              <a:rPr lang="ru-RU" sz="1400" dirty="0"/>
              <a:t>Например, если вы установили значение </a:t>
            </a:r>
            <a:r>
              <a:rPr lang="en-GB" sz="1400" dirty="0" err="1"/>
              <a:t>color</a:t>
            </a:r>
            <a:r>
              <a:rPr lang="en-GB" sz="1400" dirty="0"/>
              <a:t> </a:t>
            </a:r>
            <a:r>
              <a:rPr lang="ru-RU" sz="1400" dirty="0"/>
              <a:t>и </a:t>
            </a:r>
            <a:r>
              <a:rPr lang="en-GB" sz="1400" dirty="0"/>
              <a:t>font-family </a:t>
            </a:r>
            <a:r>
              <a:rPr lang="ru-RU" sz="1400" dirty="0"/>
              <a:t>для элемента, то каждый элемент внутри него также будет иметь этот цвет и шрифт, если только вы не применили к ним напрямую стиль с другим цветом и шрифтом.</a:t>
            </a:r>
          </a:p>
          <a:p>
            <a:pPr algn="just">
              <a:lnSpc>
                <a:spcPct val="150000"/>
              </a:lnSpc>
            </a:pPr>
            <a:r>
              <a:rPr lang="ru-RU" sz="1400" dirty="0"/>
              <a:t>Некоторые свойства не наследуются — например, если вы установили для элемента </a:t>
            </a:r>
            <a:r>
              <a:rPr lang="en-GB" sz="1400" dirty="0"/>
              <a:t>width </a:t>
            </a:r>
            <a:r>
              <a:rPr lang="ru-RU" sz="1400" dirty="0"/>
              <a:t>равным 50%, все его дочерние элементы не получат ширину в 50% от ширины своего родительского элемента. </a:t>
            </a:r>
            <a:endParaRPr lang="en-GB" sz="1400" dirty="0">
              <a:latin typeface="Arial" panose="020B0604020202020204" pitchFamily="34" charset="0"/>
              <a:cs typeface="Arial" panose="020B0604020202020204" pitchFamily="34" charset="0"/>
            </a:endParaRPr>
          </a:p>
          <a:p>
            <a:pPr algn="just">
              <a:lnSpc>
                <a:spcPct val="150000"/>
              </a:lnSpc>
            </a:pPr>
            <a:endParaRPr lang="en-GB" sz="1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104751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Значения </a:t>
            </a:r>
            <a:r>
              <a:rPr lang="en-GB" dirty="0"/>
              <a:t>CSS </a:t>
            </a:r>
            <a:r>
              <a:rPr lang="ru-RU" dirty="0"/>
              <a:t>свойств</a:t>
            </a:r>
            <a:endParaRPr lang="en-RU" dirty="0"/>
          </a:p>
        </p:txBody>
      </p:sp>
      <p:graphicFrame>
        <p:nvGraphicFramePr>
          <p:cNvPr id="3" name="Content Placeholder 2">
            <a:extLst>
              <a:ext uri="{FF2B5EF4-FFF2-40B4-BE49-F238E27FC236}">
                <a16:creationId xmlns:a16="http://schemas.microsoft.com/office/drawing/2014/main" id="{37471DF8-BD9C-DC45-8ACA-DFD07DD6C2AE}"/>
              </a:ext>
            </a:extLst>
          </p:cNvPr>
          <p:cNvGraphicFramePr>
            <a:graphicFrameLocks noGrp="1"/>
          </p:cNvGraphicFramePr>
          <p:nvPr>
            <p:ph idx="1"/>
            <p:extLst>
              <p:ext uri="{D42A27DB-BD31-4B8C-83A1-F6EECF244321}">
                <p14:modId xmlns:p14="http://schemas.microsoft.com/office/powerpoint/2010/main" val="1453540853"/>
              </p:ext>
            </p:extLst>
          </p:nvPr>
        </p:nvGraphicFramePr>
        <p:xfrm>
          <a:off x="406400" y="2343785"/>
          <a:ext cx="11206480" cy="4354143"/>
        </p:xfrm>
        <a:graphic>
          <a:graphicData uri="http://schemas.openxmlformats.org/drawingml/2006/table">
            <a:tbl>
              <a:tblPr/>
              <a:tblGrid>
                <a:gridCol w="1997432">
                  <a:extLst>
                    <a:ext uri="{9D8B030D-6E8A-4147-A177-3AD203B41FA5}">
                      <a16:colId xmlns:a16="http://schemas.microsoft.com/office/drawing/2014/main" val="186203670"/>
                    </a:ext>
                  </a:extLst>
                </a:gridCol>
                <a:gridCol w="9209048">
                  <a:extLst>
                    <a:ext uri="{9D8B030D-6E8A-4147-A177-3AD203B41FA5}">
                      <a16:colId xmlns:a16="http://schemas.microsoft.com/office/drawing/2014/main" val="2435415449"/>
                    </a:ext>
                  </a:extLst>
                </a:gridCol>
              </a:tblGrid>
              <a:tr h="280709">
                <a:tc>
                  <a:txBody>
                    <a:bodyPr/>
                    <a:lstStyle/>
                    <a:p>
                      <a:r>
                        <a:rPr lang="ru-RU" sz="1400">
                          <a:latin typeface="Arial" panose="020B0604020202020204" pitchFamily="34" charset="0"/>
                          <a:cs typeface="Arial" panose="020B0604020202020204" pitchFamily="34" charset="0"/>
                        </a:rPr>
                        <a:t>Тип данных</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400">
                          <a:latin typeface="Arial" panose="020B0604020202020204" pitchFamily="34" charset="0"/>
                          <a:cs typeface="Arial" panose="020B0604020202020204" pitchFamily="34" charset="0"/>
                        </a:rPr>
                        <a:t>Описание</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5131258"/>
                  </a:ext>
                </a:extLst>
              </a:tr>
              <a:tr h="491266">
                <a:tc>
                  <a:txBody>
                    <a:bodyPr/>
                    <a:lstStyle/>
                    <a:p>
                      <a:r>
                        <a:rPr lang="en-GB" sz="1400" dirty="0">
                          <a:latin typeface="Arial" panose="020B0604020202020204" pitchFamily="34" charset="0"/>
                          <a:cs typeface="Arial" panose="020B0604020202020204" pitchFamily="34" charset="0"/>
                        </a:rPr>
                        <a:t>&lt;integer&gt;</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Arial" panose="020B0604020202020204" pitchFamily="34" charset="0"/>
                          <a:cs typeface="Arial" panose="020B0604020202020204" pitchFamily="34" charset="0"/>
                        </a:rPr>
                        <a:t>&lt;integer&gt; (</a:t>
                      </a:r>
                      <a:r>
                        <a:rPr lang="ru-RU" sz="1400">
                          <a:latin typeface="Arial" panose="020B0604020202020204" pitchFamily="34" charset="0"/>
                          <a:cs typeface="Arial" panose="020B0604020202020204" pitchFamily="34" charset="0"/>
                        </a:rPr>
                        <a:t>целое число) — целое число такое как 1024 или -55.</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0842195"/>
                  </a:ext>
                </a:extLst>
              </a:tr>
              <a:tr h="912379">
                <a:tc>
                  <a:txBody>
                    <a:bodyPr/>
                    <a:lstStyle/>
                    <a:p>
                      <a:r>
                        <a:rPr lang="en-GB" sz="1400" dirty="0">
                          <a:latin typeface="Arial" panose="020B0604020202020204" pitchFamily="34" charset="0"/>
                          <a:cs typeface="Arial" panose="020B0604020202020204" pitchFamily="34" charset="0"/>
                        </a:rPr>
                        <a:t>&lt;number&gt;</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a:latin typeface="Arial" panose="020B0604020202020204" pitchFamily="34" charset="0"/>
                          <a:cs typeface="Arial" panose="020B0604020202020204" pitchFamily="34" charset="0"/>
                        </a:rPr>
                        <a:t>&lt;number&gt; (</a:t>
                      </a:r>
                      <a:r>
                        <a:rPr lang="ru-RU" sz="1400">
                          <a:latin typeface="Arial" panose="020B0604020202020204" pitchFamily="34" charset="0"/>
                          <a:cs typeface="Arial" panose="020B0604020202020204" pitchFamily="34" charset="0"/>
                        </a:rPr>
                        <a:t>число) представляет десятичное число — оно может иметь, а может и не иметь десятичную точку с факториальным компонентом, например 0.255, 128, или -1.2.</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69781156"/>
                  </a:ext>
                </a:extLst>
              </a:tr>
              <a:tr h="1333492">
                <a:tc>
                  <a:txBody>
                    <a:bodyPr/>
                    <a:lstStyle/>
                    <a:p>
                      <a:r>
                        <a:rPr lang="en-GB" sz="1400">
                          <a:latin typeface="Arial" panose="020B0604020202020204" pitchFamily="34" charset="0"/>
                          <a:cs typeface="Arial" panose="020B0604020202020204" pitchFamily="34" charset="0"/>
                        </a:rPr>
                        <a:t>&lt;dimension&gt;</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latin typeface="Arial" panose="020B0604020202020204" pitchFamily="34" charset="0"/>
                          <a:cs typeface="Arial" panose="020B0604020202020204" pitchFamily="34" charset="0"/>
                        </a:rPr>
                        <a:t>&lt;dimension&gt; (</a:t>
                      </a:r>
                      <a:r>
                        <a:rPr lang="ru-RU" sz="1400" dirty="0">
                          <a:latin typeface="Arial" panose="020B0604020202020204" pitchFamily="34" charset="0"/>
                          <a:cs typeface="Arial" panose="020B0604020202020204" pitchFamily="34" charset="0"/>
                        </a:rPr>
                        <a:t>измерение) это — &lt;</a:t>
                      </a:r>
                      <a:r>
                        <a:rPr lang="en-GB" sz="1400" dirty="0">
                          <a:latin typeface="Arial" panose="020B0604020202020204" pitchFamily="34" charset="0"/>
                          <a:cs typeface="Arial" panose="020B0604020202020204" pitchFamily="34" charset="0"/>
                        </a:rPr>
                        <a:t>number&gt; (</a:t>
                      </a:r>
                      <a:r>
                        <a:rPr lang="ru-RU" sz="1400" dirty="0">
                          <a:latin typeface="Arial" panose="020B0604020202020204" pitchFamily="34" charset="0"/>
                          <a:cs typeface="Arial" panose="020B0604020202020204" pitchFamily="34" charset="0"/>
                        </a:rPr>
                        <a:t>число) с единицей измерения, прикреплённой к нему, например 45</a:t>
                      </a:r>
                      <a:r>
                        <a:rPr lang="en-GB" sz="1400" dirty="0" err="1">
                          <a:latin typeface="Arial" panose="020B0604020202020204" pitchFamily="34" charset="0"/>
                          <a:cs typeface="Arial" panose="020B0604020202020204" pitchFamily="34" charset="0"/>
                        </a:rPr>
                        <a:t>deg</a:t>
                      </a:r>
                      <a:r>
                        <a:rPr lang="en-GB" sz="1400" dirty="0">
                          <a:latin typeface="Arial" panose="020B0604020202020204" pitchFamily="34" charset="0"/>
                          <a:cs typeface="Arial" panose="020B0604020202020204" pitchFamily="34" charset="0"/>
                        </a:rPr>
                        <a:t>, 5s, </a:t>
                      </a:r>
                      <a:r>
                        <a:rPr lang="ru-RU" sz="1400" dirty="0">
                          <a:latin typeface="Arial" panose="020B0604020202020204" pitchFamily="34" charset="0"/>
                          <a:cs typeface="Arial" panose="020B0604020202020204" pitchFamily="34" charset="0"/>
                        </a:rPr>
                        <a:t>или 10</a:t>
                      </a:r>
                      <a:r>
                        <a:rPr lang="en-GB" sz="1400" dirty="0">
                          <a:latin typeface="Arial" panose="020B0604020202020204" pitchFamily="34" charset="0"/>
                          <a:cs typeface="Arial" panose="020B0604020202020204" pitchFamily="34" charset="0"/>
                        </a:rPr>
                        <a:t>px. &lt;dimension&gt; — </a:t>
                      </a:r>
                      <a:r>
                        <a:rPr lang="ru-RU" sz="1400" dirty="0">
                          <a:latin typeface="Arial" panose="020B0604020202020204" pitchFamily="34" charset="0"/>
                          <a:cs typeface="Arial" panose="020B0604020202020204" pitchFamily="34" charset="0"/>
                        </a:rPr>
                        <a:t>это зонт категорий, включающих в себя типы &lt;</a:t>
                      </a:r>
                      <a:r>
                        <a:rPr lang="en-GB" sz="1400" dirty="0">
                          <a:latin typeface="Arial" panose="020B0604020202020204" pitchFamily="34" charset="0"/>
                          <a:cs typeface="Arial" panose="020B0604020202020204" pitchFamily="34" charset="0"/>
                        </a:rPr>
                        <a:t>length&gt;, &lt;angle&gt;, &lt;time&gt;, </a:t>
                      </a:r>
                      <a:r>
                        <a:rPr lang="ru-RU" sz="1400" dirty="0">
                          <a:latin typeface="Arial" panose="020B0604020202020204" pitchFamily="34" charset="0"/>
                          <a:cs typeface="Arial" panose="020B0604020202020204" pitchFamily="34" charset="0"/>
                        </a:rPr>
                        <a:t>и &lt;</a:t>
                      </a:r>
                      <a:r>
                        <a:rPr lang="en-GB" sz="1400" dirty="0">
                          <a:latin typeface="Arial" panose="020B0604020202020204" pitchFamily="34" charset="0"/>
                          <a:cs typeface="Arial" panose="020B0604020202020204" pitchFamily="34" charset="0"/>
                        </a:rPr>
                        <a:t>resolution&gt; (</a:t>
                      </a:r>
                      <a:r>
                        <a:rPr lang="ru-RU" sz="1400" dirty="0">
                          <a:latin typeface="Arial" panose="020B0604020202020204" pitchFamily="34" charset="0"/>
                          <a:cs typeface="Arial" panose="020B0604020202020204" pitchFamily="34" charset="0"/>
                        </a:rPr>
                        <a:t>длина, угол, время и разрешение).</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25108378"/>
                  </a:ext>
                </a:extLst>
              </a:tr>
              <a:tr h="1333492">
                <a:tc>
                  <a:txBody>
                    <a:bodyPr/>
                    <a:lstStyle/>
                    <a:p>
                      <a:r>
                        <a:rPr lang="en-GB" sz="1400" dirty="0">
                          <a:latin typeface="Arial" panose="020B0604020202020204" pitchFamily="34" charset="0"/>
                          <a:cs typeface="Arial" panose="020B0604020202020204" pitchFamily="34" charset="0"/>
                        </a:rPr>
                        <a:t>&lt;percentage&gt;</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400" dirty="0">
                          <a:latin typeface="Arial" panose="020B0604020202020204" pitchFamily="34" charset="0"/>
                          <a:cs typeface="Arial" panose="020B0604020202020204" pitchFamily="34" charset="0"/>
                        </a:rPr>
                        <a:t>&lt;percentage&gt; (</a:t>
                      </a:r>
                      <a:r>
                        <a:rPr lang="ru-RU" sz="1400" dirty="0">
                          <a:latin typeface="Arial" panose="020B0604020202020204" pitchFamily="34" charset="0"/>
                          <a:cs typeface="Arial" panose="020B0604020202020204" pitchFamily="34" charset="0"/>
                        </a:rPr>
                        <a:t>проценты) представляют собой долю некоторого другого значения, например 50%. Процентные значения всегда относительны по отношению к другому количеству, например длина элемента относительна к длине её родительского элемента.</a:t>
                      </a:r>
                    </a:p>
                  </a:txBody>
                  <a:tcPr marL="70153" marR="70153" marT="35077" marB="3507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8816247"/>
                  </a:ext>
                </a:extLst>
              </a:tr>
            </a:tbl>
          </a:graphicData>
        </a:graphic>
      </p:graphicFrame>
    </p:spTree>
    <p:extLst>
      <p:ext uri="{BB962C8B-B14F-4D97-AF65-F5344CB8AC3E}">
        <p14:creationId xmlns:p14="http://schemas.microsoft.com/office/powerpoint/2010/main" val="38064214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Абсолютные единицы длины</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p:txBody>
          <a:bodyPr/>
          <a:lstStyle/>
          <a:p>
            <a:endParaRPr lang="en-RU"/>
          </a:p>
        </p:txBody>
      </p:sp>
      <p:graphicFrame>
        <p:nvGraphicFramePr>
          <p:cNvPr id="6" name="Table 5">
            <a:extLst>
              <a:ext uri="{FF2B5EF4-FFF2-40B4-BE49-F238E27FC236}">
                <a16:creationId xmlns:a16="http://schemas.microsoft.com/office/drawing/2014/main" id="{ABB5D964-D70C-9B4F-91ED-3310D6650EC0}"/>
              </a:ext>
            </a:extLst>
          </p:cNvPr>
          <p:cNvGraphicFramePr>
            <a:graphicFrameLocks noGrp="1"/>
          </p:cNvGraphicFramePr>
          <p:nvPr>
            <p:extLst>
              <p:ext uri="{D42A27DB-BD31-4B8C-83A1-F6EECF244321}">
                <p14:modId xmlns:p14="http://schemas.microsoft.com/office/powerpoint/2010/main" val="1911634195"/>
              </p:ext>
            </p:extLst>
          </p:nvPr>
        </p:nvGraphicFramePr>
        <p:xfrm>
          <a:off x="2764385" y="2692908"/>
          <a:ext cx="6663229" cy="3200400"/>
        </p:xfrm>
        <a:graphic>
          <a:graphicData uri="http://schemas.openxmlformats.org/drawingml/2006/table">
            <a:tbl>
              <a:tblPr/>
              <a:tblGrid>
                <a:gridCol w="1202389">
                  <a:extLst>
                    <a:ext uri="{9D8B030D-6E8A-4147-A177-3AD203B41FA5}">
                      <a16:colId xmlns:a16="http://schemas.microsoft.com/office/drawing/2014/main" val="2488609772"/>
                    </a:ext>
                  </a:extLst>
                </a:gridCol>
                <a:gridCol w="2946274">
                  <a:extLst>
                    <a:ext uri="{9D8B030D-6E8A-4147-A177-3AD203B41FA5}">
                      <a16:colId xmlns:a16="http://schemas.microsoft.com/office/drawing/2014/main" val="2305908800"/>
                    </a:ext>
                  </a:extLst>
                </a:gridCol>
                <a:gridCol w="2514566">
                  <a:extLst>
                    <a:ext uri="{9D8B030D-6E8A-4147-A177-3AD203B41FA5}">
                      <a16:colId xmlns:a16="http://schemas.microsoft.com/office/drawing/2014/main" val="4129105839"/>
                    </a:ext>
                  </a:extLst>
                </a:gridCol>
              </a:tblGrid>
              <a:tr h="357747">
                <a:tc>
                  <a:txBody>
                    <a:bodyPr/>
                    <a:lstStyle/>
                    <a:p>
                      <a:r>
                        <a:rPr lang="ru-RU" dirty="0">
                          <a:latin typeface="Arial" panose="020B0604020202020204" pitchFamily="34" charset="0"/>
                          <a:cs typeface="Arial" panose="020B0604020202020204" pitchFamily="34" charset="0"/>
                        </a:rPr>
                        <a:t>Единицы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a:latin typeface="Arial" panose="020B0604020202020204" pitchFamily="34" charset="0"/>
                          <a:cs typeface="Arial" panose="020B0604020202020204" pitchFamily="34" charset="0"/>
                        </a:rPr>
                        <a:t>Название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a:latin typeface="Arial" panose="020B0604020202020204" pitchFamily="34" charset="0"/>
                          <a:cs typeface="Arial" panose="020B0604020202020204" pitchFamily="34" charset="0"/>
                        </a:rPr>
                        <a:t>Эквивалент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84805655"/>
                  </a:ext>
                </a:extLst>
              </a:tr>
              <a:tr h="357747">
                <a:tc>
                  <a:txBody>
                    <a:bodyPr/>
                    <a:lstStyle/>
                    <a:p>
                      <a:r>
                        <a:rPr lang="en-GB">
                          <a:latin typeface="Arial" panose="020B0604020202020204" pitchFamily="34" charset="0"/>
                          <a:cs typeface="Arial" panose="020B0604020202020204" pitchFamily="34" charset="0"/>
                        </a:rPr>
                        <a:t>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Centimeters/</a:t>
                      </a:r>
                      <a:r>
                        <a:rPr lang="ru-RU">
                          <a:latin typeface="Arial" panose="020B0604020202020204" pitchFamily="34" charset="0"/>
                          <a:cs typeface="Arial" panose="020B0604020202020204" pitchFamily="34" charset="0"/>
                        </a:rPr>
                        <a:t>Сантиметры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1cm = 96px/2.54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22944915"/>
                  </a:ext>
                </a:extLst>
              </a:tr>
              <a:tr h="357747">
                <a:tc>
                  <a:txBody>
                    <a:bodyPr/>
                    <a:lstStyle/>
                    <a:p>
                      <a:r>
                        <a:rPr lang="en-GB">
                          <a:latin typeface="Arial" panose="020B0604020202020204" pitchFamily="34" charset="0"/>
                          <a:cs typeface="Arial" panose="020B0604020202020204" pitchFamily="34" charset="0"/>
                        </a:rPr>
                        <a:t>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Millimeters/</a:t>
                      </a:r>
                      <a:r>
                        <a:rPr lang="ru-RU">
                          <a:latin typeface="Arial" panose="020B0604020202020204" pitchFamily="34" charset="0"/>
                          <a:cs typeface="Arial" panose="020B0604020202020204" pitchFamily="34" charset="0"/>
                        </a:rPr>
                        <a:t>Миллиметры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1mm = 1/10th of 1cm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75550669"/>
                  </a:ext>
                </a:extLst>
              </a:tr>
              <a:tr h="357747">
                <a:tc>
                  <a:txBody>
                    <a:bodyPr/>
                    <a:lstStyle/>
                    <a:p>
                      <a:r>
                        <a:rPr lang="en-GB">
                          <a:latin typeface="Arial" panose="020B0604020202020204" pitchFamily="34" charset="0"/>
                          <a:cs typeface="Arial" panose="020B0604020202020204" pitchFamily="34" charset="0"/>
                        </a:rPr>
                        <a:t>Q</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Quarter-millimeters/</a:t>
                      </a:r>
                      <a:r>
                        <a:rPr lang="ru-RU">
                          <a:latin typeface="Arial" panose="020B0604020202020204" pitchFamily="34" charset="0"/>
                          <a:cs typeface="Arial" panose="020B0604020202020204" pitchFamily="34" charset="0"/>
                        </a:rPr>
                        <a:t>Четверть-мм</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1Q = 1/40th of 1cm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03773571"/>
                  </a:ext>
                </a:extLst>
              </a:tr>
              <a:tr h="357747">
                <a:tc>
                  <a:txBody>
                    <a:bodyPr/>
                    <a:lstStyle/>
                    <a:p>
                      <a:r>
                        <a:rPr lang="en-GB">
                          <a:latin typeface="Arial" panose="020B0604020202020204" pitchFamily="34" charset="0"/>
                          <a:cs typeface="Arial" panose="020B0604020202020204" pitchFamily="34" charset="0"/>
                        </a:rPr>
                        <a:t>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Inches/</a:t>
                      </a:r>
                      <a:r>
                        <a:rPr lang="ru-RU">
                          <a:latin typeface="Arial" panose="020B0604020202020204" pitchFamily="34" charset="0"/>
                          <a:cs typeface="Arial" panose="020B0604020202020204" pitchFamily="34" charset="0"/>
                        </a:rPr>
                        <a:t>Дюймы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1in = 2.54cm = 96px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0962897"/>
                  </a:ext>
                </a:extLst>
              </a:tr>
              <a:tr h="357747">
                <a:tc>
                  <a:txBody>
                    <a:bodyPr/>
                    <a:lstStyle/>
                    <a:p>
                      <a:r>
                        <a:rPr lang="en-GB">
                          <a:latin typeface="Arial" panose="020B0604020202020204" pitchFamily="34" charset="0"/>
                          <a:cs typeface="Arial" panose="020B0604020202020204" pitchFamily="34" charset="0"/>
                        </a:rPr>
                        <a:t>pc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Picas/</a:t>
                      </a:r>
                      <a:r>
                        <a:rPr lang="ru-RU">
                          <a:latin typeface="Arial" panose="020B0604020202020204" pitchFamily="34" charset="0"/>
                          <a:cs typeface="Arial" panose="020B0604020202020204" pitchFamily="34" charset="0"/>
                        </a:rPr>
                        <a:t>Пики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1pc = 1/6th of 1in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2941876"/>
                  </a:ext>
                </a:extLst>
              </a:tr>
              <a:tr h="357747">
                <a:tc>
                  <a:txBody>
                    <a:bodyPr/>
                    <a:lstStyle/>
                    <a:p>
                      <a:r>
                        <a:rPr lang="en-GB">
                          <a:latin typeface="Arial" panose="020B0604020202020204" pitchFamily="34" charset="0"/>
                          <a:cs typeface="Arial" panose="020B0604020202020204" pitchFamily="34" charset="0"/>
                        </a:rPr>
                        <a:t>pt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Points/</a:t>
                      </a:r>
                      <a:r>
                        <a:rPr lang="ru-RU">
                          <a:latin typeface="Arial" panose="020B0604020202020204" pitchFamily="34" charset="0"/>
                          <a:cs typeface="Arial" panose="020B0604020202020204" pitchFamily="34" charset="0"/>
                        </a:rPr>
                        <a:t>Точки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1pt = 1/72th of 1in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22765283"/>
                  </a:ext>
                </a:extLst>
              </a:tr>
              <a:tr h="357747">
                <a:tc>
                  <a:txBody>
                    <a:bodyPr/>
                    <a:lstStyle/>
                    <a:p>
                      <a:r>
                        <a:rPr lang="en-GB">
                          <a:latin typeface="Arial" panose="020B0604020202020204" pitchFamily="34" charset="0"/>
                          <a:cs typeface="Arial" panose="020B0604020202020204" pitchFamily="34" charset="0"/>
                        </a:rPr>
                        <a:t>px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a:latin typeface="Arial" panose="020B0604020202020204" pitchFamily="34" charset="0"/>
                          <a:cs typeface="Arial" panose="020B0604020202020204" pitchFamily="34" charset="0"/>
                        </a:rPr>
                        <a:t>Pixels/</a:t>
                      </a:r>
                      <a:r>
                        <a:rPr lang="ru-RU">
                          <a:latin typeface="Arial" panose="020B0604020202020204" pitchFamily="34" charset="0"/>
                          <a:cs typeface="Arial" panose="020B0604020202020204" pitchFamily="34" charset="0"/>
                        </a:rPr>
                        <a:t>Пиксели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dirty="0">
                          <a:latin typeface="Arial" panose="020B0604020202020204" pitchFamily="34" charset="0"/>
                          <a:cs typeface="Arial" panose="020B0604020202020204" pitchFamily="34" charset="0"/>
                        </a:rPr>
                        <a:t>1px = 1/96th of 1in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38808779"/>
                  </a:ext>
                </a:extLst>
              </a:tr>
            </a:tbl>
          </a:graphicData>
        </a:graphic>
      </p:graphicFrame>
    </p:spTree>
    <p:extLst>
      <p:ext uri="{BB962C8B-B14F-4D97-AF65-F5344CB8AC3E}">
        <p14:creationId xmlns:p14="http://schemas.microsoft.com/office/powerpoint/2010/main" val="148600426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Единицы относительной длины </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p:txBody>
          <a:bodyPr/>
          <a:lstStyle/>
          <a:p>
            <a:endParaRPr lang="en-RU" dirty="0"/>
          </a:p>
        </p:txBody>
      </p:sp>
      <p:graphicFrame>
        <p:nvGraphicFramePr>
          <p:cNvPr id="7" name="Table 6">
            <a:extLst>
              <a:ext uri="{FF2B5EF4-FFF2-40B4-BE49-F238E27FC236}">
                <a16:creationId xmlns:a16="http://schemas.microsoft.com/office/drawing/2014/main" id="{31A71766-E420-E042-9D81-8FA1E8025E8F}"/>
              </a:ext>
            </a:extLst>
          </p:cNvPr>
          <p:cNvGraphicFramePr>
            <a:graphicFrameLocks noGrp="1"/>
          </p:cNvGraphicFramePr>
          <p:nvPr>
            <p:extLst>
              <p:ext uri="{D42A27DB-BD31-4B8C-83A1-F6EECF244321}">
                <p14:modId xmlns:p14="http://schemas.microsoft.com/office/powerpoint/2010/main" val="2475159668"/>
              </p:ext>
            </p:extLst>
          </p:nvPr>
        </p:nvGraphicFramePr>
        <p:xfrm>
          <a:off x="2448123" y="2298981"/>
          <a:ext cx="7295754" cy="4351339"/>
        </p:xfrm>
        <a:graphic>
          <a:graphicData uri="http://schemas.openxmlformats.org/drawingml/2006/table">
            <a:tbl>
              <a:tblPr/>
              <a:tblGrid>
                <a:gridCol w="1577861">
                  <a:extLst>
                    <a:ext uri="{9D8B030D-6E8A-4147-A177-3AD203B41FA5}">
                      <a16:colId xmlns:a16="http://schemas.microsoft.com/office/drawing/2014/main" val="913235720"/>
                    </a:ext>
                  </a:extLst>
                </a:gridCol>
                <a:gridCol w="5717893">
                  <a:extLst>
                    <a:ext uri="{9D8B030D-6E8A-4147-A177-3AD203B41FA5}">
                      <a16:colId xmlns:a16="http://schemas.microsoft.com/office/drawing/2014/main" val="2880014809"/>
                    </a:ext>
                  </a:extLst>
                </a:gridCol>
              </a:tblGrid>
              <a:tr h="355204">
                <a:tc>
                  <a:txBody>
                    <a:bodyPr/>
                    <a:lstStyle/>
                    <a:p>
                      <a:r>
                        <a:rPr lang="ru-RU" sz="1700">
                          <a:latin typeface="Arial" panose="020B0604020202020204" pitchFamily="34" charset="0"/>
                          <a:cs typeface="Arial" panose="020B0604020202020204" pitchFamily="34" charset="0"/>
                        </a:rPr>
                        <a:t>Единица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Относительна к</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9240029"/>
                  </a:ext>
                </a:extLst>
              </a:tr>
              <a:tr h="355204">
                <a:tc>
                  <a:txBody>
                    <a:bodyPr/>
                    <a:lstStyle/>
                    <a:p>
                      <a:r>
                        <a:rPr lang="en-GB" sz="1700">
                          <a:latin typeface="Arial" panose="020B0604020202020204" pitchFamily="34" charset="0"/>
                          <a:cs typeface="Arial" panose="020B0604020202020204" pitchFamily="34" charset="0"/>
                        </a:rPr>
                        <a:t>em</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Размер шрифта родительского элемента.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76814270"/>
                  </a:ext>
                </a:extLst>
              </a:tr>
              <a:tr h="355204">
                <a:tc>
                  <a:txBody>
                    <a:bodyPr/>
                    <a:lstStyle/>
                    <a:p>
                      <a:r>
                        <a:rPr lang="en-GB" sz="1700">
                          <a:latin typeface="Arial" panose="020B0604020202020204" pitchFamily="34" charset="0"/>
                          <a:cs typeface="Arial" panose="020B0604020202020204" pitchFamily="34" charset="0"/>
                        </a:rPr>
                        <a:t>ex</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GB" sz="1700">
                          <a:latin typeface="Arial" panose="020B0604020202020204" pitchFamily="34" charset="0"/>
                          <a:cs typeface="Arial" panose="020B0604020202020204" pitchFamily="34" charset="0"/>
                        </a:rPr>
                        <a:t>x-</a:t>
                      </a:r>
                      <a:r>
                        <a:rPr lang="ru-RU" sz="1700">
                          <a:latin typeface="Arial" panose="020B0604020202020204" pitchFamily="34" charset="0"/>
                          <a:cs typeface="Arial" panose="020B0604020202020204" pitchFamily="34" charset="0"/>
                        </a:rPr>
                        <a:t>высота шрифта элемента.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169813"/>
                  </a:ext>
                </a:extLst>
              </a:tr>
              <a:tr h="621637">
                <a:tc>
                  <a:txBody>
                    <a:bodyPr/>
                    <a:lstStyle/>
                    <a:p>
                      <a:r>
                        <a:rPr lang="en-GB" sz="1700">
                          <a:latin typeface="Arial" panose="020B0604020202020204" pitchFamily="34" charset="0"/>
                          <a:cs typeface="Arial" panose="020B0604020202020204" pitchFamily="34" charset="0"/>
                        </a:rPr>
                        <a:t>ch</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Предварительная мера (ширина) глифа "0" шрифта элемента.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29395328"/>
                  </a:ext>
                </a:extLst>
              </a:tr>
              <a:tr h="355204">
                <a:tc>
                  <a:txBody>
                    <a:bodyPr/>
                    <a:lstStyle/>
                    <a:p>
                      <a:r>
                        <a:rPr lang="en-GB" sz="1700">
                          <a:latin typeface="Arial" panose="020B0604020202020204" pitchFamily="34" charset="0"/>
                          <a:cs typeface="Arial" panose="020B0604020202020204" pitchFamily="34" charset="0"/>
                        </a:rPr>
                        <a:t>rem</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Размер шрифта корневого элемента.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31347198"/>
                  </a:ext>
                </a:extLst>
              </a:tr>
              <a:tr h="355204">
                <a:tc>
                  <a:txBody>
                    <a:bodyPr/>
                    <a:lstStyle/>
                    <a:p>
                      <a:r>
                        <a:rPr lang="en-GB" sz="1700">
                          <a:latin typeface="Arial" panose="020B0604020202020204" pitchFamily="34" charset="0"/>
                          <a:cs typeface="Arial" panose="020B0604020202020204" pitchFamily="34" charset="0"/>
                        </a:rPr>
                        <a:t>lh</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Высота строки элемента.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1036706"/>
                  </a:ext>
                </a:extLst>
              </a:tr>
              <a:tr h="355204">
                <a:tc>
                  <a:txBody>
                    <a:bodyPr/>
                    <a:lstStyle/>
                    <a:p>
                      <a:r>
                        <a:rPr lang="en-GB" sz="1700">
                          <a:latin typeface="Arial" panose="020B0604020202020204" pitchFamily="34" charset="0"/>
                          <a:cs typeface="Arial" panose="020B0604020202020204" pitchFamily="34" charset="0"/>
                        </a:rPr>
                        <a:t>vw</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1% от ширины окна просмотра.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61513273"/>
                  </a:ext>
                </a:extLst>
              </a:tr>
              <a:tr h="355204">
                <a:tc>
                  <a:txBody>
                    <a:bodyPr/>
                    <a:lstStyle/>
                    <a:p>
                      <a:r>
                        <a:rPr lang="en-GB" sz="1700">
                          <a:latin typeface="Arial" panose="020B0604020202020204" pitchFamily="34" charset="0"/>
                          <a:cs typeface="Arial" panose="020B0604020202020204" pitchFamily="34" charset="0"/>
                        </a:rPr>
                        <a:t>vh</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1% от высоты окна просмотра.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55538013"/>
                  </a:ext>
                </a:extLst>
              </a:tr>
              <a:tr h="621637">
                <a:tc>
                  <a:txBody>
                    <a:bodyPr/>
                    <a:lstStyle/>
                    <a:p>
                      <a:r>
                        <a:rPr lang="en-GB" sz="1700">
                          <a:latin typeface="Arial" panose="020B0604020202020204" pitchFamily="34" charset="0"/>
                          <a:cs typeface="Arial" panose="020B0604020202020204" pitchFamily="34" charset="0"/>
                        </a:rPr>
                        <a:t>vmin</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a:latin typeface="Arial" panose="020B0604020202020204" pitchFamily="34" charset="0"/>
                          <a:cs typeface="Arial" panose="020B0604020202020204" pitchFamily="34" charset="0"/>
                        </a:rPr>
                        <a:t>1% от меньшего измерения ширины окна просмотра.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1273360"/>
                  </a:ext>
                </a:extLst>
              </a:tr>
              <a:tr h="621637">
                <a:tc>
                  <a:txBody>
                    <a:bodyPr/>
                    <a:lstStyle/>
                    <a:p>
                      <a:r>
                        <a:rPr lang="en-GB" sz="1700">
                          <a:latin typeface="Arial" panose="020B0604020202020204" pitchFamily="34" charset="0"/>
                          <a:cs typeface="Arial" panose="020B0604020202020204" pitchFamily="34" charset="0"/>
                        </a:rPr>
                        <a:t>vmax</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ru-RU" sz="1700" dirty="0">
                          <a:latin typeface="Arial" panose="020B0604020202020204" pitchFamily="34" charset="0"/>
                          <a:cs typeface="Arial" panose="020B0604020202020204" pitchFamily="34" charset="0"/>
                        </a:rPr>
                        <a:t>1% от большего измерения ширины окна просмотра.</a:t>
                      </a:r>
                    </a:p>
                  </a:txBody>
                  <a:tcPr marL="88770" marR="88770" marT="44385" marB="4438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05849721"/>
                  </a:ext>
                </a:extLst>
              </a:tr>
            </a:tbl>
          </a:graphicData>
        </a:graphic>
      </p:graphicFrame>
    </p:spTree>
    <p:extLst>
      <p:ext uri="{BB962C8B-B14F-4D97-AF65-F5344CB8AC3E}">
        <p14:creationId xmlns:p14="http://schemas.microsoft.com/office/powerpoint/2010/main" val="393622073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Цвет</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p:txBody>
          <a:bodyPr>
            <a:normAutofit fontScale="85000" lnSpcReduction="20000"/>
          </a:bodyPr>
          <a:lstStyle/>
          <a:p>
            <a:pPr algn="just">
              <a:lnSpc>
                <a:spcPct val="150000"/>
              </a:lnSpc>
            </a:pPr>
            <a:r>
              <a:rPr lang="ru-RU" sz="1800" dirty="0">
                <a:latin typeface="Arial" panose="020B0604020202020204" pitchFamily="34" charset="0"/>
                <a:cs typeface="Arial" panose="020B0604020202020204" pitchFamily="34" charset="0"/>
              </a:rPr>
              <a:t>Стандартная система цветов доступная в современных компьютерах — это 24-битная система, которая позволяет отображать около 16.7 миллионов отдельных цветов через комбинацию различных красных, зелёных и синих каналов с 256 различными значениями каждого канала (256 </a:t>
            </a:r>
            <a:r>
              <a:rPr lang="en-GB" sz="1800" dirty="0">
                <a:latin typeface="Arial" panose="020B0604020202020204" pitchFamily="34" charset="0"/>
                <a:cs typeface="Arial" panose="020B0604020202020204" pitchFamily="34" charset="0"/>
              </a:rPr>
              <a:t>x 256 x 256 = 16,777,216)</a:t>
            </a:r>
            <a:r>
              <a:rPr lang="ru-RU" sz="1800" dirty="0">
                <a:latin typeface="Arial" panose="020B0604020202020204" pitchFamily="34" charset="0"/>
                <a:cs typeface="Arial" panose="020B0604020202020204" pitchFamily="34" charset="0"/>
              </a:rPr>
              <a:t>.</a:t>
            </a:r>
            <a:endParaRPr lang="ru-RU" sz="1800" dirty="0"/>
          </a:p>
          <a:p>
            <a:pPr algn="just">
              <a:lnSpc>
                <a:spcPct val="150000"/>
              </a:lnSpc>
            </a:pPr>
            <a:r>
              <a:rPr lang="ru-RU" sz="1800" dirty="0">
                <a:latin typeface="Arial" panose="020B0604020202020204" pitchFamily="34" charset="0"/>
                <a:cs typeface="Arial" panose="020B0604020202020204" pitchFamily="34" charset="0"/>
              </a:rPr>
              <a:t>Способы определения цвета в </a:t>
            </a:r>
            <a:r>
              <a:rPr lang="en-US" sz="1800" dirty="0">
                <a:latin typeface="Arial" panose="020B0604020202020204" pitchFamily="34" charset="0"/>
                <a:cs typeface="Arial" panose="020B0604020202020204" pitchFamily="34" charset="0"/>
              </a:rPr>
              <a:t>CSS:</a:t>
            </a:r>
          </a:p>
          <a:p>
            <a:pPr algn="just">
              <a:lnSpc>
                <a:spcPct val="150000"/>
              </a:lnSpc>
            </a:pPr>
            <a:r>
              <a:rPr lang="ru-RU" sz="1800" dirty="0">
                <a:latin typeface="Arial" panose="020B0604020202020204" pitchFamily="34" charset="0"/>
                <a:cs typeface="Arial" panose="020B0604020202020204" pitchFamily="34" charset="0"/>
              </a:rPr>
              <a:t>1. Шестнадцатеричный </a:t>
            </a:r>
            <a:r>
              <a:rPr lang="en-US" sz="1800" dirty="0">
                <a:latin typeface="Arial" panose="020B0604020202020204" pitchFamily="34" charset="0"/>
                <a:cs typeface="Arial" panose="020B0604020202020204" pitchFamily="34" charset="0"/>
              </a:rPr>
              <a:t>HEX </a:t>
            </a:r>
            <a:r>
              <a:rPr lang="ru-RU" sz="1800" dirty="0">
                <a:latin typeface="Arial" panose="020B0604020202020204" pitchFamily="34" charset="0"/>
                <a:cs typeface="Arial" panose="020B0604020202020204" pitchFamily="34" charset="0"/>
              </a:rPr>
              <a:t>код</a:t>
            </a:r>
            <a:r>
              <a:rPr lang="en-US" sz="1800" dirty="0">
                <a:latin typeface="Arial" panose="020B0604020202020204" pitchFamily="34" charset="0"/>
                <a:cs typeface="Arial" panose="020B0604020202020204" pitchFamily="34" charset="0"/>
              </a:rPr>
              <a:t> (#02798b)</a:t>
            </a:r>
          </a:p>
          <a:p>
            <a:pPr algn="just">
              <a:lnSpc>
                <a:spcPct val="150000"/>
              </a:lnSpc>
            </a:pPr>
            <a:r>
              <a:rPr lang="en-US" sz="1800" dirty="0">
                <a:latin typeface="Arial" panose="020B0604020202020204" pitchFamily="34" charset="0"/>
                <a:cs typeface="Arial" panose="020B0604020202020204" pitchFamily="34" charset="0"/>
              </a:rPr>
              <a:t>2. </a:t>
            </a:r>
            <a:r>
              <a:rPr lang="en-GB" sz="1800" dirty="0">
                <a:latin typeface="Arial" panose="020B0604020202020204" pitchFamily="34" charset="0"/>
                <a:cs typeface="Arial" panose="020B0604020202020204" pitchFamily="34" charset="0"/>
              </a:rPr>
              <a:t>RGB </a:t>
            </a:r>
            <a:r>
              <a:rPr lang="ru-RU" sz="1800" dirty="0">
                <a:latin typeface="Arial" panose="020B0604020202020204" pitchFamily="34" charset="0"/>
                <a:cs typeface="Arial" panose="020B0604020202020204" pitchFamily="34" charset="0"/>
              </a:rPr>
              <a:t>и </a:t>
            </a:r>
            <a:r>
              <a:rPr lang="en-GB" sz="1800" dirty="0">
                <a:latin typeface="Arial" panose="020B0604020202020204" pitchFamily="34" charset="0"/>
                <a:cs typeface="Arial" panose="020B0604020202020204" pitchFamily="34" charset="0"/>
              </a:rPr>
              <a:t>RGBA </a:t>
            </a:r>
            <a:r>
              <a:rPr lang="ru-RU" sz="1800" dirty="0">
                <a:latin typeface="Arial" panose="020B0604020202020204" pitchFamily="34" charset="0"/>
                <a:cs typeface="Arial" panose="020B0604020202020204" pitchFamily="34" charset="0"/>
              </a:rPr>
              <a:t>значения</a:t>
            </a:r>
            <a:r>
              <a:rPr lang="en-US" sz="1800" dirty="0">
                <a:latin typeface="Arial" panose="020B0604020202020204" pitchFamily="34" charset="0"/>
                <a:cs typeface="Arial" panose="020B0604020202020204" pitchFamily="34" charset="0"/>
              </a:rPr>
              <a:t> (</a:t>
            </a:r>
            <a:r>
              <a:rPr lang="en-US" sz="1800" dirty="0" err="1">
                <a:latin typeface="Arial" panose="020B0604020202020204" pitchFamily="34" charset="0"/>
                <a:cs typeface="Arial" panose="020B0604020202020204" pitchFamily="34" charset="0"/>
              </a:rPr>
              <a:t>rgb</a:t>
            </a:r>
            <a:r>
              <a:rPr lang="en-US" sz="1800" dirty="0">
                <a:latin typeface="Arial" panose="020B0604020202020204" pitchFamily="34" charset="0"/>
                <a:cs typeface="Arial" panose="020B0604020202020204" pitchFamily="34" charset="0"/>
              </a:rPr>
              <a:t>(2 121 139))</a:t>
            </a:r>
          </a:p>
          <a:p>
            <a:pPr algn="just">
              <a:lnSpc>
                <a:spcPct val="150000"/>
              </a:lnSpc>
            </a:pPr>
            <a:r>
              <a:rPr lang="en-US" sz="1800" dirty="0">
                <a:latin typeface="Arial" panose="020B0604020202020204" pitchFamily="34" charset="0"/>
                <a:cs typeface="Arial" panose="020B0604020202020204" pitchFamily="34" charset="0"/>
              </a:rPr>
              <a:t>3. HSL </a:t>
            </a:r>
            <a:r>
              <a:rPr lang="ru-RU" sz="1800" dirty="0">
                <a:latin typeface="Arial" panose="020B0604020202020204" pitchFamily="34" charset="0"/>
                <a:cs typeface="Arial" panose="020B0604020202020204" pitchFamily="34" charset="0"/>
              </a:rPr>
              <a:t>и </a:t>
            </a:r>
            <a:r>
              <a:rPr lang="en-US" sz="1800" dirty="0">
                <a:latin typeface="Arial" panose="020B0604020202020204" pitchFamily="34" charset="0"/>
                <a:cs typeface="Arial" panose="020B0604020202020204" pitchFamily="34" charset="0"/>
              </a:rPr>
              <a:t>HSLA</a:t>
            </a:r>
            <a:r>
              <a:rPr lang="ru-RU" sz="1800" dirty="0">
                <a:latin typeface="Arial" panose="020B0604020202020204" pitchFamily="34" charset="0"/>
                <a:cs typeface="Arial" panose="020B0604020202020204" pitchFamily="34" charset="0"/>
              </a:rPr>
              <a:t> значение (тон, насыщенность, светлота - 	</a:t>
            </a:r>
            <a:r>
              <a:rPr lang="en-GB" sz="1800" dirty="0" err="1">
                <a:latin typeface="Arial" panose="020B0604020202020204" pitchFamily="34" charset="0"/>
                <a:cs typeface="Arial" panose="020B0604020202020204" pitchFamily="34" charset="0"/>
              </a:rPr>
              <a:t>hsl</a:t>
            </a:r>
            <a:r>
              <a:rPr lang="en-GB" sz="1800" dirty="0">
                <a:latin typeface="Arial" panose="020B0604020202020204" pitchFamily="34" charset="0"/>
                <a:cs typeface="Arial" panose="020B0604020202020204" pitchFamily="34" charset="0"/>
              </a:rPr>
              <a:t>(188 97% 28%)</a:t>
            </a:r>
            <a:r>
              <a:rPr lang="ru-RU" sz="1800" dirty="0">
                <a:latin typeface="Arial" panose="020B0604020202020204" pitchFamily="34" charset="0"/>
                <a:cs typeface="Arial" panose="020B0604020202020204" pitchFamily="34" charset="0"/>
              </a:rPr>
              <a:t>)</a:t>
            </a:r>
          </a:p>
          <a:p>
            <a:pPr algn="just">
              <a:lnSpc>
                <a:spcPct val="150000"/>
              </a:lnSpc>
            </a:pPr>
            <a:endParaRPr lang="en-GB" sz="1800" dirty="0">
              <a:latin typeface="Arial" panose="020B0604020202020204" pitchFamily="34" charset="0"/>
              <a:cs typeface="Arial" panose="020B0604020202020204" pitchFamily="34" charset="0"/>
            </a:endParaRPr>
          </a:p>
          <a:p>
            <a:endParaRPr lang="en-RU" dirty="0"/>
          </a:p>
        </p:txBody>
      </p:sp>
    </p:spTree>
    <p:extLst>
      <p:ext uri="{BB962C8B-B14F-4D97-AF65-F5344CB8AC3E}">
        <p14:creationId xmlns:p14="http://schemas.microsoft.com/office/powerpoint/2010/main" val="387715252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Стандартные свойства </a:t>
            </a:r>
            <a:r>
              <a:rPr lang="en-GB" dirty="0"/>
              <a:t>CSS </a:t>
            </a:r>
            <a:r>
              <a:rPr lang="ru-RU" dirty="0"/>
              <a:t>для выравнивания</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p:txBody>
          <a:bodyPr>
            <a:normAutofit fontScale="85000" lnSpcReduction="10000"/>
          </a:bodyPr>
          <a:lstStyle/>
          <a:p>
            <a:pPr algn="just">
              <a:lnSpc>
                <a:spcPct val="150000"/>
              </a:lnSpc>
            </a:pPr>
            <a:r>
              <a:rPr lang="ru-RU" sz="1800" dirty="0">
                <a:latin typeface="Arial" panose="020B0604020202020204" pitchFamily="34" charset="0"/>
                <a:cs typeface="Arial" panose="020B0604020202020204" pitchFamily="34" charset="0"/>
              </a:rPr>
              <a:t>Эти свойства предоставляют базовые возможности для выравнивания, но часто требуют дополнительных усилий для создания сложных макетов.</a:t>
            </a:r>
          </a:p>
          <a:p>
            <a:pPr algn="just">
              <a:lnSpc>
                <a:spcPct val="150000"/>
              </a:lnSpc>
            </a:pPr>
            <a:r>
              <a:rPr lang="ru-RU" sz="1800" dirty="0">
                <a:latin typeface="Arial" panose="020B0604020202020204" pitchFamily="34" charset="0"/>
                <a:cs typeface="Arial" panose="020B0604020202020204" pitchFamily="34" charset="0"/>
              </a:rPr>
              <a:t>Основные свойства:</a:t>
            </a:r>
          </a:p>
          <a:p>
            <a:pPr marL="285750" indent="-285750" algn="just">
              <a:lnSpc>
                <a:spcPct val="150000"/>
              </a:lnSpc>
              <a:buFont typeface="Arial" panose="020B0604020202020204" pitchFamily="34" charset="0"/>
              <a:buChar char="•"/>
            </a:pPr>
            <a:r>
              <a:rPr lang="ru-RU" sz="1800" dirty="0">
                <a:latin typeface="Arial" panose="020B0604020202020204" pitchFamily="34" charset="0"/>
                <a:cs typeface="Arial" panose="020B0604020202020204" pitchFamily="34" charset="0"/>
              </a:rPr>
              <a:t> </a:t>
            </a:r>
            <a:r>
              <a:rPr lang="en-GB" sz="1800" dirty="0">
                <a:latin typeface="Arial" panose="020B0604020202020204" pitchFamily="34" charset="0"/>
                <a:cs typeface="Arial" panose="020B0604020202020204" pitchFamily="34" charset="0"/>
              </a:rPr>
              <a:t>text-align</a:t>
            </a:r>
            <a:r>
              <a:rPr lang="ru-RU" sz="1800" dirty="0">
                <a:latin typeface="Arial" panose="020B0604020202020204" pitchFamily="34" charset="0"/>
                <a:cs typeface="Arial" panose="020B0604020202020204" pitchFamily="34" charset="0"/>
              </a:rPr>
              <a:t>. Управляет горизонтальным выравниванием текста и </a:t>
            </a:r>
            <a:r>
              <a:rPr lang="en-GB" sz="1800" dirty="0">
                <a:latin typeface="Arial" panose="020B0604020202020204" pitchFamily="34" charset="0"/>
                <a:cs typeface="Arial" panose="020B0604020202020204" pitchFamily="34" charset="0"/>
              </a:rPr>
              <a:t>inline-</a:t>
            </a:r>
            <a:r>
              <a:rPr lang="ru-RU" sz="1800" dirty="0">
                <a:latin typeface="Arial" panose="020B0604020202020204" pitchFamily="34" charset="0"/>
                <a:cs typeface="Arial" panose="020B0604020202020204" pitchFamily="34" charset="0"/>
              </a:rPr>
              <a:t>элементов внутри блочного элемента. </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a:t>
            </a:r>
            <a:r>
              <a:rPr lang="ru-RU" sz="1800" dirty="0">
                <a:latin typeface="Arial" panose="020B0604020202020204" pitchFamily="34" charset="0"/>
                <a:cs typeface="Arial" panose="020B0604020202020204" pitchFamily="34" charset="0"/>
              </a:rPr>
              <a:t>Управляет вертикальным выравниванием </a:t>
            </a:r>
            <a:r>
              <a:rPr lang="en-GB" sz="1800" dirty="0">
                <a:latin typeface="Arial" panose="020B0604020202020204" pitchFamily="34" charset="0"/>
                <a:cs typeface="Arial" panose="020B0604020202020204" pitchFamily="34" charset="0"/>
              </a:rPr>
              <a:t>inline-</a:t>
            </a:r>
            <a:r>
              <a:rPr lang="ru-RU" sz="1800" dirty="0">
                <a:latin typeface="Arial" panose="020B0604020202020204" pitchFamily="34" charset="0"/>
                <a:cs typeface="Arial" panose="020B0604020202020204" pitchFamily="34" charset="0"/>
              </a:rPr>
              <a:t>элементов (или </a:t>
            </a:r>
            <a:r>
              <a:rPr lang="en-GB" sz="1800" dirty="0">
                <a:latin typeface="Arial" panose="020B0604020202020204" pitchFamily="34" charset="0"/>
                <a:cs typeface="Arial" panose="020B0604020202020204" pitchFamily="34" charset="0"/>
              </a:rPr>
              <a:t>table-cell </a:t>
            </a:r>
            <a:r>
              <a:rPr lang="ru-RU" sz="1800" dirty="0">
                <a:latin typeface="Arial" panose="020B0604020202020204" pitchFamily="34" charset="0"/>
                <a:cs typeface="Arial" panose="020B0604020202020204" pitchFamily="34" charset="0"/>
              </a:rPr>
              <a:t>элементов) относительно друг друга или строки текста.  Работает только для </a:t>
            </a:r>
            <a:r>
              <a:rPr lang="en-GB" sz="1800" dirty="0">
                <a:latin typeface="Arial" panose="020B0604020202020204" pitchFamily="34" charset="0"/>
                <a:cs typeface="Arial" panose="020B0604020202020204" pitchFamily="34" charset="0"/>
              </a:rPr>
              <a:t>inline, inline-block </a:t>
            </a:r>
            <a:r>
              <a:rPr lang="ru-RU" sz="1800" dirty="0">
                <a:latin typeface="Arial" panose="020B0604020202020204" pitchFamily="34" charset="0"/>
                <a:cs typeface="Arial" panose="020B0604020202020204" pitchFamily="34" charset="0"/>
              </a:rPr>
              <a:t>и </a:t>
            </a:r>
            <a:r>
              <a:rPr lang="en-GB" sz="1800" dirty="0">
                <a:latin typeface="Arial" panose="020B0604020202020204" pitchFamily="34" charset="0"/>
                <a:cs typeface="Arial" panose="020B0604020202020204" pitchFamily="34" charset="0"/>
              </a:rPr>
              <a:t>table-cell </a:t>
            </a:r>
            <a:r>
              <a:rPr lang="ru-RU" sz="1800" dirty="0">
                <a:latin typeface="Arial" panose="020B0604020202020204" pitchFamily="34" charset="0"/>
                <a:cs typeface="Arial" panose="020B0604020202020204" pitchFamily="34" charset="0"/>
              </a:rPr>
              <a:t>элементов.</a:t>
            </a:r>
          </a:p>
        </p:txBody>
      </p:sp>
    </p:spTree>
    <p:extLst>
      <p:ext uri="{BB962C8B-B14F-4D97-AF65-F5344CB8AC3E}">
        <p14:creationId xmlns:p14="http://schemas.microsoft.com/office/powerpoint/2010/main" val="42093036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text-align</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p:txBody>
          <a:bodyPr>
            <a:normAutofit fontScale="92500" lnSpcReduction="20000"/>
          </a:bodyPr>
          <a:lstStyle/>
          <a:p>
            <a:pPr algn="just">
              <a:lnSpc>
                <a:spcPct val="150000"/>
              </a:lnSpc>
            </a:pPr>
            <a:r>
              <a:rPr lang="ru-RU" sz="1800" dirty="0">
                <a:latin typeface="Arial" panose="020B0604020202020204" pitchFamily="34" charset="0"/>
                <a:cs typeface="Arial" panose="020B0604020202020204" pitchFamily="34" charset="0"/>
              </a:rPr>
              <a:t>Принимает значения:</a:t>
            </a:r>
          </a:p>
          <a:p>
            <a:pPr algn="just">
              <a:lnSpc>
                <a:spcPct val="150000"/>
              </a:lnSpc>
            </a:pPr>
            <a:r>
              <a:rPr lang="ru-RU" sz="1800" dirty="0">
                <a:latin typeface="Arial" panose="020B0604020202020204" pitchFamily="34" charset="0"/>
                <a:cs typeface="Arial" panose="020B0604020202020204" pitchFamily="34" charset="0"/>
              </a:rPr>
              <a:t>  •  </a:t>
            </a:r>
            <a:r>
              <a:rPr lang="en-GB" sz="1800" dirty="0">
                <a:latin typeface="Arial" panose="020B0604020202020204" pitchFamily="34" charset="0"/>
                <a:cs typeface="Arial" panose="020B0604020202020204" pitchFamily="34" charset="0"/>
              </a:rPr>
              <a:t>text-align: left; (</a:t>
            </a:r>
            <a:r>
              <a:rPr lang="ru-RU" sz="1800" dirty="0">
                <a:latin typeface="Arial" panose="020B0604020202020204" pitchFamily="34" charset="0"/>
                <a:cs typeface="Arial" panose="020B0604020202020204" pitchFamily="34" charset="0"/>
              </a:rPr>
              <a:t>по умолчанию) – Выравнивает текст по левому краю.</a:t>
            </a:r>
          </a:p>
          <a:p>
            <a:pPr algn="just">
              <a:lnSpc>
                <a:spcPct val="150000"/>
              </a:lnSpc>
            </a:pPr>
            <a:r>
              <a:rPr lang="ru-RU" sz="1800" dirty="0">
                <a:latin typeface="Arial" panose="020B0604020202020204" pitchFamily="34" charset="0"/>
                <a:cs typeface="Arial" panose="020B0604020202020204" pitchFamily="34" charset="0"/>
              </a:rPr>
              <a:t>  •  </a:t>
            </a:r>
            <a:r>
              <a:rPr lang="en-GB" sz="1800" dirty="0">
                <a:latin typeface="Arial" panose="020B0604020202020204" pitchFamily="34" charset="0"/>
                <a:cs typeface="Arial" panose="020B0604020202020204" pitchFamily="34" charset="0"/>
              </a:rPr>
              <a:t>text-align: right; – </a:t>
            </a:r>
            <a:r>
              <a:rPr lang="ru-RU" sz="1800" dirty="0">
                <a:latin typeface="Arial" panose="020B0604020202020204" pitchFamily="34" charset="0"/>
                <a:cs typeface="Arial" panose="020B0604020202020204" pitchFamily="34" charset="0"/>
              </a:rPr>
              <a:t>Выравнивает текст по правому краю.</a:t>
            </a:r>
          </a:p>
          <a:p>
            <a:pPr algn="just">
              <a:lnSpc>
                <a:spcPct val="150000"/>
              </a:lnSpc>
            </a:pPr>
            <a:r>
              <a:rPr lang="ru-RU" sz="1800" dirty="0">
                <a:latin typeface="Arial" panose="020B0604020202020204" pitchFamily="34" charset="0"/>
                <a:cs typeface="Arial" panose="020B0604020202020204" pitchFamily="34" charset="0"/>
              </a:rPr>
              <a:t>  •  </a:t>
            </a:r>
            <a:r>
              <a:rPr lang="en-GB" sz="1800" dirty="0">
                <a:latin typeface="Arial" panose="020B0604020202020204" pitchFamily="34" charset="0"/>
                <a:cs typeface="Arial" panose="020B0604020202020204" pitchFamily="34" charset="0"/>
              </a:rPr>
              <a:t>text-align: </a:t>
            </a:r>
            <a:r>
              <a:rPr lang="en-GB" sz="1800" dirty="0" err="1">
                <a:latin typeface="Arial" panose="020B0604020202020204" pitchFamily="34" charset="0"/>
                <a:cs typeface="Arial" panose="020B0604020202020204" pitchFamily="34" charset="0"/>
              </a:rPr>
              <a:t>center</a:t>
            </a:r>
            <a:r>
              <a:rPr lang="en-GB" sz="1800" dirty="0">
                <a:latin typeface="Arial" panose="020B0604020202020204" pitchFamily="34" charset="0"/>
                <a:cs typeface="Arial" panose="020B0604020202020204" pitchFamily="34" charset="0"/>
              </a:rPr>
              <a:t>; – </a:t>
            </a:r>
            <a:r>
              <a:rPr lang="ru-RU" sz="1800" dirty="0">
                <a:latin typeface="Arial" panose="020B0604020202020204" pitchFamily="34" charset="0"/>
                <a:cs typeface="Arial" panose="020B0604020202020204" pitchFamily="34" charset="0"/>
              </a:rPr>
              <a:t>Выравнивает текст по центру.</a:t>
            </a:r>
          </a:p>
          <a:p>
            <a:pPr algn="just">
              <a:lnSpc>
                <a:spcPct val="150000"/>
              </a:lnSpc>
            </a:pPr>
            <a:r>
              <a:rPr lang="ru-RU" sz="1800" dirty="0">
                <a:latin typeface="Arial" panose="020B0604020202020204" pitchFamily="34" charset="0"/>
                <a:cs typeface="Arial" panose="020B0604020202020204" pitchFamily="34" charset="0"/>
              </a:rPr>
              <a:t>  • </a:t>
            </a:r>
            <a:r>
              <a:rPr lang="en-GB" sz="1800" dirty="0">
                <a:latin typeface="Arial" panose="020B0604020202020204" pitchFamily="34" charset="0"/>
                <a:cs typeface="Arial" panose="020B0604020202020204" pitchFamily="34" charset="0"/>
              </a:rPr>
              <a:t>text-align: justify; – </a:t>
            </a:r>
            <a:r>
              <a:rPr lang="ru-RU" sz="1800" dirty="0">
                <a:latin typeface="Arial" panose="020B0604020202020204" pitchFamily="34" charset="0"/>
                <a:cs typeface="Arial" panose="020B0604020202020204" pitchFamily="34" charset="0"/>
              </a:rPr>
              <a:t>Растягивает текст, чтобы заполнить всю ширину строки, добавляя пробелы между словами. Не работает для последней строки.</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07632881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vertical-align</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fontScale="70000" lnSpcReduction="20000"/>
          </a:bodyPr>
          <a:lstStyle/>
          <a:p>
            <a:pPr algn="just">
              <a:lnSpc>
                <a:spcPct val="150000"/>
              </a:lnSpc>
            </a:pPr>
            <a:r>
              <a:rPr lang="ru-RU" sz="1800" dirty="0">
                <a:latin typeface="Arial" panose="020B0604020202020204" pitchFamily="34" charset="0"/>
                <a:cs typeface="Arial" panose="020B0604020202020204" pitchFamily="34" charset="0"/>
              </a:rPr>
              <a:t>Принимает значения:</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baseline; (</a:t>
            </a:r>
            <a:r>
              <a:rPr lang="ru-RU" sz="1800" dirty="0">
                <a:latin typeface="Arial" panose="020B0604020202020204" pitchFamily="34" charset="0"/>
                <a:cs typeface="Arial" panose="020B0604020202020204" pitchFamily="34" charset="0"/>
              </a:rPr>
              <a:t>по умолчанию) – Выравнивает элемент по базовой линии родительского элемента.</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top; – </a:t>
            </a:r>
            <a:r>
              <a:rPr lang="ru-RU" sz="1800" dirty="0">
                <a:latin typeface="Arial" panose="020B0604020202020204" pitchFamily="34" charset="0"/>
                <a:cs typeface="Arial" panose="020B0604020202020204" pitchFamily="34" charset="0"/>
              </a:rPr>
              <a:t>Выравнивает элемент по верхнему краю родительского элемента.</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middle; – </a:t>
            </a:r>
            <a:r>
              <a:rPr lang="ru-RU" sz="1800" dirty="0">
                <a:latin typeface="Arial" panose="020B0604020202020204" pitchFamily="34" charset="0"/>
                <a:cs typeface="Arial" panose="020B0604020202020204" pitchFamily="34" charset="0"/>
              </a:rPr>
              <a:t>Выравнивает элемент по середине родительского элемента.</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bottom; – </a:t>
            </a:r>
            <a:r>
              <a:rPr lang="ru-RU" sz="1800" dirty="0">
                <a:latin typeface="Arial" panose="020B0604020202020204" pitchFamily="34" charset="0"/>
                <a:cs typeface="Arial" panose="020B0604020202020204" pitchFamily="34" charset="0"/>
              </a:rPr>
              <a:t>Выравнивает элемент по нижнему краю родительского элемента.</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super;, vertical-align: sub; – </a:t>
            </a:r>
            <a:r>
              <a:rPr lang="ru-RU" sz="1800" dirty="0">
                <a:latin typeface="Arial" panose="020B0604020202020204" pitchFamily="34" charset="0"/>
                <a:cs typeface="Arial" panose="020B0604020202020204" pitchFamily="34" charset="0"/>
              </a:rPr>
              <a:t>Используются для создания верхних и нижних индексов.</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&lt;length&gt;; – </a:t>
            </a:r>
            <a:r>
              <a:rPr lang="ru-RU" sz="1800" dirty="0">
                <a:latin typeface="Arial" panose="020B0604020202020204" pitchFamily="34" charset="0"/>
                <a:cs typeface="Arial" panose="020B0604020202020204" pitchFamily="34" charset="0"/>
              </a:rPr>
              <a:t>Сдвигает элемент вертикально на указанное расстояние.</a:t>
            </a:r>
          </a:p>
          <a:p>
            <a:pPr marL="285750" indent="-285750" algn="just">
              <a:lnSpc>
                <a:spcPct val="150000"/>
              </a:lnSpc>
              <a:buFont typeface="Arial" panose="020B0604020202020204" pitchFamily="34" charset="0"/>
              <a:buChar char="•"/>
            </a:pPr>
            <a:r>
              <a:rPr lang="en-GB" sz="1800" dirty="0">
                <a:latin typeface="Arial" panose="020B0604020202020204" pitchFamily="34" charset="0"/>
                <a:cs typeface="Arial" panose="020B0604020202020204" pitchFamily="34" charset="0"/>
              </a:rPr>
              <a:t>vertical-align: &lt;percentage&gt;; - </a:t>
            </a:r>
            <a:r>
              <a:rPr lang="ru-RU" sz="1800" dirty="0">
                <a:latin typeface="Arial" panose="020B0604020202020204" pitchFamily="34" charset="0"/>
                <a:cs typeface="Arial" panose="020B0604020202020204" pitchFamily="34" charset="0"/>
              </a:rPr>
              <a:t>Сдвигает элемент вертикально на указанный процент от высоты строки.</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84182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Flexbox</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ru-RU" sz="1800" dirty="0">
                <a:latin typeface="Arial" panose="020B0604020202020204" pitchFamily="34" charset="0"/>
                <a:cs typeface="Arial" panose="020B0604020202020204" pitchFamily="34" charset="0"/>
              </a:rPr>
              <a:t>Модуль </a:t>
            </a:r>
            <a:r>
              <a:rPr lang="en-GB" sz="1800" dirty="0">
                <a:latin typeface="Arial" panose="020B0604020202020204" pitchFamily="34" charset="0"/>
                <a:cs typeface="Arial" panose="020B0604020202020204" pitchFamily="34" charset="0"/>
              </a:rPr>
              <a:t>CSS, </a:t>
            </a:r>
            <a:r>
              <a:rPr lang="ru-RU" sz="1800" dirty="0">
                <a:latin typeface="Arial" panose="020B0604020202020204" pitchFamily="34" charset="0"/>
                <a:cs typeface="Arial" panose="020B0604020202020204" pitchFamily="34" charset="0"/>
              </a:rPr>
              <a:t>предназначенный для создания гибких и адаптивных одномерных макетов (расположение элементов либо в строку, либо в столбец).</a:t>
            </a:r>
          </a:p>
          <a:p>
            <a:pPr algn="just">
              <a:lnSpc>
                <a:spcPct val="150000"/>
              </a:lnSpc>
            </a:pPr>
            <a:r>
              <a:rPr lang="ru-RU" sz="1800" dirty="0">
                <a:latin typeface="Arial" panose="020B0604020202020204" pitchFamily="34" charset="0"/>
                <a:cs typeface="Arial" panose="020B0604020202020204" pitchFamily="34" charset="0"/>
              </a:rPr>
              <a:t>Ключевые концепции </a:t>
            </a:r>
            <a:r>
              <a:rPr lang="en-GB" sz="1800" dirty="0">
                <a:latin typeface="Arial" panose="020B0604020202020204" pitchFamily="34" charset="0"/>
                <a:cs typeface="Arial" panose="020B0604020202020204" pitchFamily="34" charset="0"/>
              </a:rPr>
              <a:t>Flexbox:</a:t>
            </a:r>
            <a:endParaRPr lang="ru-RU" sz="1800" dirty="0">
              <a:latin typeface="Arial" panose="020B0604020202020204" pitchFamily="34" charset="0"/>
              <a:cs typeface="Arial" panose="020B0604020202020204" pitchFamily="34" charset="0"/>
            </a:endParaRPr>
          </a:p>
          <a:p>
            <a:pPr algn="just">
              <a:lnSpc>
                <a:spcPct val="150000"/>
              </a:lnSpc>
            </a:pPr>
            <a:r>
              <a:rPr lang="en-GB" sz="1800" dirty="0">
                <a:latin typeface="Arial" panose="020B0604020202020204" pitchFamily="34" charset="0"/>
                <a:cs typeface="Arial" panose="020B0604020202020204" pitchFamily="34" charset="0"/>
              </a:rPr>
              <a:t>Flex Container:</a:t>
            </a:r>
            <a:r>
              <a:rPr lang="ru-RU" sz="1800" dirty="0">
                <a:latin typeface="Arial" panose="020B0604020202020204" pitchFamily="34" charset="0"/>
                <a:cs typeface="Arial" panose="020B0604020202020204" pitchFamily="34" charset="0"/>
              </a:rPr>
              <a:t> Родительский элемент, к которому применяется </a:t>
            </a:r>
            <a:r>
              <a:rPr lang="en-GB" sz="1800" dirty="0">
                <a:latin typeface="Arial" panose="020B0604020202020204" pitchFamily="34" charset="0"/>
                <a:cs typeface="Arial" panose="020B0604020202020204" pitchFamily="34" charset="0"/>
              </a:rPr>
              <a:t>display: flex; </a:t>
            </a:r>
            <a:r>
              <a:rPr lang="ru-RU" sz="1800" dirty="0">
                <a:latin typeface="Arial" panose="020B0604020202020204" pitchFamily="34" charset="0"/>
                <a:cs typeface="Arial" panose="020B0604020202020204" pitchFamily="34" charset="0"/>
              </a:rPr>
              <a:t>или </a:t>
            </a:r>
            <a:r>
              <a:rPr lang="en-GB" sz="1800" dirty="0">
                <a:latin typeface="Arial" panose="020B0604020202020204" pitchFamily="34" charset="0"/>
                <a:cs typeface="Arial" panose="020B0604020202020204" pitchFamily="34" charset="0"/>
              </a:rPr>
              <a:t>display: inline-flex;.</a:t>
            </a:r>
            <a:endParaRPr lang="ru-RU" sz="1800" dirty="0">
              <a:latin typeface="Arial" panose="020B0604020202020204" pitchFamily="34" charset="0"/>
              <a:cs typeface="Arial" panose="020B0604020202020204" pitchFamily="34" charset="0"/>
            </a:endParaRPr>
          </a:p>
          <a:p>
            <a:pPr algn="just">
              <a:lnSpc>
                <a:spcPct val="150000"/>
              </a:lnSpc>
            </a:pPr>
            <a:r>
              <a:rPr lang="en-GB" sz="1800" dirty="0">
                <a:latin typeface="Arial" panose="020B0604020202020204" pitchFamily="34" charset="0"/>
                <a:cs typeface="Arial" panose="020B0604020202020204" pitchFamily="34" charset="0"/>
              </a:rPr>
              <a:t>Flex Items:</a:t>
            </a:r>
            <a:r>
              <a:rPr lang="ru-RU" sz="1800" dirty="0">
                <a:latin typeface="Arial" panose="020B0604020202020204" pitchFamily="34" charset="0"/>
                <a:cs typeface="Arial" panose="020B0604020202020204" pitchFamily="34" charset="0"/>
              </a:rPr>
              <a:t> Дочерние элементы </a:t>
            </a:r>
            <a:r>
              <a:rPr lang="en-GB" sz="1800" dirty="0">
                <a:latin typeface="Arial" panose="020B0604020202020204" pitchFamily="34" charset="0"/>
                <a:cs typeface="Arial" panose="020B0604020202020204" pitchFamily="34" charset="0"/>
              </a:rPr>
              <a:t>flex-</a:t>
            </a:r>
            <a:r>
              <a:rPr lang="ru-RU" sz="1800" dirty="0">
                <a:latin typeface="Arial" panose="020B0604020202020204" pitchFamily="34" charset="0"/>
                <a:cs typeface="Arial" panose="020B0604020202020204" pitchFamily="34" charset="0"/>
              </a:rPr>
              <a:t>контейнера.</a:t>
            </a:r>
          </a:p>
          <a:p>
            <a:pPr algn="just">
              <a:lnSpc>
                <a:spcPct val="150000"/>
              </a:lnSpc>
            </a:pP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575045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Flexbox</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en-GB" sz="1800" dirty="0">
                <a:latin typeface="Arial" panose="020B0604020202020204" pitchFamily="34" charset="0"/>
                <a:cs typeface="Arial" panose="020B0604020202020204" pitchFamily="34" charset="0"/>
              </a:rPr>
              <a:t>flex-direction</a:t>
            </a:r>
          </a:p>
        </p:txBody>
      </p:sp>
      <p:pic>
        <p:nvPicPr>
          <p:cNvPr id="4" name="Picture 2">
            <a:extLst>
              <a:ext uri="{FF2B5EF4-FFF2-40B4-BE49-F238E27FC236}">
                <a16:creationId xmlns:a16="http://schemas.microsoft.com/office/drawing/2014/main" id="{1F80F63A-4FD8-264B-8C9A-E1122EE1BF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00" y="3238922"/>
            <a:ext cx="6223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293679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Flexbox</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en-GB" sz="1800" dirty="0">
                <a:latin typeface="Arial" panose="020B0604020202020204" pitchFamily="34" charset="0"/>
                <a:cs typeface="Arial" panose="020B0604020202020204" pitchFamily="34" charset="0"/>
              </a:rPr>
              <a:t>flex-wrap</a:t>
            </a:r>
          </a:p>
        </p:txBody>
      </p:sp>
      <p:pic>
        <p:nvPicPr>
          <p:cNvPr id="6" name="Picture 2">
            <a:extLst>
              <a:ext uri="{FF2B5EF4-FFF2-40B4-BE49-F238E27FC236}">
                <a16:creationId xmlns:a16="http://schemas.microsoft.com/office/drawing/2014/main" id="{C6C9E479-4ADC-E74B-B9DA-B5B47C31E9C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4500" y="3128772"/>
            <a:ext cx="6223000" cy="3238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918750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Flexbox</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en-GB" sz="1800" dirty="0">
                <a:latin typeface="Arial" panose="020B0604020202020204" pitchFamily="34" charset="0"/>
                <a:cs typeface="Arial" panose="020B0604020202020204" pitchFamily="34" charset="0"/>
              </a:rPr>
              <a:t>justify-content</a:t>
            </a:r>
          </a:p>
        </p:txBody>
      </p:sp>
      <p:pic>
        <p:nvPicPr>
          <p:cNvPr id="7" name="Picture 2">
            <a:extLst>
              <a:ext uri="{FF2B5EF4-FFF2-40B4-BE49-F238E27FC236}">
                <a16:creationId xmlns:a16="http://schemas.microsoft.com/office/drawing/2014/main" id="{5D6317B9-F8FB-574E-8C4A-7421CCD229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56257" y="2038402"/>
            <a:ext cx="2879486" cy="48195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5236928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Flexbox</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en-GB" sz="1800" dirty="0">
                <a:latin typeface="Arial" panose="020B0604020202020204" pitchFamily="34" charset="0"/>
                <a:cs typeface="Arial" panose="020B0604020202020204" pitchFamily="34" charset="0"/>
              </a:rPr>
              <a:t>align-items</a:t>
            </a:r>
          </a:p>
        </p:txBody>
      </p:sp>
      <p:pic>
        <p:nvPicPr>
          <p:cNvPr id="6" name="Picture 2">
            <a:extLst>
              <a:ext uri="{FF2B5EF4-FFF2-40B4-BE49-F238E27FC236}">
                <a16:creationId xmlns:a16="http://schemas.microsoft.com/office/drawing/2014/main" id="{2F22F793-B9C7-1F43-9C2B-5176FFD6B5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92708" y="2638044"/>
            <a:ext cx="3006584" cy="39878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34504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Flexbox</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en-GB" sz="1800" dirty="0">
                <a:latin typeface="Arial" panose="020B0604020202020204" pitchFamily="34" charset="0"/>
                <a:cs typeface="Arial" panose="020B0604020202020204" pitchFamily="34" charset="0"/>
              </a:rPr>
              <a:t>align-content</a:t>
            </a:r>
          </a:p>
        </p:txBody>
      </p:sp>
      <p:pic>
        <p:nvPicPr>
          <p:cNvPr id="7" name="Picture 2">
            <a:extLst>
              <a:ext uri="{FF2B5EF4-FFF2-40B4-BE49-F238E27FC236}">
                <a16:creationId xmlns:a16="http://schemas.microsoft.com/office/drawing/2014/main" id="{C0166916-6FB0-7443-9794-E74A363412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34394" y="2639028"/>
            <a:ext cx="3123211" cy="42189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889768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Grid</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endParaRPr lang="en-GB" sz="1800" dirty="0">
              <a:latin typeface="Arial" panose="020B0604020202020204" pitchFamily="34" charset="0"/>
              <a:cs typeface="Arial" panose="020B0604020202020204" pitchFamily="34" charset="0"/>
            </a:endParaRPr>
          </a:p>
        </p:txBody>
      </p:sp>
      <p:pic>
        <p:nvPicPr>
          <p:cNvPr id="6" name="Picture 2" descr="CSS Grid Layout · GitHub">
            <a:extLst>
              <a:ext uri="{FF2B5EF4-FFF2-40B4-BE49-F238E27FC236}">
                <a16:creationId xmlns:a16="http://schemas.microsoft.com/office/drawing/2014/main" id="{8BFB9A12-A3FD-1340-B73F-B131111EDD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31493" y="2346126"/>
            <a:ext cx="6129013" cy="44380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76510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en-GB" dirty="0"/>
              <a:t>Grid</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r>
              <a:rPr lang="en-GB" sz="1800" dirty="0">
                <a:effectLst/>
                <a:latin typeface="Arial" panose="020B0604020202020204" pitchFamily="34" charset="0"/>
                <a:cs typeface="Arial" panose="020B0604020202020204" pitchFamily="34" charset="0"/>
              </a:rPr>
              <a:t>justify-content</a:t>
            </a:r>
            <a:endParaRPr lang="ru-RU" sz="1800" dirty="0">
              <a:latin typeface="Arial" panose="020B0604020202020204" pitchFamily="34" charset="0"/>
              <a:cs typeface="Arial" panose="020B0604020202020204" pitchFamily="34" charset="0"/>
            </a:endParaRPr>
          </a:p>
          <a:p>
            <a:pPr algn="just">
              <a:lnSpc>
                <a:spcPct val="150000"/>
              </a:lnSpc>
            </a:pPr>
            <a:endParaRPr lang="en-GB" sz="1800" dirty="0">
              <a:latin typeface="Arial" panose="020B0604020202020204" pitchFamily="34" charset="0"/>
              <a:cs typeface="Arial" panose="020B0604020202020204" pitchFamily="34" charset="0"/>
            </a:endParaRPr>
          </a:p>
        </p:txBody>
      </p:sp>
      <p:pic>
        <p:nvPicPr>
          <p:cNvPr id="7" name="Picture 2" descr="Как я запомнил свойства CSS Grid | CAT.IN.WEB">
            <a:extLst>
              <a:ext uri="{FF2B5EF4-FFF2-40B4-BE49-F238E27FC236}">
                <a16:creationId xmlns:a16="http://schemas.microsoft.com/office/drawing/2014/main" id="{9590A7A2-C998-3F4E-8204-548C512F3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4277" y="3152225"/>
            <a:ext cx="5463445" cy="37057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3123523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p:txBody>
          <a:bodyPr/>
          <a:lstStyle/>
          <a:p>
            <a:r>
              <a:rPr lang="ru-RU" dirty="0"/>
              <a:t>Подключение внешних стилей</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2231136" y="2638044"/>
            <a:ext cx="7729728" cy="4219956"/>
          </a:xfrm>
        </p:spPr>
        <p:txBody>
          <a:bodyPr>
            <a:normAutofit/>
          </a:bodyPr>
          <a:lstStyle/>
          <a:p>
            <a:pPr algn="just">
              <a:lnSpc>
                <a:spcPct val="150000"/>
              </a:lnSpc>
            </a:pPr>
            <a:endParaRPr lang="en-GB" sz="1800" dirty="0">
              <a:latin typeface="Arial" panose="020B0604020202020204" pitchFamily="34" charset="0"/>
              <a:cs typeface="Arial" panose="020B0604020202020204" pitchFamily="34" charset="0"/>
            </a:endParaRPr>
          </a:p>
        </p:txBody>
      </p:sp>
      <p:pic>
        <p:nvPicPr>
          <p:cNvPr id="6" name="Picture 5">
            <a:extLst>
              <a:ext uri="{FF2B5EF4-FFF2-40B4-BE49-F238E27FC236}">
                <a16:creationId xmlns:a16="http://schemas.microsoft.com/office/drawing/2014/main" id="{BC396498-7FDF-BF49-8C35-8616B00F9D27}"/>
              </a:ext>
            </a:extLst>
          </p:cNvPr>
          <p:cNvPicPr>
            <a:picLocks noChangeAspect="1"/>
          </p:cNvPicPr>
          <p:nvPr/>
        </p:nvPicPr>
        <p:blipFill>
          <a:blip r:embed="rId2"/>
          <a:stretch>
            <a:fillRect/>
          </a:stretch>
        </p:blipFill>
        <p:spPr>
          <a:xfrm>
            <a:off x="6545590" y="4227864"/>
            <a:ext cx="3023132" cy="1637951"/>
          </a:xfrm>
          <a:prstGeom prst="rect">
            <a:avLst/>
          </a:prstGeom>
          <a:ln>
            <a:solidFill>
              <a:schemeClr val="tx1"/>
            </a:solidFill>
          </a:ln>
        </p:spPr>
      </p:pic>
      <p:pic>
        <p:nvPicPr>
          <p:cNvPr id="8" name="Picture 7">
            <a:extLst>
              <a:ext uri="{FF2B5EF4-FFF2-40B4-BE49-F238E27FC236}">
                <a16:creationId xmlns:a16="http://schemas.microsoft.com/office/drawing/2014/main" id="{79CBEE22-266E-4A4B-89EF-3FCE1B96DF71}"/>
              </a:ext>
            </a:extLst>
          </p:cNvPr>
          <p:cNvPicPr>
            <a:picLocks noChangeAspect="1"/>
          </p:cNvPicPr>
          <p:nvPr/>
        </p:nvPicPr>
        <p:blipFill>
          <a:blip r:embed="rId3"/>
          <a:stretch>
            <a:fillRect/>
          </a:stretch>
        </p:blipFill>
        <p:spPr>
          <a:xfrm>
            <a:off x="2504124" y="2847779"/>
            <a:ext cx="7183752" cy="969998"/>
          </a:xfrm>
          <a:prstGeom prst="rect">
            <a:avLst/>
          </a:prstGeom>
        </p:spPr>
      </p:pic>
      <p:pic>
        <p:nvPicPr>
          <p:cNvPr id="9" name="Picture 8">
            <a:extLst>
              <a:ext uri="{FF2B5EF4-FFF2-40B4-BE49-F238E27FC236}">
                <a16:creationId xmlns:a16="http://schemas.microsoft.com/office/drawing/2014/main" id="{7D9A7D8E-0F7F-834E-840D-1DD5719F2B45}"/>
              </a:ext>
            </a:extLst>
          </p:cNvPr>
          <p:cNvPicPr>
            <a:picLocks noChangeAspect="1"/>
          </p:cNvPicPr>
          <p:nvPr/>
        </p:nvPicPr>
        <p:blipFill>
          <a:blip r:embed="rId4"/>
          <a:stretch>
            <a:fillRect/>
          </a:stretch>
        </p:blipFill>
        <p:spPr>
          <a:xfrm>
            <a:off x="2504124" y="4137503"/>
            <a:ext cx="3632762" cy="1834016"/>
          </a:xfrm>
          <a:prstGeom prst="rect">
            <a:avLst/>
          </a:prstGeom>
        </p:spPr>
      </p:pic>
    </p:spTree>
    <p:extLst>
      <p:ext uri="{BB962C8B-B14F-4D97-AF65-F5344CB8AC3E}">
        <p14:creationId xmlns:p14="http://schemas.microsoft.com/office/powerpoint/2010/main" val="281600723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1CFFA1-3168-5749-9AB5-B63B4D44F3CE}"/>
              </a:ext>
            </a:extLst>
          </p:cNvPr>
          <p:cNvSpPr>
            <a:spLocks noGrp="1"/>
          </p:cNvSpPr>
          <p:nvPr>
            <p:ph type="title"/>
          </p:nvPr>
        </p:nvSpPr>
        <p:spPr>
          <a:xfrm>
            <a:off x="2231136" y="328588"/>
            <a:ext cx="7729728" cy="1188720"/>
          </a:xfrm>
        </p:spPr>
        <p:txBody>
          <a:bodyPr/>
          <a:lstStyle/>
          <a:p>
            <a:r>
              <a:rPr lang="ru-RU" dirty="0"/>
              <a:t>Задание</a:t>
            </a:r>
            <a:endParaRPr lang="en-RU" dirty="0"/>
          </a:p>
        </p:txBody>
      </p:sp>
      <p:sp>
        <p:nvSpPr>
          <p:cNvPr id="5" name="Content Placeholder 4">
            <a:extLst>
              <a:ext uri="{FF2B5EF4-FFF2-40B4-BE49-F238E27FC236}">
                <a16:creationId xmlns:a16="http://schemas.microsoft.com/office/drawing/2014/main" id="{89B36E75-DDF9-EF43-8A54-F5C4BB371312}"/>
              </a:ext>
            </a:extLst>
          </p:cNvPr>
          <p:cNvSpPr>
            <a:spLocks noGrp="1"/>
          </p:cNvSpPr>
          <p:nvPr>
            <p:ph idx="1"/>
          </p:nvPr>
        </p:nvSpPr>
        <p:spPr>
          <a:xfrm>
            <a:off x="1232451" y="1828800"/>
            <a:ext cx="9730409" cy="5029200"/>
          </a:xfrm>
        </p:spPr>
        <p:txBody>
          <a:bodyPr>
            <a:normAutofit fontScale="85000" lnSpcReduction="10000"/>
          </a:bodyPr>
          <a:lstStyle/>
          <a:p>
            <a:pPr algn="just">
              <a:lnSpc>
                <a:spcPct val="150000"/>
              </a:lnSpc>
            </a:pPr>
            <a:r>
              <a:rPr lang="ru-RU" dirty="0">
                <a:latin typeface="Arial" panose="020B0604020202020204" pitchFamily="34" charset="0"/>
                <a:cs typeface="Arial" panose="020B0604020202020204" pitchFamily="34" charset="0"/>
              </a:rPr>
              <a:t>Доработать страницы с прошлого занятия:</a:t>
            </a:r>
            <a:endParaRPr lang="en-US" dirty="0">
              <a:latin typeface="Arial" panose="020B0604020202020204" pitchFamily="34" charset="0"/>
              <a:cs typeface="Arial" panose="020B0604020202020204" pitchFamily="34" charset="0"/>
            </a:endParaRPr>
          </a:p>
          <a:p>
            <a:pPr algn="just">
              <a:lnSpc>
                <a:spcPct val="150000"/>
              </a:lnSpc>
            </a:pPr>
            <a:r>
              <a:rPr lang="en-US" dirty="0">
                <a:latin typeface="Arial" panose="020B0604020202020204" pitchFamily="34" charset="0"/>
                <a:cs typeface="Arial" panose="020B0604020202020204" pitchFamily="34" charset="0"/>
              </a:rPr>
              <a:t>1) </a:t>
            </a:r>
            <a:r>
              <a:rPr lang="ru-RU" dirty="0">
                <a:latin typeface="Arial" panose="020B0604020202020204" pitchFamily="34" charset="0"/>
                <a:cs typeface="Arial" panose="020B0604020202020204" pitchFamily="34" charset="0"/>
              </a:rPr>
              <a:t>определить тематику ресурса</a:t>
            </a:r>
          </a:p>
          <a:p>
            <a:pPr algn="just">
              <a:lnSpc>
                <a:spcPct val="150000"/>
              </a:lnSpc>
            </a:pPr>
            <a:r>
              <a:rPr lang="ru-RU" sz="1800" dirty="0">
                <a:latin typeface="Arial" panose="020B0604020202020204" pitchFamily="34" charset="0"/>
                <a:cs typeface="Arial" panose="020B0604020202020204" pitchFamily="34" charset="0"/>
              </a:rPr>
              <a:t>2) добавить навигационное меню сверху – </a:t>
            </a:r>
            <a:r>
              <a:rPr lang="en-US" sz="1800" dirty="0">
                <a:latin typeface="Arial" panose="020B0604020202020204" pitchFamily="34" charset="0"/>
                <a:cs typeface="Arial" panose="020B0604020202020204" pitchFamily="34" charset="0"/>
              </a:rPr>
              <a:t>flexbox</a:t>
            </a:r>
            <a:endParaRPr lang="ru-RU" sz="1800" dirty="0">
              <a:latin typeface="Arial" panose="020B0604020202020204" pitchFamily="34" charset="0"/>
              <a:cs typeface="Arial" panose="020B0604020202020204" pitchFamily="34" charset="0"/>
            </a:endParaRPr>
          </a:p>
          <a:p>
            <a:pPr lvl="1" algn="just">
              <a:lnSpc>
                <a:spcPct val="150000"/>
              </a:lnSpc>
            </a:pPr>
            <a:r>
              <a:rPr lang="ru-RU" dirty="0">
                <a:latin typeface="Arial" panose="020B0604020202020204" pitchFamily="34" charset="0"/>
                <a:cs typeface="Arial" panose="020B0604020202020204" pitchFamily="34" charset="0"/>
              </a:rPr>
              <a:t>Должно содержать кнопки: «на главную», «регистрация»</a:t>
            </a:r>
            <a:endParaRPr lang="en-US" dirty="0">
              <a:latin typeface="Arial" panose="020B0604020202020204" pitchFamily="34" charset="0"/>
              <a:cs typeface="Arial" panose="020B0604020202020204" pitchFamily="34" charset="0"/>
            </a:endParaRPr>
          </a:p>
          <a:p>
            <a:pPr algn="just">
              <a:lnSpc>
                <a:spcPct val="150000"/>
              </a:lnSpc>
            </a:pPr>
            <a:r>
              <a:rPr lang="ru-RU" dirty="0">
                <a:latin typeface="Arial" panose="020B0604020202020204" pitchFamily="34" charset="0"/>
                <a:cs typeface="Arial" panose="020B0604020202020204" pitchFamily="34" charset="0"/>
              </a:rPr>
              <a:t>3</a:t>
            </a:r>
            <a:r>
              <a:rPr lang="en-US" dirty="0">
                <a:latin typeface="Arial" panose="020B0604020202020204" pitchFamily="34" charset="0"/>
                <a:cs typeface="Arial" panose="020B0604020202020204" pitchFamily="34" charset="0"/>
              </a:rPr>
              <a:t>) </a:t>
            </a:r>
            <a:r>
              <a:rPr lang="ru-RU" dirty="0">
                <a:latin typeface="Arial" panose="020B0604020202020204" pitchFamily="34" charset="0"/>
                <a:cs typeface="Arial" panose="020B0604020202020204" pitchFamily="34" charset="0"/>
              </a:rPr>
              <a:t>кнопка справа в меню должна открывать форму регистрации</a:t>
            </a:r>
          </a:p>
          <a:p>
            <a:pPr algn="just">
              <a:lnSpc>
                <a:spcPct val="150000"/>
              </a:lnSpc>
            </a:pPr>
            <a:r>
              <a:rPr lang="ru-RU" sz="1800" dirty="0">
                <a:latin typeface="Arial" panose="020B0604020202020204" pitchFamily="34" charset="0"/>
                <a:cs typeface="Arial" panose="020B0604020202020204" pitchFamily="34" charset="0"/>
              </a:rPr>
              <a:t>4) на форме регистрации предусмотреть ввод </a:t>
            </a:r>
            <a:r>
              <a:rPr lang="ru-RU" dirty="0">
                <a:latin typeface="Arial" panose="020B0604020202020204" pitchFamily="34" charset="0"/>
                <a:cs typeface="Arial" panose="020B0604020202020204" pitchFamily="34" charset="0"/>
              </a:rPr>
              <a:t>текста, </a:t>
            </a:r>
            <a:r>
              <a:rPr lang="en-US" dirty="0">
                <a:latin typeface="Arial" panose="020B0604020202020204" pitchFamily="34" charset="0"/>
                <a:cs typeface="Arial" panose="020B0604020202020204" pitchFamily="34" charset="0"/>
              </a:rPr>
              <a:t>email, </a:t>
            </a:r>
            <a:r>
              <a:rPr lang="ru-RU" dirty="0">
                <a:latin typeface="Arial" panose="020B0604020202020204" pitchFamily="34" charset="0"/>
                <a:cs typeface="Arial" panose="020B0604020202020204" pitchFamily="34" charset="0"/>
              </a:rPr>
              <a:t>пароля, изображения, использование радиокнопок и </a:t>
            </a:r>
            <a:r>
              <a:rPr lang="ru-RU" dirty="0" err="1">
                <a:latin typeface="Arial" panose="020B0604020202020204" pitchFamily="34" charset="0"/>
                <a:cs typeface="Arial" panose="020B0604020202020204" pitchFamily="34" charset="0"/>
              </a:rPr>
              <a:t>чекбоксов</a:t>
            </a:r>
            <a:r>
              <a:rPr lang="ru-RU" dirty="0">
                <a:latin typeface="Arial" panose="020B0604020202020204" pitchFamily="34" charset="0"/>
                <a:cs typeface="Arial" panose="020B0604020202020204" pitchFamily="34" charset="0"/>
              </a:rPr>
              <a:t> (пол, согласие на получение рассылки)</a:t>
            </a:r>
          </a:p>
          <a:p>
            <a:pPr algn="just">
              <a:lnSpc>
                <a:spcPct val="150000"/>
              </a:lnSpc>
            </a:pPr>
            <a:r>
              <a:rPr lang="ru-RU" dirty="0">
                <a:latin typeface="Arial" panose="020B0604020202020204" pitchFamily="34" charset="0"/>
                <a:cs typeface="Arial" panose="020B0604020202020204" pitchFamily="34" charset="0"/>
              </a:rPr>
              <a:t>5) на главной странице оформить несколько блоков текста с изображением в виде превью статей</a:t>
            </a:r>
          </a:p>
          <a:p>
            <a:pPr algn="just">
              <a:lnSpc>
                <a:spcPct val="150000"/>
              </a:lnSpc>
            </a:pPr>
            <a:r>
              <a:rPr lang="ru-RU" sz="1800" dirty="0">
                <a:latin typeface="Arial" panose="020B0604020202020204" pitchFamily="34" charset="0"/>
                <a:cs typeface="Arial" panose="020B0604020202020204" pitchFamily="34" charset="0"/>
              </a:rPr>
              <a:t>6) текст должен «</a:t>
            </a:r>
            <a:r>
              <a:rPr lang="ru-RU" sz="1800" dirty="0" err="1">
                <a:latin typeface="Arial" panose="020B0604020202020204" pitchFamily="34" charset="0"/>
                <a:cs typeface="Arial" panose="020B0604020202020204" pitchFamily="34" charset="0"/>
              </a:rPr>
              <a:t>оптикать</a:t>
            </a:r>
            <a:r>
              <a:rPr lang="ru-RU" sz="1800" dirty="0">
                <a:latin typeface="Arial" panose="020B0604020202020204" pitchFamily="34" charset="0"/>
                <a:cs typeface="Arial" panose="020B0604020202020204" pitchFamily="34" charset="0"/>
              </a:rPr>
              <a:t>» изображение</a:t>
            </a:r>
          </a:p>
          <a:p>
            <a:pPr algn="just">
              <a:lnSpc>
                <a:spcPct val="150000"/>
              </a:lnSpc>
            </a:pPr>
            <a:r>
              <a:rPr lang="ru-RU" sz="1800" dirty="0">
                <a:latin typeface="Arial" panose="020B0604020202020204" pitchFamily="34" charset="0"/>
                <a:cs typeface="Arial" panose="020B0604020202020204" pitchFamily="34" charset="0"/>
              </a:rPr>
              <a:t>7) при открытии каждой статьи открывается новая станица с полным текстом статьи</a:t>
            </a:r>
          </a:p>
          <a:p>
            <a:pPr algn="just">
              <a:lnSpc>
                <a:spcPct val="150000"/>
              </a:lnSpc>
            </a:pPr>
            <a:r>
              <a:rPr lang="ru-RU" sz="1800" dirty="0">
                <a:latin typeface="Arial" panose="020B0604020202020204" pitchFamily="34" charset="0"/>
                <a:cs typeface="Arial" panose="020B0604020202020204" pitchFamily="34" charset="0"/>
              </a:rPr>
              <a:t>* адаптивная верстка главной страницы</a:t>
            </a:r>
            <a:endParaRPr lang="en-GB" sz="1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4719899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{301D43FB-F43A-1446-96C0-D28F93A28D39}tf10001120</Template>
  <TotalTime>377</TotalTime>
  <Words>1920</Words>
  <Application>Microsoft Office PowerPoint</Application>
  <PresentationFormat>Widescreen</PresentationFormat>
  <Paragraphs>221</Paragraphs>
  <Slides>64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64</vt:i4>
      </vt:variant>
    </vt:vector>
  </HeadingPairs>
  <TitlesOfParts>
    <vt:vector size="69" baseType="lpstr">
      <vt:lpstr>Arial</vt:lpstr>
      <vt:lpstr>Calibri</vt:lpstr>
      <vt:lpstr>Corbel</vt:lpstr>
      <vt:lpstr>Gill Sans MT</vt:lpstr>
      <vt:lpstr>Parcel</vt:lpstr>
      <vt:lpstr>Основы CSS</vt:lpstr>
      <vt:lpstr>Что такое CSS</vt:lpstr>
      <vt:lpstr>Что такое CSS</vt:lpstr>
      <vt:lpstr>Что такое CSS</vt:lpstr>
      <vt:lpstr>Пример</vt:lpstr>
      <vt:lpstr>Пример</vt:lpstr>
      <vt:lpstr>Пример</vt:lpstr>
      <vt:lpstr>Выбор нескольких элементов</vt:lpstr>
      <vt:lpstr>Выбор нескольких элементов</vt:lpstr>
      <vt:lpstr>ТИПЫ СЕЛЕКТОРОВ</vt:lpstr>
      <vt:lpstr>ID селектор</vt:lpstr>
      <vt:lpstr>ПРИМЕР</vt:lpstr>
      <vt:lpstr>Селектор класса</vt:lpstr>
      <vt:lpstr>ПРИМЕР</vt:lpstr>
      <vt:lpstr>ПРИМЕР</vt:lpstr>
      <vt:lpstr>Селектор атрибута</vt:lpstr>
      <vt:lpstr>Селектор атрибута</vt:lpstr>
      <vt:lpstr>Пример</vt:lpstr>
      <vt:lpstr>Пример</vt:lpstr>
      <vt:lpstr>Пример</vt:lpstr>
      <vt:lpstr>Пример</vt:lpstr>
      <vt:lpstr>Пример</vt:lpstr>
      <vt:lpstr>Пример</vt:lpstr>
      <vt:lpstr>Пример</vt:lpstr>
      <vt:lpstr>Пример</vt:lpstr>
      <vt:lpstr>Пример</vt:lpstr>
      <vt:lpstr>Пример</vt:lpstr>
      <vt:lpstr>Пример</vt:lpstr>
      <vt:lpstr>Пример</vt:lpstr>
      <vt:lpstr>Пример</vt:lpstr>
      <vt:lpstr>Пример</vt:lpstr>
      <vt:lpstr>Селектор псевдокласса</vt:lpstr>
      <vt:lpstr>Селектор псевдокласса</vt:lpstr>
      <vt:lpstr>Селектор псевдоэлемента</vt:lpstr>
      <vt:lpstr>Селектор псевдоэлемента</vt:lpstr>
      <vt:lpstr>Селектор псевдоэлемента</vt:lpstr>
      <vt:lpstr>Селектор псевдоэлемента</vt:lpstr>
      <vt:lpstr>Комбинаторы</vt:lpstr>
      <vt:lpstr>Селектор потомков</vt:lpstr>
      <vt:lpstr>Селектор потомков</vt:lpstr>
      <vt:lpstr>Селектор дочерних элементов</vt:lpstr>
      <vt:lpstr>Селектор дочерних элементов</vt:lpstr>
      <vt:lpstr>Селектор соседних элементов</vt:lpstr>
      <vt:lpstr>Общий селектор соседних элементов</vt:lpstr>
      <vt:lpstr>Наследование и специфичность</vt:lpstr>
      <vt:lpstr>специфичность</vt:lpstr>
      <vt:lpstr>Наследование</vt:lpstr>
      <vt:lpstr>Значения CSS свойств</vt:lpstr>
      <vt:lpstr>Абсолютные единицы длины</vt:lpstr>
      <vt:lpstr>Единицы относительной длины </vt:lpstr>
      <vt:lpstr>Цвет</vt:lpstr>
      <vt:lpstr>Стандартные свойства CSS для выравнивания</vt:lpstr>
      <vt:lpstr>text-align</vt:lpstr>
      <vt:lpstr>vertical-align</vt:lpstr>
      <vt:lpstr>Flexbox</vt:lpstr>
      <vt:lpstr>Flexbox</vt:lpstr>
      <vt:lpstr>Flexbox</vt:lpstr>
      <vt:lpstr>Flexbox</vt:lpstr>
      <vt:lpstr>Flexbox</vt:lpstr>
      <vt:lpstr>Flexbox</vt:lpstr>
      <vt:lpstr>Grid</vt:lpstr>
      <vt:lpstr>Grid</vt:lpstr>
      <vt:lpstr>Подключение внешних стилей</vt:lpstr>
      <vt:lpstr>Задание</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Основы CSS</dc:title>
  <dc:creator>Alexander Volkov</dc:creator>
  <cp:lastModifiedBy>Student</cp:lastModifiedBy>
  <cp:revision>5</cp:revision>
  <dcterms:created xsi:type="dcterms:W3CDTF">2025-09-16T09:45:00Z</dcterms:created>
  <dcterms:modified xsi:type="dcterms:W3CDTF">2026-09-28T13:06:08Z</dcterms:modified>
</cp:coreProperties>
</file>