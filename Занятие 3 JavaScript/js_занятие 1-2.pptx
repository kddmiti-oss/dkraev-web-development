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9" r:id="rId15"/>
    <p:sldId id="282" r:id="rId16"/>
    <p:sldId id="283" r:id="rId17"/>
    <p:sldId id="291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17" r:id="rId27"/>
    <p:sldId id="292" r:id="rId28"/>
    <p:sldId id="293" r:id="rId29"/>
    <p:sldId id="302" r:id="rId30"/>
    <p:sldId id="303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8" r:id="rId44"/>
    <p:sldId id="319" r:id="rId45"/>
    <p:sldId id="320" r:id="rId46"/>
    <p:sldId id="284" r:id="rId47"/>
    <p:sldId id="285" r:id="rId48"/>
    <p:sldId id="286" r:id="rId49"/>
    <p:sldId id="287" r:id="rId50"/>
    <p:sldId id="288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4" r:id="rId64"/>
    <p:sldId id="333" r:id="rId65"/>
    <p:sldId id="335" r:id="rId66"/>
    <p:sldId id="336" r:id="rId67"/>
    <p:sldId id="337" r:id="rId68"/>
    <p:sldId id="338" r:id="rId69"/>
    <p:sldId id="346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7" r:id="rId78"/>
    <p:sldId id="348" r:id="rId79"/>
    <p:sldId id="349" r:id="rId80"/>
    <p:sldId id="350" r:id="rId81"/>
    <p:sldId id="351" r:id="rId82"/>
    <p:sldId id="352" r:id="rId83"/>
    <p:sldId id="353" r:id="rId84"/>
    <p:sldId id="354" r:id="rId85"/>
    <p:sldId id="355" r:id="rId86"/>
    <p:sldId id="356" r:id="rId87"/>
    <p:sldId id="357" r:id="rId88"/>
    <p:sldId id="358" r:id="rId89"/>
    <p:sldId id="359" r:id="rId90"/>
    <p:sldId id="360" r:id="rId91"/>
    <p:sldId id="361" r:id="rId92"/>
    <p:sldId id="362" r:id="rId93"/>
    <p:sldId id="363" r:id="rId94"/>
    <p:sldId id="364" r:id="rId95"/>
    <p:sldId id="365" r:id="rId96"/>
    <p:sldId id="366" r:id="rId97"/>
    <p:sldId id="367" r:id="rId98"/>
    <p:sldId id="368" r:id="rId99"/>
    <p:sldId id="369" r:id="rId100"/>
    <p:sldId id="370" r:id="rId101"/>
    <p:sldId id="371" r:id="rId102"/>
    <p:sldId id="372" r:id="rId103"/>
    <p:sldId id="373" r:id="rId104"/>
    <p:sldId id="374" r:id="rId105"/>
    <p:sldId id="375" r:id="rId106"/>
    <p:sldId id="376" r:id="rId107"/>
    <p:sldId id="377" r:id="rId108"/>
    <p:sldId id="378" r:id="rId109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/>
    <p:restoredTop sz="95934"/>
  </p:normalViewPr>
  <p:slideViewPr>
    <p:cSldViewPr snapToGrid="0" snapToObjects="1">
      <p:cViewPr varScale="1">
        <p:scale>
          <a:sx n="116" d="100"/>
          <a:sy n="116" d="100"/>
        </p:scale>
        <p:origin x="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1CE9-50EB-1643-A068-87668BFC6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326F9-CEF2-D94F-9FB9-8D67A5784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301E2-1DD5-D34E-84CB-7C636E00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35EEA-690C-DE4E-BBA4-FC0096D7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8A33D-D8BA-7B40-97EB-B51457DF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7741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7589-4128-CB4A-A694-04B4C46F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34970-CD3C-FC4D-A6AD-C9E99C3CB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08CAB-5431-E641-BF09-C492FB8D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58278-3A95-D84F-A7D3-076C4944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999D-C6F9-504D-996B-8073A3EC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9700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392B-7356-5B4C-A317-CC2248AD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E5D55-74E4-4E4A-B8DE-2E1F269E9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AA691-CE32-694D-8BD8-93D0FFC7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A5718-E1CF-EC4A-B450-956E7965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E433-B3E1-944F-873F-0B9C2286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9233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E7EBF-214E-F04E-9F5D-AD9ED3D5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C9148-6FBD-0E43-B3F7-62FAC5048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404DA-EFE6-0649-B90F-E3250575A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884A-4D46-4543-99D7-5904F207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E09FF-4F08-2441-89BA-F9FFC78F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C095F-87B7-9646-8392-409F35A7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218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7E88B-DBBD-E04B-8562-2905FCCF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FE992-50B9-3346-B439-87600E75B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DEF4A-C41C-E44B-B73E-3F9EE60EE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E4150F-11AE-FC4C-8344-4CBFCEBC3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7F926-5953-9543-9208-7EB1024F15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F995B-399B-824E-B4B3-7202FE41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38D37-2330-7E49-98F5-4AF0F045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FEDEE-BCF0-9946-840D-3618ADED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3799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EFA4-5EA6-F643-B134-87DEABD8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595AC-268D-AD4C-8E05-FB26E081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EA35C-E274-AE43-B5FB-F80D17CC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F09DB-9B12-B348-A6F2-AFF25A85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8716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FD4F68-9244-AC41-9F97-066ED4FA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646067-3284-FB49-B26B-14859B86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8828C-7753-D641-A1B9-3287B0A4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4364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0B8E-91FB-2340-A974-E6356209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B8F20-588C-FA4D-9C7E-54EEF308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41CFF-4A54-5148-854B-CE7577A1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47698-08B6-3843-A414-48C60323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2AE46-FB20-4049-A34D-A140DE5A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985D9-7908-CD40-8AD3-7B9390B2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2989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9B32-E81C-894A-B72A-CC5D7C27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35D9D-3EC5-9447-8B49-24D361C7F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E5A61-703E-E34B-80DA-486C6C68A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1060E-6439-0545-A150-FE4635E8A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EDBE-D710-8043-B8A2-82D04D23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5383A-8EC0-E945-AE8A-29E9F029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2737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84C0-EC1F-0A41-9008-51EF712E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B86DC-2D8E-DF43-9B67-0D9258DD5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0C04A-BE85-B040-A50F-62F73927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E8831-E42C-BB42-A134-363FC2D26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112BD-AFAC-BB4E-AE6E-AA2A258B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9719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1D379-333F-A144-81B1-DF5F42CE3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1C478-988E-7143-B249-837D9B101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82F1D-807A-2B45-A2DE-BF3638AE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BA21A-15D7-5440-9CBF-849E338B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C03B9-60F8-8649-BA53-1A13A006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07853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3F2F60-591A-448A-AD90-1628A557ED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2875" y="1628776"/>
            <a:ext cx="8086725" cy="221890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buNone/>
              <a:defRPr sz="5334" b="1" cap="all" baseline="0">
                <a:solidFill>
                  <a:srgbClr val="1E1F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НазваниЕ</a:t>
            </a:r>
            <a:r>
              <a:rPr lang="ru-RU" dirty="0"/>
              <a:t> презентации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228B39-CE56-44B3-B868-278EC35E54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2438" y="3937340"/>
            <a:ext cx="8086725" cy="402336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DB14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Имя, Фамилия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0E6A387-D6CD-4EEA-8260-213A82AD7F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186" y="4299712"/>
            <a:ext cx="8084978" cy="402336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DB14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124B59-153F-4F3A-88E6-2676F3EB530A}"/>
              </a:ext>
            </a:extLst>
          </p:cNvPr>
          <p:cNvCxnSpPr/>
          <p:nvPr/>
        </p:nvCxnSpPr>
        <p:spPr>
          <a:xfrm>
            <a:off x="1022773" y="3847682"/>
            <a:ext cx="3474720" cy="0"/>
          </a:xfrm>
          <a:prstGeom prst="line">
            <a:avLst/>
          </a:prstGeom>
          <a:ln w="19050">
            <a:solidFill>
              <a:srgbClr val="1E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1DD5811-DA7A-487C-9D39-2B9F9FB1FF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1041" y="638889"/>
            <a:ext cx="1971040" cy="8298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C86442-C5F9-456F-8B56-0D88C1852A74}"/>
              </a:ext>
            </a:extLst>
          </p:cNvPr>
          <p:cNvCxnSpPr/>
          <p:nvPr/>
        </p:nvCxnSpPr>
        <p:spPr>
          <a:xfrm>
            <a:off x="1022773" y="3847682"/>
            <a:ext cx="3474720" cy="0"/>
          </a:xfrm>
          <a:prstGeom prst="line">
            <a:avLst/>
          </a:prstGeom>
          <a:ln w="19050">
            <a:solidFill>
              <a:srgbClr val="1E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484E0E2-6ED7-4F64-96A8-E4990A4E7D1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1041" y="638889"/>
            <a:ext cx="1971040" cy="829864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881CD065-FA5C-4066-9726-CA5829C1627E}"/>
              </a:ext>
            </a:extLst>
          </p:cNvPr>
          <p:cNvSpPr txBox="1">
            <a:spLocks/>
          </p:cNvSpPr>
          <p:nvPr userDrawn="1"/>
        </p:nvSpPr>
        <p:spPr>
          <a:xfrm>
            <a:off x="168122" y="6597650"/>
            <a:ext cx="6232678" cy="1333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Копирайт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©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1998–</a:t>
            </a:r>
            <a:fld id="{7D68D2B7-B0E4-4449-8970-215D8528FEBC}" type="datetimeyyyy">
              <a:rPr kumimoji="0" lang="ru-RU" altLang="en-US" sz="533" b="0" i="0" u="none" strike="noStrike" kern="1200" cap="none" spc="0" normalizeH="0" baseline="0" noProof="0" smtClean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60963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</a:t>
            </a:fld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ООО «Компас Плюс»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[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Публичная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| 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Конфиденциальная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| 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Есть ограничения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| 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Секретная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| 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Индивидуальная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], v[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1.00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][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], </a:t>
            </a:r>
            <a:fld id="{0214A610-DF18-4A0A-9E09-97D266A46DBD}" type="datetime4">
              <a:rPr kumimoji="0" lang="ru-RU" altLang="en-US" sz="533" b="0" i="0" u="none" strike="noStrike" kern="1200" cap="none" spc="0" normalizeH="0" baseline="0" noProof="0" smtClean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60963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28 апреля 2025 г.</a:t>
            </a:fld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Разработана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[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Имя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DA16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Фамилия</a:t>
            </a:r>
            <a:r>
              <a:rPr kumimoji="0" lang="en-US" altLang="en-US" sz="533" b="0" i="0" u="none" strike="noStrike" kern="1200" cap="none" spc="0" normalizeH="0" baseline="0" noProof="0" dirty="0">
                <a:ln>
                  <a:noFill/>
                </a:ln>
                <a:solidFill>
                  <a:srgbClr val="1E1F1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].</a:t>
            </a:r>
            <a:endParaRPr kumimoji="0" lang="en-GB" sz="5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609630" rtl="0" eaLnBrk="1" fontAlgn="auto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234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9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706615-2FCA-4E8D-9622-A5777E8564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1418" y="239466"/>
            <a:ext cx="408785" cy="245565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A173F6BD-741B-4084-87D5-626EE01371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6484" y="1268942"/>
            <a:ext cx="11738502" cy="359833"/>
          </a:xfrm>
        </p:spPr>
        <p:txBody>
          <a:bodyPr>
            <a:normAutofit/>
          </a:bodyPr>
          <a:lstStyle>
            <a:lvl1pPr marL="0" indent="0">
              <a:buNone/>
              <a:defRPr sz="2133" b="1" u="sng" baseline="0">
                <a:solidFill>
                  <a:srgbClr val="1E1F1F"/>
                </a:solidFill>
                <a:uFill>
                  <a:solidFill>
                    <a:srgbClr val="DA1631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Нажмите, чтобы вставить подзаголовок</a:t>
            </a:r>
            <a:endParaRPr lang="en-GB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16E91F44-9534-445F-971F-0EA0E4B60E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6912" y="6554872"/>
            <a:ext cx="2743200" cy="365125"/>
          </a:xfrm>
        </p:spPr>
        <p:txBody>
          <a:bodyPr/>
          <a:lstStyle>
            <a:lvl1pPr>
              <a:defRPr sz="667">
                <a:solidFill>
                  <a:srgbClr val="1E1F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1A77F0-8116-4C01-8208-2824BACA9CC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BE311EB-2501-4297-B5D4-FF72654D01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6484" y="303388"/>
            <a:ext cx="11090805" cy="402336"/>
          </a:xfrm>
        </p:spPr>
        <p:txBody>
          <a:bodyPr anchor="t">
            <a:normAutofit/>
          </a:bodyPr>
          <a:lstStyle>
            <a:lvl1pPr marL="0" indent="0">
              <a:lnSpc>
                <a:spcPct val="80000"/>
              </a:lnSpc>
              <a:buNone/>
              <a:defRPr sz="2667" b="1" cap="all" baseline="0">
                <a:solidFill>
                  <a:srgbClr val="DB14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СТРАНИЦЫ</a:t>
            </a:r>
            <a:endParaRPr lang="en-GB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91C88BC-8FC7-4651-8B36-17EDCCF6FB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484" y="796787"/>
            <a:ext cx="11090805" cy="334183"/>
          </a:xfrm>
        </p:spPr>
        <p:txBody>
          <a:bodyPr>
            <a:normAutofit/>
          </a:bodyPr>
          <a:lstStyle>
            <a:lvl1pPr marL="0" indent="0">
              <a:buNone/>
              <a:defRPr sz="1867" b="1">
                <a:solidFill>
                  <a:srgbClr val="1E1F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раздела</a:t>
            </a:r>
            <a:r>
              <a:rPr lang="en-US" dirty="0"/>
              <a:t>;</a:t>
            </a:r>
            <a:r>
              <a:rPr lang="ru-RU" dirty="0"/>
              <a:t> если разделов нет, используйте заголовок презентации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B2EE47D-EB2F-454E-AD8C-7B70D62EC53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26484" y="1743900"/>
            <a:ext cx="11738505" cy="4853750"/>
          </a:xfrm>
        </p:spPr>
        <p:txBody>
          <a:bodyPr/>
          <a:lstStyle>
            <a:lvl1pPr>
              <a:buFont typeface="Arial" panose="020B0604020202020204" pitchFamily="34" charset="0"/>
              <a:buChar char="‒"/>
              <a:defRPr sz="1600" b="1">
                <a:solidFill>
                  <a:srgbClr val="1E1F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Arial" panose="020B0604020202020204" pitchFamily="34" charset="0"/>
              <a:buChar char="‒"/>
              <a:defRPr sz="1600" b="1">
                <a:solidFill>
                  <a:srgbClr val="1E1F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Arial" panose="020B0604020202020204" pitchFamily="34" charset="0"/>
              <a:buChar char="‒"/>
              <a:defRPr sz="1600" b="1">
                <a:solidFill>
                  <a:srgbClr val="1E1F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Arial" panose="020B0604020202020204" pitchFamily="34" charset="0"/>
              <a:buChar char="‒"/>
              <a:defRPr sz="1600" b="1">
                <a:solidFill>
                  <a:srgbClr val="1E1F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Arial" panose="020B0604020202020204" pitchFamily="34" charset="0"/>
              <a:buChar char="‒"/>
              <a:defRPr sz="1600" b="1">
                <a:solidFill>
                  <a:srgbClr val="1E1F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Нажмите, чтобы добавить текст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C61768-EF77-4CC4-B74A-73BEED053585}"/>
              </a:ext>
            </a:extLst>
          </p:cNvPr>
          <p:cNvCxnSpPr>
            <a:cxnSpLocks/>
          </p:cNvCxnSpPr>
          <p:nvPr/>
        </p:nvCxnSpPr>
        <p:spPr>
          <a:xfrm>
            <a:off x="319890" y="751254"/>
            <a:ext cx="1666451" cy="0"/>
          </a:xfrm>
          <a:prstGeom prst="line">
            <a:avLst/>
          </a:prstGeom>
          <a:ln w="19050">
            <a:solidFill>
              <a:srgbClr val="1E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A88D406-41B6-43FE-A825-1032407F16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1418" y="239466"/>
            <a:ext cx="408785" cy="24556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DDF315-86E1-414E-BA6F-1D35461FFA05}"/>
              </a:ext>
            </a:extLst>
          </p:cNvPr>
          <p:cNvCxnSpPr>
            <a:cxnSpLocks/>
          </p:cNvCxnSpPr>
          <p:nvPr/>
        </p:nvCxnSpPr>
        <p:spPr>
          <a:xfrm>
            <a:off x="319890" y="751254"/>
            <a:ext cx="1666451" cy="0"/>
          </a:xfrm>
          <a:prstGeom prst="line">
            <a:avLst/>
          </a:prstGeom>
          <a:ln w="19050">
            <a:solidFill>
              <a:srgbClr val="1E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0889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7D7C9-D8B8-1247-B02C-7E99EB4F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3080A-421E-A149-9AE0-C928D1755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9F5E-0D91-0B42-8A60-F77C03F49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D93D7-266E-934A-B33D-A2BFF683406D}" type="datetimeFigureOut">
              <a:rPr lang="en-RU" smtClean="0"/>
              <a:t>28.04.2025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F385-A0F9-964C-89B6-304D47725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4604-C216-0641-B870-FBB7524C4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E814C-99E5-1A44-BA9F-1896B18423B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8587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7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3FED63-E461-4C74-93F3-CE41CA81BB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4400" dirty="0"/>
              <a:t>Основы </a:t>
            </a:r>
            <a:r>
              <a:rPr lang="en-US" sz="4400" dirty="0" err="1"/>
              <a:t>javascript</a:t>
            </a:r>
            <a:endParaRPr lang="en-GB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8D6CD-E715-4A4A-BD34-179AA46BA8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ru-RU" dirty="0"/>
              <a:t>Александр Волков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E80E1-6C5A-4FE0-9F87-CE6CC6B2D7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4185" y="4299712"/>
            <a:ext cx="8182923" cy="402336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Инженер-программист отдела интернет приложений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90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Содержание</a:t>
            </a:r>
            <a:endParaRPr lang="en-GB" dirty="0"/>
          </a:p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3403C-97B7-44FF-8345-972CF22A01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07463"/>
            <a:ext cx="11738505" cy="4853750"/>
          </a:xfrm>
        </p:spPr>
        <p:txBody>
          <a:bodyPr>
            <a:noAutofit/>
          </a:bodyPr>
          <a:lstStyle/>
          <a:p>
            <a:r>
              <a:rPr lang="ru-RU" dirty="0"/>
              <a:t>Инструкции и комментарии</a:t>
            </a:r>
          </a:p>
          <a:p>
            <a:r>
              <a:rPr lang="ru-RU" dirty="0"/>
              <a:t>Переменные</a:t>
            </a:r>
          </a:p>
          <a:p>
            <a:r>
              <a:rPr lang="ru-RU" dirty="0"/>
              <a:t>Типы данных</a:t>
            </a:r>
          </a:p>
          <a:p>
            <a:r>
              <a:rPr lang="ru-RU" dirty="0"/>
              <a:t>Ввод данных</a:t>
            </a:r>
          </a:p>
          <a:p>
            <a:r>
              <a:rPr lang="ru-RU" dirty="0"/>
              <a:t>Математические операторы</a:t>
            </a:r>
          </a:p>
          <a:p>
            <a:r>
              <a:rPr lang="ru-RU" dirty="0"/>
              <a:t>Операторы сравнения</a:t>
            </a:r>
          </a:p>
          <a:p>
            <a:r>
              <a:rPr lang="ru-RU" dirty="0"/>
              <a:t>Логические операторы</a:t>
            </a:r>
          </a:p>
          <a:p>
            <a:endParaRPr lang="en-US" dirty="0"/>
          </a:p>
          <a:p>
            <a:endParaRPr lang="ru-RU" dirty="0"/>
          </a:p>
          <a:p>
            <a:pPr marL="0" indent="0">
              <a:buNone/>
            </a:pPr>
            <a:endParaRPr lang="ru-RU" sz="15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702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Инструкции и комментарии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Инструкции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3403C-97B7-44FF-8345-972CF22A01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07463"/>
            <a:ext cx="11738505" cy="4853750"/>
          </a:xfrm>
        </p:spPr>
        <p:txBody>
          <a:bodyPr>
            <a:noAutofit/>
          </a:bodyPr>
          <a:lstStyle/>
          <a:p>
            <a:r>
              <a:rPr lang="ru-RU" dirty="0"/>
              <a:t>Инструкции – это синтаксические конструкции или команды, выполняющие определенные действия.</a:t>
            </a:r>
            <a:endParaRPr lang="ru-RU" sz="15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211758-4271-D143-9EA3-E356874E2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986" y="1767744"/>
            <a:ext cx="2857500" cy="1282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7AB3A1-8174-3A48-9161-CB8B9E12A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486" y="3429000"/>
            <a:ext cx="2222500" cy="128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C5587-E6D3-F64A-B220-B65926502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86" y="5090256"/>
            <a:ext cx="42545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4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Инструкции и комментарии</a:t>
            </a:r>
            <a:endParaRPr lang="en-GB" dirty="0"/>
          </a:p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Комментарии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3403C-97B7-44FF-8345-972CF22A01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07463"/>
            <a:ext cx="11738505" cy="4853750"/>
          </a:xfrm>
        </p:spPr>
        <p:txBody>
          <a:bodyPr>
            <a:noAutofit/>
          </a:bodyPr>
          <a:lstStyle/>
          <a:p>
            <a:r>
              <a:rPr lang="ru-RU" dirty="0"/>
              <a:t>Комментарии не выполняются интерпретатором </a:t>
            </a:r>
            <a:r>
              <a:rPr lang="en-GB" dirty="0"/>
              <a:t>JavaScript </a:t>
            </a:r>
            <a:r>
              <a:rPr lang="ru-RU" dirty="0"/>
              <a:t>и не влияют на выполнение программы. Комментарии полезны для объяснения логики кода или пометки временного решения. </a:t>
            </a:r>
            <a:endParaRPr lang="ru-RU" sz="15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E4F9CF-46FF-8040-8272-B6AA70A26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36" y="1942908"/>
            <a:ext cx="8966200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AC0EB6-FE36-3140-B2F9-6008D5D7A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786" y="3870552"/>
            <a:ext cx="47879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21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Переменные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Создание переменной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3403C-97B7-44FF-8345-972CF22A01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07463"/>
            <a:ext cx="11738505" cy="4853750"/>
          </a:xfrm>
        </p:spPr>
        <p:txBody>
          <a:bodyPr>
            <a:noAutofit/>
          </a:bodyPr>
          <a:lstStyle/>
          <a:p>
            <a:r>
              <a:rPr lang="ru-RU" dirty="0"/>
              <a:t>Переменная в </a:t>
            </a:r>
            <a:r>
              <a:rPr lang="en-GB" dirty="0"/>
              <a:t>JavaScript — </a:t>
            </a:r>
            <a:r>
              <a:rPr lang="ru-RU" dirty="0"/>
              <a:t>именованная область памяти, которая используется для хранения данных. Переменная подобна контейнеру, в котором вы можете хранить информацию.</a:t>
            </a:r>
          </a:p>
          <a:p>
            <a:r>
              <a:rPr lang="ru-RU" dirty="0"/>
              <a:t>Вы можете создать сколько угодно переменных. Каждая переменная имеет имя, которое вы можете придумать, и значение, которое вы можете "поместить" в эту переменную.</a:t>
            </a:r>
          </a:p>
          <a:p>
            <a:r>
              <a:rPr lang="ru-RU" dirty="0"/>
              <a:t>Чтобы создать (или «объявить») переменную в </a:t>
            </a:r>
            <a:r>
              <a:rPr lang="en-GB" dirty="0"/>
              <a:t>JavaScript, </a:t>
            </a:r>
            <a:r>
              <a:rPr lang="ru-RU" dirty="0"/>
              <a:t>вам нужно использовать ключевое слово </a:t>
            </a:r>
            <a:r>
              <a:rPr lang="en-GB" dirty="0"/>
              <a:t>let</a:t>
            </a:r>
            <a:r>
              <a:rPr lang="ru-RU" dirty="0"/>
              <a:t> или </a:t>
            </a:r>
            <a:r>
              <a:rPr lang="en-US" dirty="0"/>
              <a:t>const</a:t>
            </a:r>
            <a:r>
              <a:rPr lang="en-GB" dirty="0"/>
              <a:t>, </a:t>
            </a:r>
            <a:r>
              <a:rPr lang="ru-RU" dirty="0"/>
              <a:t>а затем выбрать имя переменной. Например: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27B0E-4EA2-2449-887F-ACEEA7FF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136" y="2992988"/>
            <a:ext cx="5537200" cy="1282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D85BC-0B39-BF40-AE40-5957E9943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186" y="4527100"/>
            <a:ext cx="57531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1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Переменные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Присваивание значения переменной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3403C-97B7-44FF-8345-972CF22A01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07463"/>
            <a:ext cx="11738505" cy="4853750"/>
          </a:xfrm>
        </p:spPr>
        <p:txBody>
          <a:bodyPr>
            <a:noAutofit/>
          </a:bodyPr>
          <a:lstStyle/>
          <a:p>
            <a:r>
              <a:rPr lang="ru-RU" dirty="0"/>
              <a:t>Когда мы присваиваем значение переменной, мы "кладем" или "помещаем" определенное значение внутрь этой переменной, чтобы она могла хранить и использовать его позже.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2E8CA0-FA3A-2A44-B3AD-6D268C869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86" y="1816974"/>
            <a:ext cx="9283700" cy="128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8D4C56-E87B-7A42-B555-9CA403BB5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386" y="3176167"/>
            <a:ext cx="3822700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A0DE82-5CC9-794F-B5E9-1BD1C0595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336" y="5005260"/>
            <a:ext cx="5638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06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Переменные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Работа с переменными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3403C-97B7-44FF-8345-972CF22A01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07463"/>
            <a:ext cx="11738505" cy="4853750"/>
          </a:xfrm>
        </p:spPr>
        <p:txBody>
          <a:bodyPr>
            <a:noAutofit/>
          </a:bodyPr>
          <a:lstStyle/>
          <a:p>
            <a:r>
              <a:rPr lang="ru-RU" dirty="0"/>
              <a:t>После того, как мы присвоили значение переменной мы можем работать с ней, используя ее имя. В этом заключается смысл и удобство переменных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0E8F0-D6E8-7D4C-9ED9-B37A0C67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082800"/>
            <a:ext cx="74676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2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Переменные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Работа с переменными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D0DA053-BBD1-A045-BD20-CB9051C60C8B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2628900" y="1326088"/>
            <a:ext cx="6934200" cy="1752600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BC1C5E-6DED-8441-81AF-64E5534BE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3429000"/>
            <a:ext cx="46736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9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задание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Работа с переменными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</a:t>
            </a:fld>
            <a:endParaRPr lang="en-GB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184E1BF-2CBF-F847-A83F-CBE26C6E7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191144"/>
            <a:ext cx="5867400" cy="249299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let </a:t>
            </a:r>
            <a:r>
              <a:rPr lang="en-US" dirty="0" err="1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qq</a:t>
            </a:r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;</a:t>
            </a: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let </a:t>
            </a:r>
            <a:r>
              <a:rPr lang="en-US" dirty="0" err="1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let</a:t>
            </a:r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;</a:t>
            </a: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182BD"/>
                </a:solidFill>
                <a:effectLst/>
                <a:latin typeface="Consolas" pitchFamily="49" charset="0"/>
                <a:cs typeface="Courier New" pitchFamily="49" charset="0"/>
              </a:rPr>
              <a:t>et return;</a:t>
            </a: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182BD"/>
                </a:solidFill>
                <a:effectLst/>
                <a:latin typeface="Consolas" pitchFamily="49" charset="0"/>
                <a:cs typeface="Courier New" pitchFamily="49" charset="0"/>
              </a:rPr>
              <a:t>et !25; </a:t>
            </a:r>
          </a:p>
          <a:p>
            <a:pPr lvl="0"/>
            <a:endParaRPr kumimoji="0" lang="en-US" b="0" i="0" u="none" strike="noStrike" cap="none" normalizeH="0" baseline="0" dirty="0">
              <a:ln>
                <a:noFill/>
              </a:ln>
              <a:solidFill>
                <a:srgbClr val="3182BD"/>
              </a:solidFill>
              <a:effectLst/>
              <a:latin typeface="Consolas" pitchFamily="49" charset="0"/>
              <a:cs typeface="Courier New" pitchFamily="49" charset="0"/>
            </a:endParaRP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const first-name;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rgbClr val="3182BD"/>
              </a:solidFill>
              <a:effectLst/>
              <a:latin typeface="Consolas" pitchFamily="49" charset="0"/>
              <a:cs typeface="Courier New" pitchFamily="49" charset="0"/>
            </a:endParaRP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const function;</a:t>
            </a: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const 123new;</a:t>
            </a:r>
          </a:p>
          <a:p>
            <a:pPr lvl="0"/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C2D64C6-F17F-4C40-90C1-471971A57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21696"/>
            <a:ext cx="5867400" cy="249299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let </a:t>
            </a:r>
            <a:r>
              <a:rPr lang="en-US" dirty="0" err="1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helloWorldMessage</a:t>
            </a:r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;</a:t>
            </a: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let </a:t>
            </a:r>
            <a:r>
              <a:rPr lang="en-US" dirty="0" err="1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pageHeader</a:t>
            </a:r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;</a:t>
            </a: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182BD"/>
                </a:solidFill>
                <a:effectLst/>
                <a:latin typeface="Consolas" pitchFamily="49" charset="0"/>
                <a:cs typeface="Courier New" pitchFamily="49" charset="0"/>
              </a:rPr>
              <a:t>et $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3182BD"/>
                </a:solidFill>
                <a:effectLst/>
                <a:latin typeface="Consolas" pitchFamily="49" charset="0"/>
                <a:cs typeface="Courier New" pitchFamily="49" charset="0"/>
              </a:rPr>
              <a:t>submitForm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182BD"/>
                </a:solidFill>
                <a:effectLst/>
                <a:latin typeface="Consolas" pitchFamily="49" charset="0"/>
                <a:cs typeface="Courier New" pitchFamily="49" charset="0"/>
              </a:rPr>
              <a:t>;</a:t>
            </a: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l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182BD"/>
                </a:solidFill>
                <a:effectLst/>
                <a:latin typeface="Consolas" pitchFamily="49" charset="0"/>
                <a:cs typeface="Courier New" pitchFamily="49" charset="0"/>
              </a:rPr>
              <a:t>et _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3182BD"/>
                </a:solidFill>
                <a:effectLst/>
                <a:latin typeface="Consolas" pitchFamily="49" charset="0"/>
                <a:cs typeface="Courier New" pitchFamily="49" charset="0"/>
              </a:rPr>
              <a:t>newSubmitForm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3182BD"/>
                </a:solidFill>
                <a:effectLst/>
                <a:latin typeface="Consolas" pitchFamily="49" charset="0"/>
                <a:cs typeface="Courier New" pitchFamily="49" charset="0"/>
              </a:rPr>
              <a:t>; </a:t>
            </a:r>
          </a:p>
          <a:p>
            <a:pPr lvl="0"/>
            <a:endParaRPr kumimoji="0" lang="en-US" b="0" i="0" u="none" strike="noStrike" cap="none" normalizeH="0" baseline="0" dirty="0">
              <a:ln>
                <a:noFill/>
              </a:ln>
              <a:solidFill>
                <a:srgbClr val="3182BD"/>
              </a:solidFill>
              <a:effectLst/>
              <a:latin typeface="Consolas" pitchFamily="49" charset="0"/>
              <a:cs typeface="Courier New" pitchFamily="49" charset="0"/>
            </a:endParaRPr>
          </a:p>
          <a:p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const COUNTRY_CODE;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rgbClr val="3182BD"/>
              </a:solidFill>
              <a:effectLst/>
              <a:latin typeface="Consolas" pitchFamily="49" charset="0"/>
              <a:cs typeface="Courier New" pitchFamily="49" charset="0"/>
            </a:endParaRP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const </a:t>
            </a:r>
            <a:r>
              <a:rPr lang="en-US" dirty="0" err="1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first_name</a:t>
            </a:r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;</a:t>
            </a:r>
          </a:p>
          <a:p>
            <a:pPr lvl="0"/>
            <a:r>
              <a:rPr lang="en-US" dirty="0">
                <a:solidFill>
                  <a:srgbClr val="3182BD"/>
                </a:solidFill>
                <a:latin typeface="Consolas" pitchFamily="49" charset="0"/>
                <a:cs typeface="Courier New" pitchFamily="49" charset="0"/>
              </a:rPr>
              <a:t>const number123;</a:t>
            </a:r>
          </a:p>
          <a:p>
            <a:pPr lvl="0"/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Содержимое 12">
            <a:extLst>
              <a:ext uri="{FF2B5EF4-FFF2-40B4-BE49-F238E27FC236}">
                <a16:creationId xmlns:a16="http://schemas.microsoft.com/office/drawing/2014/main" id="{0E18CFE7-2943-374D-BC7E-23ABB8EF3A3B}"/>
              </a:ext>
            </a:extLst>
          </p:cNvPr>
          <p:cNvSpPr txBox="1">
            <a:spLocks/>
          </p:cNvSpPr>
          <p:nvPr/>
        </p:nvSpPr>
        <p:spPr bwMode="auto">
          <a:xfrm>
            <a:off x="226484" y="1207428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marL="355600" lvl="0" indent="-355600">
              <a:spcBef>
                <a:spcPts val="0"/>
              </a:spcBef>
              <a:buClr>
                <a:srgbClr val="363636"/>
              </a:buClr>
            </a:pPr>
            <a:r>
              <a:rPr lang="ru-RU" sz="2000" b="1" dirty="0">
                <a:ln w="9525" cmpd="sng">
                  <a:noFill/>
                </a:ln>
                <a:solidFill>
                  <a:srgbClr val="363636"/>
                </a:solidFill>
                <a:latin typeface="Arial" pitchFamily="34" charset="0"/>
                <a:cs typeface="Arial" pitchFamily="34" charset="0"/>
              </a:rPr>
              <a:t>Правильное именование</a:t>
            </a:r>
            <a:endParaRPr lang="en-US" sz="2000" b="1" dirty="0">
              <a:ln w="9525" cmpd="sng">
                <a:noFill/>
              </a:ln>
              <a:solidFill>
                <a:srgbClr val="363636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Содержимое 12">
            <a:extLst>
              <a:ext uri="{FF2B5EF4-FFF2-40B4-BE49-F238E27FC236}">
                <a16:creationId xmlns:a16="http://schemas.microsoft.com/office/drawing/2014/main" id="{167A8A2E-DBC1-8F4F-9FCD-5BDCAF10DB59}"/>
              </a:ext>
            </a:extLst>
          </p:cNvPr>
          <p:cNvSpPr txBox="1">
            <a:spLocks/>
          </p:cNvSpPr>
          <p:nvPr/>
        </p:nvSpPr>
        <p:spPr bwMode="auto">
          <a:xfrm>
            <a:off x="226484" y="3858977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marL="355600" lvl="0" indent="-355600">
              <a:spcBef>
                <a:spcPts val="0"/>
              </a:spcBef>
              <a:buClr>
                <a:srgbClr val="363636"/>
              </a:buClr>
            </a:pPr>
            <a:r>
              <a:rPr lang="ru-RU" sz="2000" b="1" dirty="0">
                <a:ln w="9525" cmpd="sng">
                  <a:noFill/>
                </a:ln>
                <a:solidFill>
                  <a:srgbClr val="363636"/>
                </a:solidFill>
                <a:latin typeface="Arial" pitchFamily="34" charset="0"/>
                <a:cs typeface="Arial" pitchFamily="34" charset="0"/>
              </a:rPr>
              <a:t>Неправильное именование</a:t>
            </a:r>
            <a:endParaRPr lang="en-US" sz="2000" b="1" dirty="0">
              <a:ln w="9525" cmpd="sng">
                <a:noFill/>
              </a:ln>
              <a:solidFill>
                <a:srgbClr val="363636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065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задание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Работа с переменными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342900" indent="-342900">
              <a:buAutoNum type="arabicParenR"/>
            </a:pPr>
            <a:r>
              <a:rPr lang="ru-RU" dirty="0"/>
              <a:t>Создать файл в </a:t>
            </a:r>
            <a:r>
              <a:rPr lang="en-US" dirty="0"/>
              <a:t>git</a:t>
            </a:r>
            <a:r>
              <a:rPr lang="ru-RU" dirty="0"/>
              <a:t> для выполнения заданий лекции</a:t>
            </a:r>
          </a:p>
          <a:p>
            <a:pPr marL="342900" indent="-342900">
              <a:buAutoNum type="arabicParenR"/>
            </a:pPr>
            <a:r>
              <a:rPr lang="ru-RU" dirty="0"/>
              <a:t>Объявить две переменные двумя способами, присвоить значения</a:t>
            </a:r>
          </a:p>
          <a:p>
            <a:pPr marL="342900" indent="-342900">
              <a:buAutoNum type="arabicParenR"/>
            </a:pPr>
            <a:r>
              <a:rPr lang="ru-RU" dirty="0"/>
              <a:t>У одной переменной изменить значение</a:t>
            </a:r>
          </a:p>
          <a:p>
            <a:pPr marL="342900" indent="-342900">
              <a:buAutoNum type="arabicParenR"/>
            </a:pPr>
            <a:r>
              <a:rPr lang="ru-RU" dirty="0"/>
              <a:t>Вывести в консоль значения переменных после объявление и после изменения значения двумя способами:</a:t>
            </a:r>
          </a:p>
          <a:p>
            <a:pPr lvl="1">
              <a:buFont typeface="Wingdings" pitchFamily="2" charset="2"/>
              <a:buChar char="§"/>
            </a:pPr>
            <a:r>
              <a:rPr lang="ru-RU" dirty="0"/>
              <a:t>С использованием одной команды </a:t>
            </a:r>
            <a:r>
              <a:rPr lang="en-US" dirty="0" err="1"/>
              <a:t>console.log</a:t>
            </a: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ru-RU" dirty="0"/>
              <a:t>С использованием двух команд </a:t>
            </a:r>
            <a:r>
              <a:rPr lang="en-US" dirty="0" err="1"/>
              <a:t>console.log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5)  Подписать все шаги из задания комментариями в коде:</a:t>
            </a:r>
          </a:p>
          <a:p>
            <a:pPr lvl="1">
              <a:buFont typeface="Wingdings" pitchFamily="2" charset="2"/>
              <a:buChar char="§"/>
            </a:pPr>
            <a:r>
              <a:rPr lang="ru-RU" dirty="0"/>
              <a:t>С использованием однострочных комментариев</a:t>
            </a:r>
          </a:p>
          <a:p>
            <a:pPr lvl="1">
              <a:buFont typeface="Wingdings" pitchFamily="2" charset="2"/>
              <a:buChar char="§"/>
            </a:pPr>
            <a:r>
              <a:rPr lang="ru-RU" dirty="0"/>
              <a:t>С использованием многострочных комментариев</a:t>
            </a:r>
            <a:endParaRPr lang="en-US" dirty="0"/>
          </a:p>
          <a:p>
            <a:pPr marL="800100" lvl="1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43390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ru-RU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r>
              <a:rPr lang="ru-RU" dirty="0"/>
              <a:t>Типы данных — это классификация различных видов информации, которую компьютер может обрабатывать и хранить. Типы данных определяют, какие операции можно выполнять с данными, и как компьютер должен интерпретировать их. Например, компьютер по-разному работает с числами и строками.</a:t>
            </a:r>
          </a:p>
          <a:p>
            <a:r>
              <a:rPr lang="ru-RU" dirty="0"/>
              <a:t>Типы данных делятся на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Примитивные (Числа, Строки, </a:t>
            </a:r>
            <a:r>
              <a:rPr lang="ru-RU" dirty="0" err="1"/>
              <a:t>Булевые</a:t>
            </a:r>
            <a:r>
              <a:rPr lang="ru-RU" dirty="0"/>
              <a:t> значения, </a:t>
            </a:r>
            <a:r>
              <a:rPr lang="en-GB" dirty="0"/>
              <a:t>null, undefined, </a:t>
            </a:r>
            <a:r>
              <a:rPr lang="ru-RU" dirty="0"/>
              <a:t>Символы)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Составные (Объекты)</a:t>
            </a:r>
          </a:p>
          <a:p>
            <a:pPr marL="342900" indent="-342900">
              <a:buAutoNum type="arabicParenR"/>
            </a:pP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7858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ru-RU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 JavaScript </a:t>
            </a:r>
            <a:r>
              <a:rPr lang="ru-RU" dirty="0"/>
              <a:t>существует 8 типов данных:</a:t>
            </a:r>
          </a:p>
          <a:p>
            <a:pPr marL="342900" indent="-342900">
              <a:buAutoNum type="arabicParenR"/>
            </a:pPr>
            <a:r>
              <a:rPr lang="ru-RU" dirty="0"/>
              <a:t>Число </a:t>
            </a:r>
            <a:r>
              <a:rPr lang="en-US" dirty="0"/>
              <a:t>“number”</a:t>
            </a:r>
          </a:p>
          <a:p>
            <a:pPr marL="342900" indent="-342900">
              <a:buAutoNum type="arabicParenR"/>
            </a:pPr>
            <a:r>
              <a:rPr lang="ru-RU" dirty="0"/>
              <a:t>Число </a:t>
            </a:r>
            <a:r>
              <a:rPr lang="en-US" dirty="0"/>
              <a:t>”</a:t>
            </a:r>
            <a:r>
              <a:rPr lang="en-US" dirty="0" err="1"/>
              <a:t>bigint</a:t>
            </a:r>
            <a:r>
              <a:rPr lang="en-US" dirty="0"/>
              <a:t>”</a:t>
            </a:r>
          </a:p>
          <a:p>
            <a:pPr marL="342900" indent="-342900">
              <a:buAutoNum type="arabicParenR"/>
            </a:pPr>
            <a:r>
              <a:rPr lang="ru-RU" dirty="0"/>
              <a:t>Строка </a:t>
            </a:r>
            <a:r>
              <a:rPr lang="en-US" dirty="0"/>
              <a:t>“string”</a:t>
            </a:r>
          </a:p>
          <a:p>
            <a:pPr marL="342900" indent="-342900">
              <a:buAutoNum type="arabicParenR"/>
            </a:pPr>
            <a:r>
              <a:rPr lang="ru-RU" dirty="0"/>
              <a:t>Логический </a:t>
            </a:r>
            <a:r>
              <a:rPr lang="en-US" dirty="0"/>
              <a:t>“</a:t>
            </a:r>
            <a:r>
              <a:rPr lang="en-US" dirty="0" err="1"/>
              <a:t>boolean</a:t>
            </a:r>
            <a:r>
              <a:rPr lang="en-US" dirty="0"/>
              <a:t>”</a:t>
            </a:r>
          </a:p>
          <a:p>
            <a:pPr marL="342900" indent="-342900">
              <a:buAutoNum type="arabicParenR"/>
            </a:pPr>
            <a:r>
              <a:rPr lang="ru-RU" dirty="0"/>
              <a:t>Специальное значение </a:t>
            </a:r>
            <a:r>
              <a:rPr lang="en-US" dirty="0"/>
              <a:t>“null”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ru-RU" dirty="0"/>
              <a:t>Специальное значение </a:t>
            </a:r>
            <a:r>
              <a:rPr lang="en-US" dirty="0"/>
              <a:t>“undefined”</a:t>
            </a:r>
          </a:p>
          <a:p>
            <a:pPr marL="342900" indent="-342900">
              <a:buAutoNum type="arabicParenR"/>
            </a:pPr>
            <a:r>
              <a:rPr lang="ru-RU" dirty="0"/>
              <a:t>Символы </a:t>
            </a:r>
            <a:r>
              <a:rPr lang="en-US" dirty="0"/>
              <a:t>“symbol”</a:t>
            </a:r>
          </a:p>
          <a:p>
            <a:pPr marL="342900" indent="-342900">
              <a:buAutoNum type="arabicParenR"/>
            </a:pPr>
            <a:r>
              <a:rPr lang="ru-RU" dirty="0"/>
              <a:t>Объекты </a:t>
            </a:r>
            <a:r>
              <a:rPr lang="en-US" dirty="0"/>
              <a:t>“object”</a:t>
            </a:r>
          </a:p>
          <a:p>
            <a:pPr marL="342900" indent="-342900">
              <a:buAutoNum type="arabicParenR"/>
            </a:pP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63789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  <a:p>
            <a:endParaRPr lang="ru-RU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- Обычные числа в </a:t>
            </a:r>
            <a:r>
              <a:rPr lang="en-GB" dirty="0"/>
              <a:t>JavaScript </a:t>
            </a:r>
            <a:r>
              <a:rPr lang="ru-RU" dirty="0"/>
              <a:t>хранятся в 64-битном формате </a:t>
            </a:r>
            <a:r>
              <a:rPr lang="en-GB" dirty="0"/>
              <a:t>IEEE-754, </a:t>
            </a:r>
            <a:r>
              <a:rPr lang="ru-RU" dirty="0"/>
              <a:t>который также называют «числа с плавающей точкой двойной точности» (</a:t>
            </a:r>
            <a:r>
              <a:rPr lang="en-GB" dirty="0"/>
              <a:t>double precision floating point numbers).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- Способы записи:</a:t>
            </a:r>
          </a:p>
          <a:p>
            <a:pPr>
              <a:buFontTx/>
              <a:buChar char="-"/>
            </a:pP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86DFD-9F7F-704B-B693-7BC090461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92" y="2589937"/>
            <a:ext cx="3289300" cy="128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B3B65A-7B10-2047-857E-8D997F348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92" y="4130555"/>
            <a:ext cx="3505200" cy="128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C7ED5D-405E-B24A-97DC-8064D9218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436" y="4124246"/>
            <a:ext cx="6718300" cy="1282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653E65-91E1-4141-ABF7-9246EF1F0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586" y="2589937"/>
            <a:ext cx="48895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34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  <a:p>
            <a:endParaRPr lang="ru-RU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Двоичные, восьмеричные и шестнадцатеричные числа</a:t>
            </a:r>
          </a:p>
          <a:p>
            <a:pPr>
              <a:buFontTx/>
              <a:buChar char="-"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8B5789-D1D9-9C4E-B1A6-32D0662E6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499" y="1876372"/>
            <a:ext cx="2857500" cy="1282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8E0E08-431B-1345-9DE5-F83706CA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5580"/>
            <a:ext cx="75692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950C1D-A65B-6446-943B-58F429DB5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65654"/>
            <a:ext cx="6286500" cy="1282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B4638B-EA17-1745-9718-2BC4B104D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300" y="3365654"/>
            <a:ext cx="5854700" cy="1282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114CEC-D8D4-CF46-9644-0E61F1058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049" y="4721543"/>
            <a:ext cx="47879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4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Одна из часто используемых операций при работе с числами – это округление.</a:t>
            </a:r>
          </a:p>
          <a:p>
            <a:pPr marL="0" indent="0">
              <a:buNone/>
            </a:pPr>
            <a:r>
              <a:rPr lang="ru-RU" dirty="0"/>
              <a:t>В </a:t>
            </a:r>
            <a:r>
              <a:rPr lang="en-GB" dirty="0"/>
              <a:t>JavaScript </a:t>
            </a:r>
            <a:r>
              <a:rPr lang="ru-RU" dirty="0"/>
              <a:t>есть несколько встроенных функций для работы с округлением:</a:t>
            </a:r>
          </a:p>
          <a:p>
            <a:r>
              <a:rPr lang="en-GB" dirty="0" err="1"/>
              <a:t>Math.floor</a:t>
            </a:r>
            <a:r>
              <a:rPr lang="en-GB" dirty="0"/>
              <a:t>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Округление в меньшую сторону: 3.1 становится 3, а -1.1 — -2. </a:t>
            </a:r>
          </a:p>
          <a:p>
            <a:r>
              <a:rPr lang="en-GB" dirty="0" err="1"/>
              <a:t>Math.ceil</a:t>
            </a:r>
            <a:r>
              <a:rPr lang="en-GB" dirty="0"/>
              <a:t>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Округление в большую сторону: 3.1 становится 4, а -1.1 — -1. </a:t>
            </a:r>
          </a:p>
          <a:p>
            <a:r>
              <a:rPr lang="en-GB" dirty="0" err="1"/>
              <a:t>Math.round</a:t>
            </a:r>
            <a:r>
              <a:rPr lang="en-GB" dirty="0"/>
              <a:t>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Округление до ближайшего целого: 3.1 становится 3, 3.6 — 4, а -1.1 — -1. </a:t>
            </a:r>
          </a:p>
          <a:p>
            <a:r>
              <a:rPr lang="en-GB" dirty="0" err="1"/>
              <a:t>Math.trunc</a:t>
            </a:r>
            <a:r>
              <a:rPr lang="en-GB" dirty="0"/>
              <a:t> (</a:t>
            </a:r>
            <a:r>
              <a:rPr lang="ru-RU" dirty="0"/>
              <a:t>не поддерживается в </a:t>
            </a:r>
            <a:r>
              <a:rPr lang="en-GB" dirty="0"/>
              <a:t>Internet Explorer)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Производит удаление дробной части без округления: 3.1 становится 3, а -1.1 — -1.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984552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16</a:t>
            </a:fld>
            <a:endParaRPr lang="en-GB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3ED20D7-3863-5347-B713-84C6B1EFB839}"/>
              </a:ext>
            </a:extLst>
          </p:cNvPr>
          <p:cNvGraphicFramePr>
            <a:graphicFrameLocks noGrp="1"/>
          </p:cNvGraphicFramePr>
          <p:nvPr>
            <p:ph sz="quarter" idx="18"/>
            <p:extLst>
              <p:ext uri="{D42A27DB-BD31-4B8C-83A1-F6EECF244321}">
                <p14:modId xmlns:p14="http://schemas.microsoft.com/office/powerpoint/2010/main" val="2706333390"/>
              </p:ext>
            </p:extLst>
          </p:nvPr>
        </p:nvGraphicFramePr>
        <p:xfrm>
          <a:off x="838200" y="2796381"/>
          <a:ext cx="1051560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759973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755837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296444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68372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4577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RU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Math.floor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Math.ceil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Math.round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Math.trunc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33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117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970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-1.1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838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-1.6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70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857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17</a:t>
            </a:fld>
            <a:endParaRPr lang="en-GB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3ED20D7-3863-5347-B713-84C6B1EFB839}"/>
              </a:ext>
            </a:extLst>
          </p:cNvPr>
          <p:cNvGraphicFramePr>
            <a:graphicFrameLocks noGrp="1"/>
          </p:cNvGraphicFramePr>
          <p:nvPr>
            <p:ph sz="quarter" idx="18"/>
          </p:nvPr>
        </p:nvGraphicFramePr>
        <p:xfrm>
          <a:off x="838200" y="2796381"/>
          <a:ext cx="1051560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759973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755837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296444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68372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4577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RU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Math.floor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Math.ceil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Math.round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Math.trunc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33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117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970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-1.1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838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-1.6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/>
                        <a:t>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470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97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18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6DEB6-ACD3-114B-96F4-ECF1ED64F83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Существуют специальные числовые значения </a:t>
            </a:r>
            <a:r>
              <a:rPr lang="en-GB" dirty="0"/>
              <a:t>Infinity (</a:t>
            </a:r>
            <a:r>
              <a:rPr lang="ru-RU" dirty="0"/>
              <a:t>бесконечность) и </a:t>
            </a:r>
            <a:r>
              <a:rPr lang="en-GB" dirty="0" err="1"/>
              <a:t>NaN</a:t>
            </a:r>
            <a:r>
              <a:rPr lang="en-GB" dirty="0"/>
              <a:t> (</a:t>
            </a:r>
            <a:r>
              <a:rPr lang="ru-RU" dirty="0"/>
              <a:t>ошибка вычислений).</a:t>
            </a:r>
          </a:p>
          <a:p>
            <a:pPr marL="0" indent="0">
              <a:buNone/>
            </a:pPr>
            <a:r>
              <a:rPr lang="ru-RU" dirty="0"/>
              <a:t>Например, бесконечность </a:t>
            </a:r>
            <a:r>
              <a:rPr lang="en-GB" dirty="0"/>
              <a:t>Infinity </a:t>
            </a:r>
            <a:r>
              <a:rPr lang="ru-RU" dirty="0"/>
              <a:t>получается при делении на ноль: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Ошибка вычислений </a:t>
            </a:r>
            <a:r>
              <a:rPr lang="en-GB" dirty="0" err="1"/>
              <a:t>NaN</a:t>
            </a:r>
            <a:r>
              <a:rPr lang="en-GB" dirty="0"/>
              <a:t> </a:t>
            </a:r>
            <a:r>
              <a:rPr lang="ru-RU" dirty="0"/>
              <a:t>будет результатом некорректной математической операции, например: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86BF9-BD90-3F40-9F23-6B9D23978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136" y="2665106"/>
            <a:ext cx="3505200" cy="128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A2C020-F919-A44D-83F0-54358B87E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936" y="4778513"/>
            <a:ext cx="46736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33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  <a:r>
              <a:rPr lang="ru-RU" dirty="0"/>
              <a:t>. </a:t>
            </a:r>
            <a:r>
              <a:rPr lang="en-US" dirty="0" err="1"/>
              <a:t>isNan</a:t>
            </a:r>
            <a:r>
              <a:rPr lang="en-US" dirty="0"/>
              <a:t>, </a:t>
            </a:r>
            <a:r>
              <a:rPr lang="en-US" dirty="0" err="1"/>
              <a:t>isFinite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6DEB6-ACD3-114B-96F4-ECF1ED64F83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B02CF8-AF1E-FB4A-AF52-3C2BA291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386" y="1413496"/>
            <a:ext cx="3822700" cy="1511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C68189-0BDD-AE4F-B482-48E0D6068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536" y="4591041"/>
            <a:ext cx="8534400" cy="175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6D8E10-56FA-1449-B0C3-92FA277F2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386" y="3054333"/>
            <a:ext cx="38227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4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  <a:r>
              <a:rPr lang="ru-RU" dirty="0"/>
              <a:t>. Неточность значений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20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6DEB6-ACD3-114B-96F4-ECF1ED64F83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50F4BB-0AE5-6240-B3FE-C1E022A94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686" y="1743900"/>
            <a:ext cx="43561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61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  <a:r>
              <a:rPr lang="ru-RU" dirty="0"/>
              <a:t>. Неточность значений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6DEB6-ACD3-114B-96F4-ECF1ED64F83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50F4BB-0AE5-6240-B3FE-C1E022A94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686" y="1743900"/>
            <a:ext cx="4356100" cy="1282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550A8D-6C0E-AD41-830C-989F4DB9B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036" y="3190051"/>
            <a:ext cx="5105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25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  <a:r>
              <a:rPr lang="ru-RU" dirty="0"/>
              <a:t>. Неточность значений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6DEB6-ACD3-114B-96F4-ECF1ED64F83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50F4BB-0AE5-6240-B3FE-C1E022A94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686" y="1743900"/>
            <a:ext cx="4356100" cy="1282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550A8D-6C0E-AD41-830C-989F4DB9B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036" y="3190051"/>
            <a:ext cx="5105400" cy="128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E1644E-9C10-654F-B784-D39237024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86" y="4704368"/>
            <a:ext cx="42545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69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6DEB6-ACD3-114B-96F4-ECF1ED64F83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явного преобразования к числу можно использовать + или </a:t>
            </a:r>
            <a:r>
              <a:rPr lang="en-GB" dirty="0"/>
              <a:t>Number(). </a:t>
            </a:r>
            <a:r>
              <a:rPr lang="ru-RU" dirty="0"/>
              <a:t>Если строка не является в точности числом, то результат будет </a:t>
            </a:r>
            <a:r>
              <a:rPr lang="en-GB" dirty="0" err="1"/>
              <a:t>NaN</a:t>
            </a:r>
            <a:r>
              <a:rPr lang="en-GB" dirty="0"/>
              <a:t>: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В реальной жизни мы часто сталкиваемся со значениями у которых есть единица измерения, например "100</a:t>
            </a:r>
            <a:r>
              <a:rPr lang="en-GB" dirty="0"/>
              <a:t>px" </a:t>
            </a:r>
            <a:r>
              <a:rPr lang="ru-RU" dirty="0"/>
              <a:t>или "12</a:t>
            </a:r>
            <a:r>
              <a:rPr lang="en-GB" dirty="0" err="1"/>
              <a:t>pt</a:t>
            </a:r>
            <a:r>
              <a:rPr lang="en-GB" dirty="0"/>
              <a:t>" </a:t>
            </a:r>
            <a:r>
              <a:rPr lang="ru-RU" dirty="0"/>
              <a:t>в </a:t>
            </a:r>
            <a:r>
              <a:rPr lang="en-GB" dirty="0"/>
              <a:t>CSS. </a:t>
            </a:r>
            <a:r>
              <a:rPr lang="ru-RU" dirty="0"/>
              <a:t>Для этого есть </a:t>
            </a:r>
            <a:r>
              <a:rPr lang="en-GB" dirty="0" err="1"/>
              <a:t>parseInt</a:t>
            </a:r>
            <a:r>
              <a:rPr lang="en-GB" dirty="0"/>
              <a:t> </a:t>
            </a:r>
            <a:r>
              <a:rPr lang="ru-RU" dirty="0"/>
              <a:t>и </a:t>
            </a:r>
            <a:r>
              <a:rPr lang="en-GB" dirty="0" err="1"/>
              <a:t>parseFloat</a:t>
            </a:r>
            <a:r>
              <a:rPr lang="ru-RU" dirty="0"/>
              <a:t>: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40A74-9B45-9041-9DA2-3CC43FC57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086" y="2341975"/>
            <a:ext cx="3289300" cy="1282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FFD52-5A53-2541-BAF7-AD342B385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36" y="4326130"/>
            <a:ext cx="94996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96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24</a:t>
            </a:fld>
            <a:endParaRPr lang="en-GB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8FA8005E-ED15-694F-99A3-2FAA0683B384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3543300" y="1130970"/>
            <a:ext cx="5105400" cy="1511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5004E8-FA11-2A49-BEAF-A2167698C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0" y="3016929"/>
            <a:ext cx="4889500" cy="1511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66AFB7-9459-A844-A700-5F594E5E6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500" y="4902888"/>
            <a:ext cx="59690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04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8726D-BA23-F94E-869E-8C86D3D567F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48537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Чтобы писать числа с большим количеством нулей: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Используйте краткую форму записи чисел – "</a:t>
            </a:r>
            <a:r>
              <a:rPr lang="en-GB" dirty="0"/>
              <a:t>e", </a:t>
            </a:r>
            <a:r>
              <a:rPr lang="ru-RU" dirty="0"/>
              <a:t>с указанным количеством нулей. Например: 123</a:t>
            </a:r>
            <a:r>
              <a:rPr lang="en-GB" dirty="0"/>
              <a:t>e6 </a:t>
            </a:r>
            <a:r>
              <a:rPr lang="ru-RU" dirty="0"/>
              <a:t>это 123 с 6-ю нулями 123000000.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Отрицательное число после "</a:t>
            </a:r>
            <a:r>
              <a:rPr lang="en-GB" dirty="0"/>
              <a:t>e" </a:t>
            </a:r>
            <a:r>
              <a:rPr lang="ru-RU" dirty="0"/>
              <a:t>приводит к делению числа на 1 с указанным количеством нулей. Например: 123</a:t>
            </a:r>
            <a:r>
              <a:rPr lang="en-GB" dirty="0"/>
              <a:t>e-6 </a:t>
            </a:r>
            <a:r>
              <a:rPr lang="ru-RU" dirty="0"/>
              <a:t>это 0.000123 (123 миллионных).</a:t>
            </a:r>
          </a:p>
          <a:p>
            <a:pPr marL="0" indent="0">
              <a:buNone/>
            </a:pPr>
            <a:r>
              <a:rPr lang="ru-RU" dirty="0"/>
              <a:t>Для других систем счисления: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Можно записывать числа сразу в шестнадцатеричной (0</a:t>
            </a:r>
            <a:r>
              <a:rPr lang="en-GB" dirty="0"/>
              <a:t>x), </a:t>
            </a:r>
            <a:r>
              <a:rPr lang="ru-RU" dirty="0"/>
              <a:t>восьмеричной (0</a:t>
            </a:r>
            <a:r>
              <a:rPr lang="en-GB" dirty="0"/>
              <a:t>o) </a:t>
            </a:r>
            <a:r>
              <a:rPr lang="ru-RU" dirty="0"/>
              <a:t>и бинарной (0</a:t>
            </a:r>
            <a:r>
              <a:rPr lang="en-GB" dirty="0"/>
              <a:t>b) </a:t>
            </a:r>
            <a:r>
              <a:rPr lang="ru-RU" dirty="0"/>
              <a:t>системах счисления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parseInt</a:t>
            </a:r>
            <a:r>
              <a:rPr lang="en-GB" dirty="0"/>
              <a:t>(str, base) </a:t>
            </a:r>
            <a:r>
              <a:rPr lang="ru-RU" dirty="0"/>
              <a:t>преобразует строку в целое число в соответствии с указанной системой счисления: 2 ≤ </a:t>
            </a:r>
            <a:r>
              <a:rPr lang="en-GB" dirty="0"/>
              <a:t>base ≤ 36.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num.toString</a:t>
            </a:r>
            <a:r>
              <a:rPr lang="en-GB" dirty="0"/>
              <a:t>(base) </a:t>
            </a:r>
            <a:r>
              <a:rPr lang="ru-RU" dirty="0"/>
              <a:t>представляет число в строковом виде в указанной системе счисления </a:t>
            </a:r>
            <a:r>
              <a:rPr lang="en-GB" dirty="0"/>
              <a:t>base.</a:t>
            </a:r>
          </a:p>
          <a:p>
            <a:pPr marL="0" indent="0">
              <a:buNone/>
            </a:pPr>
            <a:r>
              <a:rPr lang="ru-RU" dirty="0"/>
              <a:t>Для проверки на </a:t>
            </a:r>
            <a:r>
              <a:rPr lang="en-GB" dirty="0" err="1"/>
              <a:t>NaN</a:t>
            </a:r>
            <a:r>
              <a:rPr lang="en-GB" dirty="0"/>
              <a:t> </a:t>
            </a:r>
            <a:r>
              <a:rPr lang="ru-RU" dirty="0"/>
              <a:t>и </a:t>
            </a:r>
            <a:r>
              <a:rPr lang="en-GB" dirty="0"/>
              <a:t>Infinity: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isNaN</a:t>
            </a:r>
            <a:r>
              <a:rPr lang="en-GB" dirty="0"/>
              <a:t>(value) </a:t>
            </a:r>
            <a:r>
              <a:rPr lang="ru-RU" dirty="0"/>
              <a:t>преобразует аргумент в число и проверяет, является ли оно </a:t>
            </a:r>
            <a:r>
              <a:rPr lang="en-GB" dirty="0" err="1"/>
              <a:t>NaN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Number.isNaN</a:t>
            </a:r>
            <a:r>
              <a:rPr lang="en-GB" dirty="0"/>
              <a:t>(value) </a:t>
            </a:r>
            <a:r>
              <a:rPr lang="ru-RU" dirty="0"/>
              <a:t>проверяет, является ли аргумент числом, и если да, то проверяет, является ли оно </a:t>
            </a:r>
            <a:r>
              <a:rPr lang="en-GB" dirty="0" err="1"/>
              <a:t>NaN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isFinite</a:t>
            </a:r>
            <a:r>
              <a:rPr lang="en-GB" dirty="0"/>
              <a:t>(value) </a:t>
            </a:r>
            <a:r>
              <a:rPr lang="ru-RU" dirty="0"/>
              <a:t>преобразует аргумент в число и проверяет, что оно не является </a:t>
            </a:r>
            <a:r>
              <a:rPr lang="en-GB" dirty="0" err="1"/>
              <a:t>NaN</a:t>
            </a:r>
            <a:r>
              <a:rPr lang="en-GB" dirty="0"/>
              <a:t>/Infinity/-Infinity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Number.isFinite</a:t>
            </a:r>
            <a:r>
              <a:rPr lang="en-GB" dirty="0"/>
              <a:t>(value) </a:t>
            </a:r>
            <a:r>
              <a:rPr lang="ru-RU" dirty="0"/>
              <a:t>проверяет, является ли аргумент числом, и если да, то проверяет, что оно не является </a:t>
            </a:r>
            <a:r>
              <a:rPr lang="en-GB" dirty="0" err="1"/>
              <a:t>NaN</a:t>
            </a:r>
            <a:r>
              <a:rPr lang="en-GB" dirty="0"/>
              <a:t>/Infinity/-Infinity</a:t>
            </a:r>
          </a:p>
          <a:p>
            <a:pPr marL="0" indent="0">
              <a:buNone/>
            </a:pPr>
            <a:r>
              <a:rPr lang="ru-RU" dirty="0"/>
              <a:t>Для преобразования значений типа 12</a:t>
            </a:r>
            <a:r>
              <a:rPr lang="en-GB" dirty="0" err="1"/>
              <a:t>pt</a:t>
            </a:r>
            <a:r>
              <a:rPr lang="en-GB" dirty="0"/>
              <a:t> </a:t>
            </a:r>
            <a:r>
              <a:rPr lang="ru-RU" dirty="0"/>
              <a:t>и 100</a:t>
            </a:r>
            <a:r>
              <a:rPr lang="en-GB" dirty="0"/>
              <a:t>px </a:t>
            </a:r>
            <a:r>
              <a:rPr lang="ru-RU" dirty="0"/>
              <a:t>в число: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Используйте </a:t>
            </a:r>
            <a:r>
              <a:rPr lang="en-GB" dirty="0" err="1"/>
              <a:t>parseInt</a:t>
            </a:r>
            <a:r>
              <a:rPr lang="en-GB" dirty="0"/>
              <a:t>/</a:t>
            </a:r>
            <a:r>
              <a:rPr lang="en-GB" dirty="0" err="1"/>
              <a:t>parseFloat</a:t>
            </a:r>
            <a:r>
              <a:rPr lang="en-GB" dirty="0"/>
              <a:t> </a:t>
            </a:r>
            <a:r>
              <a:rPr lang="ru-RU" dirty="0"/>
              <a:t>для «мягкого» преобразования строки в число, данные функции по порядку считывают число из строки до тех пор </a:t>
            </a:r>
          </a:p>
          <a:p>
            <a:pPr marL="0" indent="0">
              <a:buNone/>
            </a:pPr>
            <a:r>
              <a:rPr lang="ru-RU" dirty="0"/>
              <a:t>пока не возникнет ошибка.</a:t>
            </a:r>
          </a:p>
          <a:p>
            <a:pPr marL="0" indent="0">
              <a:buNone/>
            </a:pPr>
            <a:r>
              <a:rPr lang="ru-RU" dirty="0"/>
              <a:t>Для дробей: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Используйте округления </a:t>
            </a:r>
            <a:r>
              <a:rPr lang="en-GB" dirty="0" err="1"/>
              <a:t>Math.floor</a:t>
            </a:r>
            <a:r>
              <a:rPr lang="en-GB" dirty="0"/>
              <a:t>, </a:t>
            </a:r>
            <a:r>
              <a:rPr lang="en-GB" dirty="0" err="1"/>
              <a:t>Math.ceil</a:t>
            </a:r>
            <a:r>
              <a:rPr lang="en-GB" dirty="0"/>
              <a:t>, </a:t>
            </a:r>
            <a:r>
              <a:rPr lang="en-GB" dirty="0" err="1"/>
              <a:t>Math.trunc</a:t>
            </a:r>
            <a:r>
              <a:rPr lang="en-GB" dirty="0"/>
              <a:t>, </a:t>
            </a:r>
            <a:r>
              <a:rPr lang="en-GB" dirty="0" err="1"/>
              <a:t>Math.round</a:t>
            </a:r>
            <a:r>
              <a:rPr lang="en-GB" dirty="0"/>
              <a:t> </a:t>
            </a:r>
            <a:r>
              <a:rPr lang="ru-RU" dirty="0"/>
              <a:t>или </a:t>
            </a:r>
            <a:r>
              <a:rPr lang="en-GB" dirty="0" err="1"/>
              <a:t>num.toFixed</a:t>
            </a:r>
            <a:r>
              <a:rPr lang="en-GB" dirty="0"/>
              <a:t>(precision).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Помните, что при работе с дробями происходит потеря 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3175719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“number”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8726D-BA23-F94E-869E-8C86D3D567F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4853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Задание:</a:t>
            </a:r>
          </a:p>
          <a:p>
            <a:pPr marL="342900" indent="-342900">
              <a:buAutoNum type="arabicParenR"/>
            </a:pPr>
            <a:r>
              <a:rPr lang="ru-RU" dirty="0"/>
              <a:t>объявить переменную со значением, содержащим 10 нулей, вывести в консоль,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ru-RU" dirty="0"/>
              <a:t>объявить переменную со значением, содержащим </a:t>
            </a:r>
            <a:r>
              <a:rPr lang="en-US" dirty="0"/>
              <a:t>5</a:t>
            </a:r>
            <a:r>
              <a:rPr lang="ru-RU" dirty="0"/>
              <a:t> знаков после запятой, вывести в консоль,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ru-RU" dirty="0"/>
              <a:t>объявить переменную, значение которой равно преобразованию строки в число,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ru-RU" dirty="0"/>
              <a:t>округлить числа 0.3 и 0.6 в меньшую, большую и к ближайшему целому числу, 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ru-RU" dirty="0"/>
              <a:t>сравнить на равенство два значения </a:t>
            </a:r>
            <a:r>
              <a:rPr lang="en-US" dirty="0" err="1"/>
              <a:t>NaN</a:t>
            </a:r>
            <a:r>
              <a:rPr lang="en-US" dirty="0"/>
              <a:t>, </a:t>
            </a:r>
            <a:r>
              <a:rPr lang="ru-RU" dirty="0"/>
              <a:t>вывести в консоль.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068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Число </a:t>
            </a:r>
            <a:r>
              <a:rPr lang="en-US" dirty="0"/>
              <a:t>”</a:t>
            </a:r>
            <a:r>
              <a:rPr lang="en-US" dirty="0" err="1"/>
              <a:t>bigint</a:t>
            </a:r>
            <a:r>
              <a:rPr lang="en-US" dirty="0"/>
              <a:t>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BigInt</a:t>
            </a:r>
            <a:r>
              <a:rPr lang="en-GB" dirty="0"/>
              <a:t> – </a:t>
            </a:r>
            <a:r>
              <a:rPr lang="ru-RU" dirty="0"/>
              <a:t>это специальный числовой тип, который предоставляет возможность работать с целыми числами произвольной длины.</a:t>
            </a:r>
          </a:p>
          <a:p>
            <a:pPr marL="0" indent="0">
              <a:buNone/>
            </a:pPr>
            <a:r>
              <a:rPr lang="ru-RU" dirty="0"/>
              <a:t>Чтобы создать значение типа </a:t>
            </a:r>
            <a:r>
              <a:rPr lang="en-GB" dirty="0" err="1"/>
              <a:t>BigInt</a:t>
            </a:r>
            <a:r>
              <a:rPr lang="en-GB" dirty="0"/>
              <a:t>, </a:t>
            </a:r>
            <a:r>
              <a:rPr lang="ru-RU" dirty="0"/>
              <a:t>необходимо добавить </a:t>
            </a:r>
            <a:r>
              <a:rPr lang="en-GB" dirty="0"/>
              <a:t>n </a:t>
            </a:r>
            <a:r>
              <a:rPr lang="ru-RU" dirty="0"/>
              <a:t>в конец числового литерала или вызвать функцию </a:t>
            </a:r>
            <a:r>
              <a:rPr lang="en-GB" dirty="0" err="1"/>
              <a:t>BigInt</a:t>
            </a:r>
            <a:r>
              <a:rPr lang="en-GB" dirty="0"/>
              <a:t>, </a:t>
            </a:r>
            <a:r>
              <a:rPr lang="ru-RU" dirty="0"/>
              <a:t>которая создаст число типа </a:t>
            </a:r>
            <a:r>
              <a:rPr lang="en-GB" dirty="0" err="1"/>
              <a:t>BigInt</a:t>
            </a:r>
            <a:r>
              <a:rPr lang="en-GB" dirty="0"/>
              <a:t> </a:t>
            </a:r>
            <a:r>
              <a:rPr lang="ru-RU" dirty="0"/>
              <a:t>из переданного аргумента. Аргументом может быть число, строка и др.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некотором смысле он похож на </a:t>
            </a:r>
            <a:r>
              <a:rPr lang="en-GB" dirty="0"/>
              <a:t>Number, </a:t>
            </a:r>
            <a:r>
              <a:rPr lang="ru-RU" dirty="0"/>
              <a:t>но отличается в некоторых ключевых моментах — его нельзя использовать с методами во встроенном объекте </a:t>
            </a:r>
            <a:r>
              <a:rPr lang="en-GB" dirty="0"/>
              <a:t>Math </a:t>
            </a:r>
            <a:r>
              <a:rPr lang="ru-RU" dirty="0"/>
              <a:t>и нельзя смешивать в операциях с любыми экземплярами </a:t>
            </a:r>
            <a:r>
              <a:rPr lang="en-GB" dirty="0"/>
              <a:t>Number.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C3482-4361-9545-8F8F-F49AC001A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699" y="2488683"/>
            <a:ext cx="81026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55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28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78BF5-1827-BC45-87C8-41225AA7A6A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en-GB" dirty="0"/>
              <a:t>JavaScript </a:t>
            </a:r>
            <a:r>
              <a:rPr lang="ru-RU" dirty="0"/>
              <a:t>любые текстовые данные являются строками</a:t>
            </a:r>
          </a:p>
          <a:p>
            <a:r>
              <a:rPr lang="ru-RU" dirty="0"/>
              <a:t>Внутренний формат для строк — всегда </a:t>
            </a:r>
            <a:r>
              <a:rPr lang="en-GB" dirty="0"/>
              <a:t>UTF-16, </a:t>
            </a:r>
            <a:r>
              <a:rPr lang="ru-RU" dirty="0"/>
              <a:t>вне зависимости от кодировки страницы.</a:t>
            </a:r>
          </a:p>
          <a:p>
            <a:endParaRPr lang="en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0972BE-6A78-2F40-9D9C-5583C772B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38400"/>
            <a:ext cx="3721100" cy="198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A278F0-29C6-9A4D-BB15-F5E9B3CBE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4" y="4508692"/>
            <a:ext cx="5435600" cy="2222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487817-3F8C-BB49-B15F-1047B7483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344" y="4512788"/>
            <a:ext cx="6236646" cy="221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2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29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78BF5-1827-BC45-87C8-41225AA7A6A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Спецсимволы</a:t>
            </a:r>
          </a:p>
          <a:p>
            <a:pPr marL="0" indent="0">
              <a:buNone/>
            </a:pPr>
            <a:endParaRPr lang="en-RU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4B9B9F-D503-F946-A93E-DB09E232B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389526"/>
              </p:ext>
            </p:extLst>
          </p:nvPr>
        </p:nvGraphicFramePr>
        <p:xfrm>
          <a:off x="801689" y="2272748"/>
          <a:ext cx="10515600" cy="3383280"/>
        </p:xfrm>
        <a:graphic>
          <a:graphicData uri="http://schemas.openxmlformats.org/drawingml/2006/table">
            <a:tbl>
              <a:tblPr/>
              <a:tblGrid>
                <a:gridCol w="2026186">
                  <a:extLst>
                    <a:ext uri="{9D8B030D-6E8A-4147-A177-3AD203B41FA5}">
                      <a16:colId xmlns:a16="http://schemas.microsoft.com/office/drawing/2014/main" val="3732010121"/>
                    </a:ext>
                  </a:extLst>
                </a:gridCol>
                <a:gridCol w="8489414">
                  <a:extLst>
                    <a:ext uri="{9D8B030D-6E8A-4147-A177-3AD203B41FA5}">
                      <a16:colId xmlns:a16="http://schemas.microsoft.com/office/drawing/2014/main" val="3909668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Символ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962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\n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Перевод строки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561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\r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В текстовых файлах </a:t>
                      </a:r>
                      <a:r>
                        <a:rPr lang="en-GB"/>
                        <a:t>Windows </a:t>
                      </a:r>
                      <a:r>
                        <a:rPr lang="ru-RU"/>
                        <a:t>для перевода строки используется комбинация символов \</a:t>
                      </a:r>
                      <a:r>
                        <a:rPr lang="en-GB"/>
                        <a:t>r\n, </a:t>
                      </a:r>
                      <a:r>
                        <a:rPr lang="ru-RU"/>
                        <a:t>а на других ОС это просто \</a:t>
                      </a:r>
                      <a:r>
                        <a:rPr lang="en-GB"/>
                        <a:t>n. </a:t>
                      </a:r>
                      <a:r>
                        <a:rPr lang="ru-RU"/>
                        <a:t>Это так по историческим причинам, ПО под </a:t>
                      </a:r>
                      <a:r>
                        <a:rPr lang="en-GB"/>
                        <a:t>Windows </a:t>
                      </a:r>
                      <a:r>
                        <a:rPr lang="ru-RU"/>
                        <a:t>обычно понимает и просто \</a:t>
                      </a:r>
                      <a:r>
                        <a:rPr lang="en-GB"/>
                        <a:t>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977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RU"/>
                        <a:t>\', \", \`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Кавычки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721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RU"/>
                        <a:t>\\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Обратный слеш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027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\t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/>
                        <a:t>Знак табуляции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72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\b, \f, \v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Backspace, Form Feed </a:t>
                      </a:r>
                      <a:r>
                        <a:rPr lang="ru-RU" dirty="0"/>
                        <a:t>и </a:t>
                      </a:r>
                      <a:r>
                        <a:rPr lang="en-GB" dirty="0"/>
                        <a:t>Vertical Tab — </a:t>
                      </a:r>
                      <a:r>
                        <a:rPr lang="ru-RU" dirty="0"/>
                        <a:t>оставлены для обратной совместимости, сейчас не используются.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750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625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30</a:t>
            </a:fld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BB10DB7-84E9-1341-95E0-E12D9C6D182B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2152650" y="1327197"/>
            <a:ext cx="7886700" cy="293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ED164B-986C-234A-8C86-16DBE3EB5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889453"/>
            <a:ext cx="56388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80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определения длины строки используется свойство </a:t>
            </a:r>
            <a:r>
              <a:rPr lang="en-GB" dirty="0"/>
              <a:t>length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Бывает так, что люди с практикой в других языках случайно пытаются вызвать его, добавляя круглые скобки: они пишут </a:t>
            </a:r>
            <a:r>
              <a:rPr lang="en-GB" dirty="0" err="1"/>
              <a:t>str.length</a:t>
            </a:r>
            <a:r>
              <a:rPr lang="en-GB" dirty="0"/>
              <a:t>() </a:t>
            </a:r>
            <a:r>
              <a:rPr lang="ru-RU" dirty="0"/>
              <a:t>вместо </a:t>
            </a:r>
            <a:r>
              <a:rPr lang="en-GB" dirty="0" err="1"/>
              <a:t>str.length</a:t>
            </a:r>
            <a:r>
              <a:rPr lang="en-GB" dirty="0"/>
              <a:t>. </a:t>
            </a:r>
            <a:r>
              <a:rPr lang="ru-RU" dirty="0"/>
              <a:t>Это не работает.</a:t>
            </a:r>
          </a:p>
          <a:p>
            <a:pPr marL="0" indent="0">
              <a:buNone/>
            </a:pPr>
            <a:r>
              <a:rPr lang="ru-RU" dirty="0"/>
              <a:t>Так как </a:t>
            </a:r>
            <a:r>
              <a:rPr lang="en-GB" dirty="0" err="1"/>
              <a:t>str.length</a:t>
            </a:r>
            <a:r>
              <a:rPr lang="en-GB" dirty="0"/>
              <a:t> — </a:t>
            </a:r>
            <a:r>
              <a:rPr lang="ru-RU" dirty="0"/>
              <a:t>это числовое свойство, а не функция, добавлять скобки не нужно.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Какое значение выводит функция?</a:t>
            </a:r>
          </a:p>
          <a:p>
            <a:endParaRPr lang="en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C8D51F-439F-314B-A4CE-20D8A6833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36" y="3201291"/>
            <a:ext cx="3073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33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Доступ к символам строки.</a:t>
            </a:r>
          </a:p>
          <a:p>
            <a:pPr marL="0" indent="0">
              <a:buNone/>
            </a:pPr>
            <a:r>
              <a:rPr lang="ru-RU" dirty="0"/>
              <a:t>Получить символ, который занимает позицию </a:t>
            </a:r>
            <a:r>
              <a:rPr lang="en-GB" dirty="0" err="1"/>
              <a:t>pos</a:t>
            </a:r>
            <a:r>
              <a:rPr lang="en-GB" dirty="0"/>
              <a:t>, </a:t>
            </a:r>
            <a:r>
              <a:rPr lang="ru-RU" dirty="0"/>
              <a:t>можно с помощью квадратных скобок: [</a:t>
            </a:r>
            <a:r>
              <a:rPr lang="en-GB" dirty="0" err="1"/>
              <a:t>pos</a:t>
            </a:r>
            <a:r>
              <a:rPr lang="en-GB" dirty="0"/>
              <a:t>]. </a:t>
            </a:r>
            <a:r>
              <a:rPr lang="ru-RU" dirty="0"/>
              <a:t>Также можно использовать метод </a:t>
            </a:r>
            <a:r>
              <a:rPr lang="en-GB" dirty="0"/>
              <a:t>str.at(pos). </a:t>
            </a:r>
            <a:r>
              <a:rPr lang="ru-RU" dirty="0"/>
              <a:t>Первый символ занимает нулевую позицию: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допускает отрицательную позицию. Если </a:t>
            </a:r>
            <a:r>
              <a:rPr lang="en-GB" dirty="0" err="1"/>
              <a:t>pos</a:t>
            </a:r>
            <a:r>
              <a:rPr lang="en-GB" dirty="0"/>
              <a:t> – </a:t>
            </a:r>
            <a:r>
              <a:rPr lang="ru-RU" dirty="0"/>
              <a:t>отрицательное число, то отсчет ведется от конца строки.</a:t>
            </a:r>
          </a:p>
          <a:p>
            <a:r>
              <a:rPr lang="ru-RU" dirty="0"/>
              <a:t>Таким образом, .</a:t>
            </a:r>
            <a:r>
              <a:rPr lang="en-GB" dirty="0"/>
              <a:t>at(-1) </a:t>
            </a:r>
            <a:r>
              <a:rPr lang="ru-RU" dirty="0"/>
              <a:t>означает последний символ, а .</a:t>
            </a:r>
            <a:r>
              <a:rPr lang="en-GB" dirty="0"/>
              <a:t>at(-2) – </a:t>
            </a:r>
            <a:r>
              <a:rPr lang="ru-RU" dirty="0"/>
              <a:t>тот, что перед ним, и т.д.</a:t>
            </a:r>
          </a:p>
          <a:p>
            <a:r>
              <a:rPr lang="ru-RU" dirty="0"/>
              <a:t>Квадратные скобки всегда возвращают </a:t>
            </a:r>
            <a:r>
              <a:rPr lang="en-GB" dirty="0"/>
              <a:t>undefined </a:t>
            </a:r>
            <a:r>
              <a:rPr lang="ru-RU" dirty="0"/>
              <a:t>для отрицательных индексов.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601385-D805-7143-AFD7-3C597A9CA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45" y="2149973"/>
            <a:ext cx="4254500" cy="3175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B97D94-3EF9-E345-B162-4AFA6D8DF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886" y="2746873"/>
            <a:ext cx="38227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28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Также можно перебрать строку посимвольно, используя </a:t>
            </a:r>
            <a:r>
              <a:rPr lang="en-GB" dirty="0" err="1"/>
              <a:t>for..of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1BBB12-1874-0D4E-B4AB-48D868B07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50" y="2552700"/>
            <a:ext cx="88519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47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Содержимое строки в </a:t>
            </a:r>
            <a:r>
              <a:rPr lang="en-GB" dirty="0"/>
              <a:t>JavaScript </a:t>
            </a:r>
            <a:r>
              <a:rPr lang="ru-RU" dirty="0"/>
              <a:t>нельзя изменить. Нельзя взять символ посередине и заменить его.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9AD143-0EC6-374A-9E6B-19EAAC810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86" y="2918532"/>
            <a:ext cx="39243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20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Методы </a:t>
            </a:r>
            <a:r>
              <a:rPr lang="en-GB" dirty="0"/>
              <a:t>toLowerCase() </a:t>
            </a:r>
            <a:r>
              <a:rPr lang="ru-RU" dirty="0"/>
              <a:t>и </a:t>
            </a:r>
            <a:r>
              <a:rPr lang="en-GB" dirty="0"/>
              <a:t>toUpperCase() </a:t>
            </a:r>
            <a:r>
              <a:rPr lang="ru-RU" dirty="0"/>
              <a:t>меняют регистр символов: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C2E696-8EE2-1046-8F8C-2F263A939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2673350"/>
            <a:ext cx="57531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056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Поиск подстроки:</a:t>
            </a:r>
          </a:p>
          <a:p>
            <a:r>
              <a:rPr lang="ru-RU" dirty="0"/>
              <a:t>Первый метод — </a:t>
            </a:r>
            <a:r>
              <a:rPr lang="en-GB" dirty="0"/>
              <a:t>str.indexOf(substr, pos).</a:t>
            </a:r>
          </a:p>
          <a:p>
            <a:r>
              <a:rPr lang="ru-RU" dirty="0"/>
              <a:t>Он ищет подстроку </a:t>
            </a:r>
            <a:r>
              <a:rPr lang="en-GB" dirty="0" err="1"/>
              <a:t>substr</a:t>
            </a:r>
            <a:r>
              <a:rPr lang="en-GB" dirty="0"/>
              <a:t> </a:t>
            </a:r>
            <a:r>
              <a:rPr lang="ru-RU" dirty="0"/>
              <a:t>в строке </a:t>
            </a:r>
            <a:r>
              <a:rPr lang="en-GB" dirty="0"/>
              <a:t>str, </a:t>
            </a:r>
            <a:r>
              <a:rPr lang="ru-RU" dirty="0"/>
              <a:t>начиная с позиции </a:t>
            </a:r>
            <a:r>
              <a:rPr lang="en-GB" dirty="0" err="1"/>
              <a:t>pos</a:t>
            </a:r>
            <a:r>
              <a:rPr lang="en-GB" dirty="0"/>
              <a:t>, </a:t>
            </a:r>
            <a:r>
              <a:rPr lang="ru-RU" dirty="0"/>
              <a:t>и возвращает позицию, на которой располагается совпадение, либо -1 при отсутствии совпадений.</a:t>
            </a:r>
          </a:p>
          <a:p>
            <a:pPr marL="0" indent="0">
              <a:buNone/>
            </a:pPr>
            <a:r>
              <a:rPr lang="ru-RU" dirty="0"/>
              <a:t>Необязательный второй аргумент позволяет начать поиск с определённой позиции.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70C443-CB81-1C44-A2B8-CFFFA694E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36" y="2783598"/>
            <a:ext cx="9931400" cy="2463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0FD05D-39E4-0C42-92A8-66D2FF6FC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748" y="5161155"/>
            <a:ext cx="43561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92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Поиск подстроки:</a:t>
            </a:r>
          </a:p>
          <a:p>
            <a:pPr marL="0" indent="0">
              <a:buNone/>
            </a:pPr>
            <a:r>
              <a:rPr lang="ru-RU" dirty="0"/>
              <a:t>Второй метод - </a:t>
            </a:r>
            <a:r>
              <a:rPr lang="en-GB" dirty="0" err="1"/>
              <a:t>str.lastIndexOf</a:t>
            </a:r>
            <a:r>
              <a:rPr lang="en-GB" dirty="0"/>
              <a:t>(</a:t>
            </a:r>
            <a:r>
              <a:rPr lang="en-GB" dirty="0" err="1"/>
              <a:t>substr</a:t>
            </a:r>
            <a:r>
              <a:rPr lang="en-GB" dirty="0"/>
              <a:t>, position)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Основные методы: </a:t>
            </a:r>
            <a:r>
              <a:rPr lang="en-GB" b="1" dirty="0"/>
              <a:t>includes, startsWith, endsWith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0C8CE4-C857-6540-A748-31C9B7674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2673350"/>
            <a:ext cx="8102600" cy="1511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2C1BD2-9440-6E4A-B56E-764DB3C8A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436" y="4323314"/>
            <a:ext cx="81026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278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38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Получение подстроки:</a:t>
            </a:r>
          </a:p>
          <a:p>
            <a:pPr marL="0" indent="0">
              <a:buNone/>
            </a:pPr>
            <a:r>
              <a:rPr lang="ru-RU" dirty="0"/>
              <a:t>В </a:t>
            </a:r>
            <a:r>
              <a:rPr lang="en-GB" dirty="0"/>
              <a:t>JavaScript </a:t>
            </a:r>
            <a:r>
              <a:rPr lang="ru-RU" dirty="0"/>
              <a:t>есть 3 метода для получения подстроки: </a:t>
            </a:r>
            <a:r>
              <a:rPr lang="en-GB" dirty="0"/>
              <a:t>substring, </a:t>
            </a:r>
            <a:r>
              <a:rPr lang="en-GB" dirty="0" err="1"/>
              <a:t>substr</a:t>
            </a:r>
            <a:r>
              <a:rPr lang="en-GB" dirty="0"/>
              <a:t> </a:t>
            </a:r>
            <a:r>
              <a:rPr lang="ru-RU" dirty="0"/>
              <a:t>и </a:t>
            </a:r>
            <a:r>
              <a:rPr lang="en-GB" dirty="0"/>
              <a:t>slice.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963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39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Получение подстроки: </a:t>
            </a:r>
            <a:r>
              <a:rPr lang="en-GB" dirty="0" err="1"/>
              <a:t>str.slice</a:t>
            </a:r>
            <a:r>
              <a:rPr lang="en-GB" dirty="0"/>
              <a:t>(start [, end])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Возвращает часть строки от </a:t>
            </a:r>
            <a:r>
              <a:rPr lang="en-GB" dirty="0"/>
              <a:t>start </a:t>
            </a:r>
            <a:r>
              <a:rPr lang="ru-RU" dirty="0"/>
              <a:t>до </a:t>
            </a:r>
            <a:r>
              <a:rPr lang="en-GB" dirty="0"/>
              <a:t>end</a:t>
            </a:r>
            <a:r>
              <a:rPr lang="ru-RU" dirty="0"/>
              <a:t> не включительно.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81C9D2-E44F-8A43-ADE6-6F429BF96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436" y="2250920"/>
            <a:ext cx="8102600" cy="2222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842A78-3391-7E49-9874-E98BE9601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586" y="4755375"/>
            <a:ext cx="67183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95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40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Получение подстроки: </a:t>
            </a:r>
            <a:r>
              <a:rPr lang="en-GB" dirty="0" err="1"/>
              <a:t>str.slice</a:t>
            </a:r>
            <a:r>
              <a:rPr lang="en-GB" dirty="0"/>
              <a:t>(start [, end])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Возвращает часть строки от </a:t>
            </a:r>
            <a:r>
              <a:rPr lang="en-GB" dirty="0"/>
              <a:t>start </a:t>
            </a:r>
            <a:r>
              <a:rPr lang="ru-RU" dirty="0"/>
              <a:t>до </a:t>
            </a:r>
            <a:r>
              <a:rPr lang="en-GB" dirty="0"/>
              <a:t>end</a:t>
            </a:r>
            <a:r>
              <a:rPr lang="ru-RU" dirty="0"/>
              <a:t> не включительно.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C8FB86-4FBB-7345-842A-2A9FC608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0" y="2438400"/>
            <a:ext cx="7569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097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Получение подстроки: </a:t>
            </a:r>
            <a:r>
              <a:rPr lang="en-GB" dirty="0" err="1"/>
              <a:t>str.substring</a:t>
            </a:r>
            <a:r>
              <a:rPr lang="en-GB" dirty="0"/>
              <a:t>(start [, end])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Возвращает часть строки между </a:t>
            </a:r>
            <a:r>
              <a:rPr lang="en-GB" dirty="0"/>
              <a:t>start </a:t>
            </a:r>
            <a:r>
              <a:rPr lang="ru-RU" dirty="0"/>
              <a:t>и </a:t>
            </a:r>
            <a:r>
              <a:rPr lang="en-GB" dirty="0"/>
              <a:t>end</a:t>
            </a:r>
            <a:r>
              <a:rPr lang="ru-RU" dirty="0"/>
              <a:t>, не включая </a:t>
            </a:r>
            <a:r>
              <a:rPr lang="en-GB" dirty="0"/>
              <a:t>end.</a:t>
            </a:r>
            <a:r>
              <a:rPr lang="ru-RU" dirty="0"/>
              <a:t> Почти то же, что и </a:t>
            </a:r>
            <a:r>
              <a:rPr lang="en-GB" dirty="0"/>
              <a:t>slice, </a:t>
            </a:r>
            <a:r>
              <a:rPr lang="ru-RU" dirty="0"/>
              <a:t>но можно задавать </a:t>
            </a:r>
            <a:r>
              <a:rPr lang="en-GB" dirty="0"/>
              <a:t>start </a:t>
            </a:r>
            <a:r>
              <a:rPr lang="ru-RU" dirty="0"/>
              <a:t>больше </a:t>
            </a:r>
            <a:r>
              <a:rPr lang="en-GB" dirty="0"/>
              <a:t>end.</a:t>
            </a:r>
            <a:r>
              <a:rPr lang="ru-RU" dirty="0"/>
              <a:t> Если </a:t>
            </a:r>
            <a:r>
              <a:rPr lang="en-GB" dirty="0"/>
              <a:t>start </a:t>
            </a:r>
            <a:r>
              <a:rPr lang="ru-RU" dirty="0"/>
              <a:t>больше </a:t>
            </a:r>
            <a:r>
              <a:rPr lang="en-GB" dirty="0"/>
              <a:t>end, </a:t>
            </a:r>
            <a:r>
              <a:rPr lang="ru-RU" dirty="0"/>
              <a:t>то метод </a:t>
            </a:r>
            <a:r>
              <a:rPr lang="en-GB" dirty="0"/>
              <a:t>substring </a:t>
            </a:r>
            <a:r>
              <a:rPr lang="ru-RU" dirty="0"/>
              <a:t>сработает так, как если бы аргументы были поменяны местами.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F3A9BC-B725-C144-B6E5-61F1A2B62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386" y="2788951"/>
            <a:ext cx="58547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426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Получение подстроки: </a:t>
            </a:r>
            <a:r>
              <a:rPr lang="en-GB" dirty="0" err="1"/>
              <a:t>str.substr</a:t>
            </a:r>
            <a:r>
              <a:rPr lang="en-GB" dirty="0"/>
              <a:t>(start [, length])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Возвращает часть строки от </a:t>
            </a:r>
            <a:r>
              <a:rPr lang="en-GB" dirty="0"/>
              <a:t>start </a:t>
            </a:r>
            <a:r>
              <a:rPr lang="ru-RU" dirty="0"/>
              <a:t>длины </a:t>
            </a:r>
            <a:r>
              <a:rPr lang="en-GB" dirty="0"/>
              <a:t>length.</a:t>
            </a:r>
          </a:p>
          <a:p>
            <a:pPr marL="0" indent="0">
              <a:buNone/>
            </a:pPr>
            <a:r>
              <a:rPr lang="ru-RU" dirty="0"/>
              <a:t>В противоположность предыдущим методам, этот позволяет указать длину вместо конечной позиции: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A81E88-E2D3-164F-AA2A-18664659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2552700"/>
            <a:ext cx="5753100" cy="175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32FDC1-7FBA-1649-82EE-44F8C594C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036" y="4550665"/>
            <a:ext cx="71374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03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Есть три типа кавычек. Строки, использующие обратные кавычки, могут занимать более одной строки в коде и включать выражения ${…}.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Строки в </a:t>
            </a:r>
            <a:r>
              <a:rPr lang="en-GB" dirty="0"/>
              <a:t>JavaScript </a:t>
            </a:r>
            <a:r>
              <a:rPr lang="ru-RU" dirty="0"/>
              <a:t>кодируются в </a:t>
            </a:r>
            <a:r>
              <a:rPr lang="en-GB" dirty="0"/>
              <a:t>UTF-16.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Есть специальные символы, такие как разрыв строки \</a:t>
            </a:r>
            <a:r>
              <a:rPr lang="en-GB" dirty="0"/>
              <a:t>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Для получения символа используйте [ ] или метод </a:t>
            </a:r>
            <a:r>
              <a:rPr lang="en-GB" dirty="0"/>
              <a:t>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Для получения подстроки используйте </a:t>
            </a:r>
            <a:r>
              <a:rPr lang="en-GB" dirty="0"/>
              <a:t>slice </a:t>
            </a:r>
            <a:r>
              <a:rPr lang="ru-RU" dirty="0"/>
              <a:t>или </a:t>
            </a:r>
            <a:r>
              <a:rPr lang="en-GB" dirty="0"/>
              <a:t>substring.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Для того, чтобы перевести строку в нижний или верхний регистр, используйте </a:t>
            </a:r>
            <a:r>
              <a:rPr lang="en-GB" dirty="0" err="1"/>
              <a:t>toLowerCase</a:t>
            </a:r>
            <a:r>
              <a:rPr lang="en-GB" dirty="0"/>
              <a:t>/</a:t>
            </a:r>
            <a:r>
              <a:rPr lang="en-GB" dirty="0" err="1"/>
              <a:t>toUpperCase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Для поиска подстроки используйте </a:t>
            </a:r>
            <a:r>
              <a:rPr lang="en-GB" dirty="0" err="1"/>
              <a:t>indexOf</a:t>
            </a:r>
            <a:r>
              <a:rPr lang="en-GB" dirty="0"/>
              <a:t> </a:t>
            </a:r>
            <a:r>
              <a:rPr lang="ru-RU" dirty="0"/>
              <a:t>или </a:t>
            </a:r>
            <a:r>
              <a:rPr lang="en-GB" dirty="0"/>
              <a:t>includes/</a:t>
            </a:r>
            <a:r>
              <a:rPr lang="en-GB" dirty="0" err="1"/>
              <a:t>startsWith</a:t>
            </a:r>
            <a:r>
              <a:rPr lang="en-GB" dirty="0"/>
              <a:t>/</a:t>
            </a:r>
            <a:r>
              <a:rPr lang="en-GB" dirty="0" err="1"/>
              <a:t>endsWith</a:t>
            </a:r>
            <a:r>
              <a:rPr lang="en-GB" dirty="0"/>
              <a:t>, </a:t>
            </a:r>
            <a:r>
              <a:rPr lang="ru-RU" dirty="0"/>
              <a:t>когда надо только проверить, есть ли вхождение.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Чтобы сравнить строки с учётом правил языка, используйте </a:t>
            </a:r>
            <a:r>
              <a:rPr lang="en-GB" dirty="0" err="1"/>
              <a:t>localeCompare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Строки также имеют ещё кое-какие полезные методы: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str.trim</a:t>
            </a:r>
            <a:r>
              <a:rPr lang="en-GB" dirty="0"/>
              <a:t>() — </a:t>
            </a:r>
            <a:r>
              <a:rPr lang="ru-RU" dirty="0"/>
              <a:t>убирает пробелы в начале и конце строки.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str.repeat</a:t>
            </a:r>
            <a:r>
              <a:rPr lang="en-GB" dirty="0"/>
              <a:t>(n) — </a:t>
            </a:r>
            <a:r>
              <a:rPr lang="ru-RU" dirty="0"/>
              <a:t>повторяет строку </a:t>
            </a:r>
            <a:r>
              <a:rPr lang="en-GB" dirty="0"/>
              <a:t>n </a:t>
            </a:r>
            <a:r>
              <a:rPr lang="ru-RU" dirty="0"/>
              <a:t>раз</a:t>
            </a:r>
          </a:p>
        </p:txBody>
      </p:sp>
    </p:spTree>
    <p:extLst>
      <p:ext uri="{BB962C8B-B14F-4D97-AF65-F5344CB8AC3E}">
        <p14:creationId xmlns:p14="http://schemas.microsoft.com/office/powerpoint/2010/main" val="18997312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Задание:</a:t>
            </a:r>
          </a:p>
          <a:p>
            <a:pPr marL="342900" indent="-342900">
              <a:buAutoNum type="arabicParenR"/>
            </a:pPr>
            <a:r>
              <a:rPr lang="ru-RU" dirty="0"/>
              <a:t>перевести строку </a:t>
            </a:r>
            <a:r>
              <a:rPr lang="en-US" dirty="0"/>
              <a:t>JAVASCRIPT </a:t>
            </a:r>
            <a:r>
              <a:rPr lang="ru-RU" dirty="0"/>
              <a:t>к нижнему регистру, используя встроенные механизмы языка,</a:t>
            </a:r>
          </a:p>
          <a:p>
            <a:pPr marL="0" indent="0">
              <a:buNone/>
            </a:pPr>
            <a:r>
              <a:rPr lang="ru-RU" dirty="0"/>
              <a:t>2)  объявить строку из прописных букв, сделать первый символ строки заглавной буквой,</a:t>
            </a:r>
          </a:p>
          <a:p>
            <a:pPr marL="0" indent="0">
              <a:buNone/>
            </a:pPr>
            <a:r>
              <a:rPr lang="ru-RU" dirty="0"/>
              <a:t>3) создать функцию </a:t>
            </a:r>
            <a:r>
              <a:rPr lang="en-GB" dirty="0"/>
              <a:t>truncate(str, </a:t>
            </a:r>
            <a:r>
              <a:rPr lang="en-GB" dirty="0" err="1"/>
              <a:t>maxlength</a:t>
            </a:r>
            <a:r>
              <a:rPr lang="en-GB" dirty="0"/>
              <a:t>), </a:t>
            </a:r>
            <a:r>
              <a:rPr lang="ru-RU" dirty="0"/>
              <a:t>которая проверяет длину строки </a:t>
            </a:r>
            <a:r>
              <a:rPr lang="en-GB" dirty="0"/>
              <a:t>str </a:t>
            </a:r>
            <a:r>
              <a:rPr lang="ru-RU" dirty="0"/>
              <a:t>и, если она превосходит </a:t>
            </a:r>
            <a:r>
              <a:rPr lang="en-GB" dirty="0" err="1"/>
              <a:t>maxlength</a:t>
            </a:r>
            <a:r>
              <a:rPr lang="en-GB" dirty="0"/>
              <a:t>, </a:t>
            </a:r>
            <a:r>
              <a:rPr lang="ru-RU" dirty="0"/>
              <a:t>заменяет конец </a:t>
            </a:r>
            <a:r>
              <a:rPr lang="en-GB" dirty="0"/>
              <a:t>str </a:t>
            </a:r>
            <a:r>
              <a:rPr lang="ru-RU" dirty="0"/>
              <a:t>на "…", так, чтобы её длина стала равна </a:t>
            </a:r>
            <a:r>
              <a:rPr lang="en-GB" dirty="0" err="1"/>
              <a:t>maxlength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9355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Строка </a:t>
            </a:r>
            <a:r>
              <a:rPr lang="en-US" dirty="0"/>
              <a:t>“string”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F81-6590-B24A-8B7F-F2EA5FCD09D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69634"/>
            <a:ext cx="11738505" cy="52789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Решения:</a:t>
            </a:r>
          </a:p>
          <a:p>
            <a:pPr marL="342900" indent="-342900">
              <a:buAutoNum type="arabicParenR"/>
            </a:pPr>
            <a:r>
              <a:rPr lang="ru-RU" dirty="0"/>
              <a:t>перевести строку </a:t>
            </a:r>
            <a:r>
              <a:rPr lang="en-US" dirty="0"/>
              <a:t>JAVASCRIPT </a:t>
            </a:r>
            <a:r>
              <a:rPr lang="ru-RU" dirty="0"/>
              <a:t>к нижнему регистру, используя встроенные механизмы языка,</a:t>
            </a: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ru-RU" dirty="0"/>
              <a:t>2) объявить строку из прописных букв, привести первую букву к верхнему регистру,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3) создать функцию </a:t>
            </a:r>
            <a:r>
              <a:rPr lang="en-GB" dirty="0"/>
              <a:t>truncate(str, </a:t>
            </a:r>
            <a:r>
              <a:rPr lang="en-GB" dirty="0" err="1"/>
              <a:t>maxlength</a:t>
            </a:r>
            <a:r>
              <a:rPr lang="en-GB" dirty="0"/>
              <a:t>), </a:t>
            </a:r>
            <a:r>
              <a:rPr lang="ru-RU" dirty="0"/>
              <a:t>которая проверяет длину строки </a:t>
            </a:r>
            <a:r>
              <a:rPr lang="en-GB" dirty="0"/>
              <a:t>str </a:t>
            </a:r>
            <a:r>
              <a:rPr lang="ru-RU" dirty="0"/>
              <a:t>и, если она превосходит </a:t>
            </a:r>
            <a:r>
              <a:rPr lang="en-GB" dirty="0" err="1"/>
              <a:t>maxlength</a:t>
            </a:r>
            <a:r>
              <a:rPr lang="en-GB" dirty="0"/>
              <a:t>, </a:t>
            </a:r>
            <a:r>
              <a:rPr lang="ru-RU" dirty="0"/>
              <a:t>заменяет конец </a:t>
            </a:r>
            <a:r>
              <a:rPr lang="en-GB" dirty="0"/>
              <a:t>str </a:t>
            </a:r>
            <a:r>
              <a:rPr lang="ru-RU" dirty="0"/>
              <a:t>на "…", так, чтобы её длина стала равна </a:t>
            </a:r>
            <a:r>
              <a:rPr lang="en-GB" dirty="0" err="1"/>
              <a:t>maxlength</a:t>
            </a:r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ADBB1E-5103-5140-9CFC-788664FD6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619" y="3331774"/>
            <a:ext cx="5270534" cy="11547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4363A6-769E-AF4A-9236-6102ED7F7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0" y="5004174"/>
            <a:ext cx="4520686" cy="1683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D760B7-F22F-384A-AD8B-F9D756F8B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999" y="1906122"/>
            <a:ext cx="4358277" cy="114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906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Логический </a:t>
            </a:r>
            <a:r>
              <a:rPr lang="en-US" dirty="0"/>
              <a:t>“</a:t>
            </a:r>
            <a:r>
              <a:rPr lang="en-US" dirty="0" err="1"/>
              <a:t>boolean</a:t>
            </a:r>
            <a:r>
              <a:rPr lang="en-US" dirty="0"/>
              <a:t>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 него всего два значения: </a:t>
            </a:r>
            <a:r>
              <a:rPr lang="en-GB" dirty="0"/>
              <a:t>true (</a:t>
            </a:r>
            <a:r>
              <a:rPr lang="ru-RU" dirty="0"/>
              <a:t>истина) и </a:t>
            </a:r>
            <a:r>
              <a:rPr lang="en-GB" dirty="0"/>
              <a:t>false (</a:t>
            </a:r>
            <a:r>
              <a:rPr lang="ru-RU" dirty="0"/>
              <a:t>ложь).</a:t>
            </a:r>
            <a:endParaRPr lang="en-RU" dirty="0"/>
          </a:p>
        </p:txBody>
      </p:sp>
      <p:pic>
        <p:nvPicPr>
          <p:cNvPr id="5122" name="Picture 2" descr="booleans are hard : r/ProgrammerHumor">
            <a:extLst>
              <a:ext uri="{FF2B5EF4-FFF2-40B4-BE49-F238E27FC236}">
                <a16:creationId xmlns:a16="http://schemas.microsoft.com/office/drawing/2014/main" id="{7DC460EC-3F01-5A45-A8A6-FF7C89C52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435" y="1901656"/>
            <a:ext cx="4434901" cy="482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8210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Специальное значение </a:t>
            </a:r>
            <a:r>
              <a:rPr lang="en-US" dirty="0"/>
              <a:t>“null”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Значение </a:t>
            </a:r>
            <a:r>
              <a:rPr lang="en-GB" dirty="0"/>
              <a:t>null </a:t>
            </a:r>
            <a:r>
              <a:rPr lang="ru-RU" dirty="0"/>
              <a:t>не относится ни к одному из типов, а образует свой отдельный тип, состоящий из единственного значения </a:t>
            </a:r>
            <a:r>
              <a:rPr lang="en-GB" dirty="0"/>
              <a:t>null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</a:t>
            </a:r>
            <a:r>
              <a:rPr lang="en-GB" dirty="0"/>
              <a:t>JavaScript null </a:t>
            </a:r>
            <a:r>
              <a:rPr lang="ru-RU" dirty="0"/>
              <a:t>не является «ссылкой на несуществующий объект» или «нулевым указателем», как в некоторых других языках. Это просто специальное значение, которое имеет смысл «ничего» или «значение неизвестно».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66147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Специальное значение </a:t>
            </a:r>
            <a:r>
              <a:rPr lang="en-US" dirty="0"/>
              <a:t>“undefined”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48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r>
              <a:rPr lang="ru-RU" dirty="0"/>
              <a:t>Значение </a:t>
            </a:r>
            <a:r>
              <a:rPr lang="en-GB" dirty="0"/>
              <a:t>undefined, </a:t>
            </a:r>
            <a:r>
              <a:rPr lang="ru-RU" dirty="0"/>
              <a:t>как и </a:t>
            </a:r>
            <a:r>
              <a:rPr lang="en-GB" dirty="0"/>
              <a:t>null, </a:t>
            </a:r>
            <a:r>
              <a:rPr lang="ru-RU" dirty="0"/>
              <a:t>образует свой собственный тип, состоящий из одного этого значения. Оно имеет смысл «значение не присвоено».</a:t>
            </a:r>
          </a:p>
          <a:p>
            <a:r>
              <a:rPr lang="ru-RU" dirty="0"/>
              <a:t>Если переменная объявлена, но в неё ничего не записано, то её значение как раз и есть </a:t>
            </a:r>
            <a:r>
              <a:rPr lang="en-GB" dirty="0"/>
              <a:t>undefined</a:t>
            </a:r>
          </a:p>
          <a:p>
            <a:pPr marL="342900" indent="-342900">
              <a:buAutoNum type="arabicParenR"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5C35C4-EDAB-E548-A2FD-6D0DAB6EA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50" y="2673350"/>
            <a:ext cx="42545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470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Символы </a:t>
            </a:r>
            <a:r>
              <a:rPr lang="en-US" dirty="0"/>
              <a:t>“symbol”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49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«Символ» представляет собой уникальный идентификатор.</a:t>
            </a:r>
          </a:p>
          <a:p>
            <a:pPr marL="0" indent="0">
              <a:buNone/>
            </a:pPr>
            <a:r>
              <a:rPr lang="ru-RU" dirty="0"/>
              <a:t>Создаются новые символы с помощью функции </a:t>
            </a:r>
            <a:r>
              <a:rPr lang="en-GB" dirty="0"/>
              <a:t>Symbol()</a:t>
            </a:r>
            <a:r>
              <a:rPr lang="ru-RU" dirty="0"/>
              <a:t>. При создании символу можно дать описание (также называемое имя), в основном использующееся для отладки кода: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Символы гарантированно уникальны. Даже если мы создадим множество символов с одинаковым описанием, это всё равно будут разные символы. Описание – это просто метка, которая ни на что не влияет.</a:t>
            </a:r>
          </a:p>
          <a:p>
            <a:pPr marL="0" indent="0">
              <a:buNone/>
            </a:pPr>
            <a:r>
              <a:rPr lang="ru-RU" dirty="0"/>
              <a:t>Например, вот два символа с одинаковым описанием – но они не равны: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AutoNum type="arabicParenR"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D6F1E1-9123-8C43-B93A-BE2C00E0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99" y="2309794"/>
            <a:ext cx="5537200" cy="1511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162890-29E8-1747-AC6A-31892670A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99" y="4847002"/>
            <a:ext cx="3505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20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50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Объекты используются для хранения коллекций различных значений и более сложных сущностей. В </a:t>
            </a:r>
            <a:r>
              <a:rPr lang="en-GB" dirty="0"/>
              <a:t>JavaScript </a:t>
            </a:r>
            <a:r>
              <a:rPr lang="ru-RU" dirty="0"/>
              <a:t>объекты используются очень часто, это одна из основ языка.</a:t>
            </a:r>
          </a:p>
          <a:p>
            <a:pPr marL="0" indent="0">
              <a:buNone/>
            </a:pPr>
            <a:r>
              <a:rPr lang="ru-RU" dirty="0"/>
              <a:t>Объект может быть создан с помощью фигурных скобок {…} с необязательным списком </a:t>
            </a:r>
            <a:r>
              <a:rPr lang="ru-RU" i="1" dirty="0"/>
              <a:t>свойств</a:t>
            </a:r>
            <a:r>
              <a:rPr lang="ru-RU" dirty="0"/>
              <a:t>. Свойство – это пара «ключ: значение», где ключ – это строка (также называемая «именем свойства»), а значение может быть чем угодно.</a:t>
            </a:r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E93064-B5BA-6548-BF8D-9EF81B938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99" y="3036906"/>
            <a:ext cx="69342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563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 использовании литерального синтаксиса {...} мы сразу можем поместить в объект несколько свойств в виде пар «ключ: значение»: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Для обращения к свойствам используется запись «через точку»:</a:t>
            </a:r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4EF4F6-1B1D-F24F-A3AC-EA281F354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49" y="1920607"/>
            <a:ext cx="7251700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53352C-0358-014F-91DE-B28A52569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449" y="4308613"/>
            <a:ext cx="37211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703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Добавление свойства: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Удаление свойства: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9FED6F-8C8D-B941-AD2F-AB2FA18DA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679" y="1939351"/>
            <a:ext cx="2755900" cy="128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43B1E2-995F-D34C-BF72-6A3916A5D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36" y="4355736"/>
            <a:ext cx="23241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22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Имя свойства может состоять из нескольких слов, но тогда оно должно быть заключено в кавычки: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4431F-9DC1-584C-BEF4-659044B1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49" y="2599511"/>
            <a:ext cx="91821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548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Висящие запятые:</a:t>
            </a: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36B0B9-BA1C-6D48-9A37-3D272D4C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50" y="2438400"/>
            <a:ext cx="22225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616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Объект, объявленный через </a:t>
            </a:r>
            <a:r>
              <a:rPr lang="en-GB" dirty="0" err="1"/>
              <a:t>const</a:t>
            </a:r>
            <a:r>
              <a:rPr lang="en-GB" dirty="0"/>
              <a:t>, </a:t>
            </a:r>
            <a:r>
              <a:rPr lang="ru-RU" dirty="0"/>
              <a:t>может быть изменён.</a:t>
            </a: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34937-B6EE-B649-9152-B932987A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082800"/>
            <a:ext cx="33909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954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Доступ к свойствам через квадратные скобки:</a:t>
            </a: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1644ED-132F-004B-AB7C-7EFFCC2A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949" y="1528955"/>
            <a:ext cx="4356100" cy="340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0BA6CA-6FD3-9048-92D9-20FF6D49E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649" y="4932555"/>
            <a:ext cx="58547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539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Мы можем использовать квадратные скобки в литеральной нотации для создания вычисляемого свойства.</a:t>
            </a: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D0EEA-5056-C345-967B-5E2C9361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299" y="2082800"/>
            <a:ext cx="71374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977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58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реальном коде часто нам необходимо использовать существующие переменные как значения для свойств с тем же именем.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FFC65C-A82D-4B4E-B294-3D2342E44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08" y="2344145"/>
            <a:ext cx="4038600" cy="340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EF6D24-B835-5646-9C11-47F2F8A67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568" y="2699745"/>
            <a:ext cx="5105400" cy="269240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E88A98FD-41A5-CC42-BB4C-B54919C228EF}"/>
              </a:ext>
            </a:extLst>
          </p:cNvPr>
          <p:cNvSpPr/>
          <p:nvPr/>
        </p:nvSpPr>
        <p:spPr>
          <a:xfrm>
            <a:off x="5133860" y="3789802"/>
            <a:ext cx="1046603" cy="638979"/>
          </a:xfrm>
          <a:prstGeom prst="rightArrow">
            <a:avLst/>
          </a:prstGeom>
          <a:solidFill>
            <a:srgbClr val="FF7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223235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59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Как мы уже знаем, имя переменной не может совпадать с зарезервированными словами, такими как «</a:t>
            </a:r>
            <a:r>
              <a:rPr lang="en-GB" dirty="0"/>
              <a:t>for», «let», «return» </a:t>
            </a:r>
            <a:r>
              <a:rPr lang="ru-RU" dirty="0"/>
              <a:t>и т.д.</a:t>
            </a:r>
          </a:p>
          <a:p>
            <a:pPr marL="0" indent="0">
              <a:buNone/>
            </a:pPr>
            <a:r>
              <a:rPr lang="ru-RU" dirty="0"/>
              <a:t>Но для свойств объекта такого ограничения нет: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2B525-9CF4-EB47-A789-6B7634678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99" y="2546044"/>
            <a:ext cx="55372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473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60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отличие от многих других языков, особенность </a:t>
            </a:r>
            <a:r>
              <a:rPr lang="en-GB" dirty="0"/>
              <a:t>JavaScript-</a:t>
            </a:r>
            <a:r>
              <a:rPr lang="ru-RU" dirty="0"/>
              <a:t>объектов в том, что можно получить доступ к любому свойству. Даже если свойства не существует – ошибки не будет!</a:t>
            </a:r>
          </a:p>
          <a:p>
            <a:pPr marL="0" indent="0">
              <a:buNone/>
            </a:pPr>
            <a:r>
              <a:rPr lang="ru-RU" dirty="0"/>
              <a:t>При обращении к свойству, которого нет, возвращается </a:t>
            </a:r>
            <a:r>
              <a:rPr lang="en-GB" dirty="0"/>
              <a:t>undefined. </a:t>
            </a:r>
            <a:r>
              <a:rPr lang="ru-RU" dirty="0"/>
              <a:t>Это позволяет просто проверить существование свойства: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Также существует специальный оператор "</a:t>
            </a:r>
            <a:r>
              <a:rPr lang="en-GB" dirty="0"/>
              <a:t>in" </a:t>
            </a:r>
            <a:r>
              <a:rPr lang="ru-RU" dirty="0"/>
              <a:t>для проверки существования свойства в объекте: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60340A-5B7C-CF47-87E7-F6DC2D04E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49" y="2431514"/>
            <a:ext cx="8648700" cy="175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A11F5E-E6B3-C049-BAA9-C1E1924C2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149" y="4595108"/>
            <a:ext cx="72517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326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283886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перебора всех свойств объекта используется цикл </a:t>
            </a:r>
            <a:r>
              <a:rPr lang="en-GB" dirty="0" err="1"/>
              <a:t>for..in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95E75-75C2-A242-9827-BE53B2211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049" y="1965975"/>
            <a:ext cx="478790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317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130970"/>
            <a:ext cx="11738505" cy="54176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Объекты – это ассоциативные массивы с рядом дополнительных возможностей.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Они хранят свойства (пары ключ-значение), где: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Ключи свойств должны быть строками или символами (обычно строками).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Значения могут быть любого типа.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Чтобы получить доступ к свойству, мы можем использовать: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Запись через точку: </a:t>
            </a:r>
            <a:r>
              <a:rPr lang="en-GB" dirty="0" err="1"/>
              <a:t>obj.property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Квадратные скобки </a:t>
            </a:r>
            <a:r>
              <a:rPr lang="en-GB" dirty="0" err="1"/>
              <a:t>obj</a:t>
            </a:r>
            <a:r>
              <a:rPr lang="en-GB" dirty="0"/>
              <a:t>["property"]. </a:t>
            </a:r>
            <a:r>
              <a:rPr lang="ru-RU" dirty="0"/>
              <a:t>Квадратные скобки позволяют взять ключ из переменной, например, </a:t>
            </a:r>
            <a:r>
              <a:rPr lang="en-GB" dirty="0" err="1"/>
              <a:t>obj</a:t>
            </a:r>
            <a:r>
              <a:rPr lang="en-GB" dirty="0"/>
              <a:t>[</a:t>
            </a:r>
            <a:r>
              <a:rPr lang="en-GB" dirty="0" err="1"/>
              <a:t>varWithKey</a:t>
            </a:r>
            <a:r>
              <a:rPr lang="en-GB" dirty="0"/>
              <a:t>].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Дополнительные операторы: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Удаление свойства: </a:t>
            </a:r>
            <a:r>
              <a:rPr lang="en-GB" dirty="0"/>
              <a:t>delete </a:t>
            </a:r>
            <a:r>
              <a:rPr lang="en-GB" dirty="0" err="1"/>
              <a:t>obj.prop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Проверка существования свойства: "</a:t>
            </a:r>
            <a:r>
              <a:rPr lang="en-GB" dirty="0"/>
              <a:t>key" in obj.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Перебор свойств объекта: цикл </a:t>
            </a:r>
            <a:r>
              <a:rPr lang="en-GB" dirty="0"/>
              <a:t>for for (let key in </a:t>
            </a:r>
            <a:r>
              <a:rPr lang="en-GB" dirty="0" err="1"/>
              <a:t>obj</a:t>
            </a:r>
            <a:r>
              <a:rPr lang="en-GB" dirty="0"/>
              <a:t>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То, что мы изучали в этой главе, называется «простым объектом» («</a:t>
            </a:r>
            <a:r>
              <a:rPr lang="en-GB" dirty="0"/>
              <a:t>plain object») </a:t>
            </a:r>
            <a:r>
              <a:rPr lang="ru-RU" dirty="0"/>
              <a:t>или просто </a:t>
            </a:r>
            <a:r>
              <a:rPr lang="en-GB" dirty="0"/>
              <a:t>Object.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</a:t>
            </a:r>
            <a:r>
              <a:rPr lang="en-GB" dirty="0"/>
              <a:t>JavaScript </a:t>
            </a:r>
            <a:r>
              <a:rPr lang="ru-RU" dirty="0"/>
              <a:t>есть много других типов объектов: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Array </a:t>
            </a:r>
            <a:r>
              <a:rPr lang="ru-RU" dirty="0"/>
              <a:t>для хранения упорядоченных коллекций данных,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Date </a:t>
            </a:r>
            <a:r>
              <a:rPr lang="ru-RU" dirty="0"/>
              <a:t>для хранения информации о дате и времени,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Error </a:t>
            </a:r>
            <a:r>
              <a:rPr lang="ru-RU" dirty="0"/>
              <a:t>для хранения информации об ошибке.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78516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130970"/>
            <a:ext cx="11738505" cy="5417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Задание:</a:t>
            </a:r>
          </a:p>
          <a:p>
            <a:r>
              <a:rPr lang="ru-RU" dirty="0"/>
              <a:t>Напишите код, выполнив задание из каждого пункта отдельной строкой:</a:t>
            </a:r>
          </a:p>
          <a:p>
            <a:pPr>
              <a:buFont typeface="+mj-lt"/>
              <a:buAutoNum type="arabicPeriod"/>
            </a:pPr>
            <a:r>
              <a:rPr lang="ru-RU" dirty="0"/>
              <a:t>Создайте пустой объект </a:t>
            </a:r>
            <a:r>
              <a:rPr lang="en-GB" dirty="0"/>
              <a:t>user.</a:t>
            </a:r>
          </a:p>
          <a:p>
            <a:pPr>
              <a:buFont typeface="+mj-lt"/>
              <a:buAutoNum type="arabicPeriod"/>
            </a:pPr>
            <a:r>
              <a:rPr lang="ru-RU" dirty="0"/>
              <a:t>Добавьте свойство </a:t>
            </a:r>
            <a:r>
              <a:rPr lang="en-GB" dirty="0"/>
              <a:t>name </a:t>
            </a:r>
            <a:r>
              <a:rPr lang="ru-RU" dirty="0"/>
              <a:t>со значением </a:t>
            </a:r>
            <a:r>
              <a:rPr lang="en-GB" dirty="0"/>
              <a:t>John.</a:t>
            </a:r>
          </a:p>
          <a:p>
            <a:pPr>
              <a:buFont typeface="+mj-lt"/>
              <a:buAutoNum type="arabicPeriod"/>
            </a:pPr>
            <a:r>
              <a:rPr lang="ru-RU" dirty="0"/>
              <a:t>Добавьте свойство </a:t>
            </a:r>
            <a:r>
              <a:rPr lang="en-GB" dirty="0"/>
              <a:t>surname </a:t>
            </a:r>
            <a:r>
              <a:rPr lang="ru-RU" dirty="0"/>
              <a:t>со значением </a:t>
            </a:r>
            <a:r>
              <a:rPr lang="en-GB" dirty="0"/>
              <a:t>Smith.</a:t>
            </a:r>
          </a:p>
          <a:p>
            <a:pPr>
              <a:buFont typeface="+mj-lt"/>
              <a:buAutoNum type="arabicPeriod"/>
            </a:pPr>
            <a:r>
              <a:rPr lang="ru-RU" dirty="0"/>
              <a:t>Измените значение свойства </a:t>
            </a:r>
            <a:r>
              <a:rPr lang="en-GB" dirty="0"/>
              <a:t>name </a:t>
            </a:r>
            <a:r>
              <a:rPr lang="ru-RU" dirty="0"/>
              <a:t>на </a:t>
            </a:r>
            <a:r>
              <a:rPr lang="en-GB" dirty="0"/>
              <a:t>Pete.</a:t>
            </a:r>
          </a:p>
          <a:p>
            <a:pPr>
              <a:buFont typeface="+mj-lt"/>
              <a:buAutoNum type="arabicPeriod"/>
            </a:pPr>
            <a:r>
              <a:rPr lang="ru-RU" dirty="0"/>
              <a:t>Удалите свойство </a:t>
            </a:r>
            <a:r>
              <a:rPr lang="en-GB" dirty="0"/>
              <a:t>name </a:t>
            </a:r>
            <a:r>
              <a:rPr lang="ru-RU" dirty="0"/>
              <a:t>из объекта.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RU" dirty="0"/>
              <a:t>–</a:t>
            </a:r>
            <a:r>
              <a:rPr lang="ru-RU" dirty="0"/>
              <a:t> Напишите функцию </a:t>
            </a:r>
            <a:r>
              <a:rPr lang="en-GB" dirty="0" err="1"/>
              <a:t>isEmpty</a:t>
            </a:r>
            <a:r>
              <a:rPr lang="en-GB" dirty="0"/>
              <a:t>(</a:t>
            </a:r>
            <a:r>
              <a:rPr lang="en-GB" dirty="0" err="1"/>
              <a:t>obj</a:t>
            </a:r>
            <a:r>
              <a:rPr lang="en-GB" dirty="0"/>
              <a:t>), </a:t>
            </a:r>
            <a:r>
              <a:rPr lang="ru-RU" dirty="0"/>
              <a:t>которая возвращает </a:t>
            </a:r>
            <a:r>
              <a:rPr lang="en-GB" dirty="0"/>
              <a:t>true, </a:t>
            </a:r>
            <a:r>
              <a:rPr lang="ru-RU" dirty="0"/>
              <a:t>если у объекта нет свойств, иначе </a:t>
            </a:r>
            <a:r>
              <a:rPr lang="en-GB" dirty="0"/>
              <a:t>false.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8469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Типы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</a:t>
            </a:r>
            <a:r>
              <a:rPr lang="en-US" dirty="0"/>
              <a:t>“object”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96511-CBC2-184F-BDF5-50D1D696DC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747" y="1130970"/>
            <a:ext cx="11738505" cy="5417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Решения: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2A1B0D-B8B1-6644-AC79-568F0A30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86" y="1556216"/>
            <a:ext cx="3073400" cy="2222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003B0F-5C76-2946-93E8-A070C791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9" y="3945807"/>
            <a:ext cx="85344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307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Ввод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alert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65</a:t>
            </a:fld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A988017-9FF2-1D48-9F80-2C333631DC9F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4984750" y="1915750"/>
            <a:ext cx="2222500" cy="128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DFBFD9-974B-B149-A3A2-D383688B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150" y="3923630"/>
            <a:ext cx="49657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765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Ввод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prompt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66</a:t>
            </a:fld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99DA40-CF6F-D14E-9D53-0E619D8E2FF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GB" dirty="0"/>
              <a:t>title </a:t>
            </a:r>
            <a:r>
              <a:rPr lang="ru-RU" dirty="0"/>
              <a:t>- текст для отображения в окне. </a:t>
            </a:r>
          </a:p>
          <a:p>
            <a:r>
              <a:rPr lang="en-GB" dirty="0"/>
              <a:t>default </a:t>
            </a:r>
            <a:r>
              <a:rPr lang="ru-RU" dirty="0"/>
              <a:t>- необязательный второй параметр, который устанавливает начальное значение в поле для текста в окне. </a:t>
            </a:r>
            <a:endParaRPr lang="en-R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7D1633-35B7-CC4D-B305-645C4C59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86" y="4317412"/>
            <a:ext cx="5016500" cy="2133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4FEF6E-638A-E745-BF56-A1E67AC16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50" y="2673350"/>
            <a:ext cx="42545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724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Ввод данных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prompt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67</a:t>
            </a:fld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99DA40-CF6F-D14E-9D53-0E619D8E2FF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GB" dirty="0"/>
              <a:t>title </a:t>
            </a:r>
            <a:r>
              <a:rPr lang="ru-RU" dirty="0"/>
              <a:t>- текст для отображения в окне. </a:t>
            </a:r>
          </a:p>
          <a:p>
            <a:r>
              <a:rPr lang="en-GB" dirty="0"/>
              <a:t>default </a:t>
            </a:r>
            <a:r>
              <a:rPr lang="ru-RU" dirty="0"/>
              <a:t>- необязательный второй параметр, который устанавливает начальное значение в поле для текста в окне. </a:t>
            </a: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3F0C0-C149-5A47-8EAB-31AA4CAD9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2673350"/>
            <a:ext cx="5105400" cy="1511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5B577E-BCA2-754B-9A9C-3827CD3F3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36" y="4457853"/>
            <a:ext cx="48514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800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Термины: «унарный», «бинарный», «операнд»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68</a:t>
            </a:fld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99DA40-CF6F-D14E-9D53-0E619D8E2FF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ru-RU" dirty="0"/>
              <a:t>Операнд – то, к чему применяется оператор. Например, в умножении 5 * 2 есть два операнда: левый операнд равен 5, а правый операнд равен 2. Иногда их называют «аргументами» вместо «операндов».</a:t>
            </a:r>
          </a:p>
          <a:p>
            <a:r>
              <a:rPr lang="ru-RU" dirty="0"/>
              <a:t>Унарным называется оператор, который применяется к одному операнду. Например, оператор унарный минус "-" меняет знак числа на противоположный: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Бинарным называется оператор, который применяется к двум операндам. Тот же минус существует и в бинарной форме:</a:t>
            </a:r>
          </a:p>
          <a:p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6725C-9756-F24A-8370-79E8DF00F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036" y="2819400"/>
            <a:ext cx="5105400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C10C74-FA7A-5445-B3D1-C562FE195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686" y="5305563"/>
            <a:ext cx="63881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310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69</a:t>
            </a:fld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99DA40-CF6F-D14E-9D53-0E619D8E2FF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Поддерживаются следующие математические операторы: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Сложение +,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Вычитание -,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Умножение *,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Деление /,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Взятие остатка от деления %,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Возведение в степень **.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388703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Взятие остатка от деления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70</a:t>
            </a:fld>
            <a:endParaRPr lang="en-GB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71A8D97-A90B-084E-96FC-452A7C3258B8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3276600" y="2538254"/>
            <a:ext cx="5638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229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Возведение в степень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ED018-9C31-1740-8321-0363E85B028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E807C3-BB5D-2B45-A471-B8004ECAD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136" y="2149711"/>
            <a:ext cx="3505200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42A623-258F-F34A-A052-29911ADA4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86" y="4227754"/>
            <a:ext cx="88519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993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Сложение строк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ED018-9C31-1740-8321-0363E85B028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44F701-1C78-C240-8CE3-D7BC23550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50" y="2673350"/>
            <a:ext cx="32893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477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Сложение строк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ED018-9C31-1740-8321-0363E85B028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хотя бы один операнд является строкой, то второй будет также преобразован в строку:</a:t>
            </a: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A430E-4907-F849-A168-43728B982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50" y="2673350"/>
            <a:ext cx="32893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149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Сложение строк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ED018-9C31-1740-8321-0363E85B028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Первый + складывает два числа и возвращает 4, затем следующий + объединяет результат со строкой, производя действие 4 + '1' = '41'</a:t>
            </a: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CA9064-6B14-764A-9BEF-919421365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0" y="2787650"/>
            <a:ext cx="55372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32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Сложение строк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ED018-9C31-1740-8321-0363E85B028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Сложение и преобразование строк — это особенность бинарного плюса +. Другие арифметические операторы работают только с числами и всегда преобразуют операнды в числа:</a:t>
            </a:r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E66E2-BD0E-7C4A-8379-6F65517F8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2673350"/>
            <a:ext cx="68199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75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Приведение к числу, унарный +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ED018-9C31-1740-8321-0363E85B028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Плюс + существует в двух формах: бинарной, которую мы использовали выше, и унарной.</a:t>
            </a:r>
          </a:p>
          <a:p>
            <a:pPr marL="0" indent="0">
              <a:buNone/>
            </a:pPr>
            <a:r>
              <a:rPr lang="ru-RU" dirty="0"/>
              <a:t>Унарный, то есть применённый к одному значению, плюс + ничего не делает с числами. Но если операнд не число, унарный плюс преобразует его в число.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ru-RU" dirty="0"/>
              <a:t>Это то же самое, что и </a:t>
            </a:r>
            <a:r>
              <a:rPr lang="en-GB" dirty="0"/>
              <a:t>Number(...)</a:t>
            </a:r>
            <a:endParaRPr lang="ru-RU" dirty="0"/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8A3401-F4E5-3648-AFBF-F6D1DC073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86" y="2657613"/>
            <a:ext cx="39243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414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Приведение к числу, унарный +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ED018-9C31-1740-8321-0363E85B028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Плюс + существует в двух формах: бинарной, которую мы использовали выше, и унарной.</a:t>
            </a:r>
          </a:p>
          <a:p>
            <a:pPr marL="0" indent="0">
              <a:buNone/>
            </a:pPr>
            <a:r>
              <a:rPr lang="ru-RU" dirty="0"/>
              <a:t>Унарный, то есть применённый к одному значению, плюс + ничего не делает с числами. Но если операнд не число, унарный плюс преобразует его в число.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ru-RU" dirty="0"/>
              <a:t>Это то же самое, что и </a:t>
            </a:r>
            <a:r>
              <a:rPr lang="en-GB" dirty="0"/>
              <a:t>Number(...)</a:t>
            </a:r>
            <a:endParaRPr lang="ru-RU" dirty="0"/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8A3401-F4E5-3648-AFBF-F6D1DC073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86" y="2657613"/>
            <a:ext cx="39243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322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Приоритет операторов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78</a:t>
            </a:fld>
            <a:endParaRPr lang="en-GB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BDBDCB4B-08F0-8A4E-BE53-2384EA006838}"/>
              </a:ext>
            </a:extLst>
          </p:cNvPr>
          <p:cNvGraphicFramePr>
            <a:graphicFrameLocks noGrp="1"/>
          </p:cNvGraphicFramePr>
          <p:nvPr>
            <p:ph sz="quarter" idx="18"/>
            <p:extLst>
              <p:ext uri="{D42A27DB-BD31-4B8C-83A1-F6EECF244321}">
                <p14:modId xmlns:p14="http://schemas.microsoft.com/office/powerpoint/2010/main" val="833102035"/>
              </p:ext>
            </p:extLst>
          </p:nvPr>
        </p:nvGraphicFramePr>
        <p:xfrm>
          <a:off x="838200" y="1976596"/>
          <a:ext cx="10515600" cy="4389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091466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367056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43591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Приоритет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Обозначение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28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44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унарный плюс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60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унарный минус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583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возведение в степень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019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умножение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874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деление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42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сложение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627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вычитание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806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32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присваивание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810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RU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RU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434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9820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Присваивание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79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FA0EE-1760-374A-88CB-8B314849348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4" y="1294225"/>
            <a:ext cx="11738505" cy="48537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Вызов </a:t>
            </a:r>
            <a:r>
              <a:rPr lang="en-GB" dirty="0"/>
              <a:t>x = value </a:t>
            </a:r>
            <a:r>
              <a:rPr lang="ru-RU" dirty="0"/>
              <a:t>записывает </a:t>
            </a:r>
            <a:r>
              <a:rPr lang="en-GB" dirty="0"/>
              <a:t>value </a:t>
            </a:r>
            <a:r>
              <a:rPr lang="ru-RU" dirty="0"/>
              <a:t>в </a:t>
            </a:r>
            <a:r>
              <a:rPr lang="en-GB" dirty="0"/>
              <a:t>x </a:t>
            </a:r>
            <a:r>
              <a:rPr lang="ru-RU" dirty="0"/>
              <a:t>и возвращает его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Присваивание по цепочке - </a:t>
            </a:r>
            <a:r>
              <a:rPr lang="ru-RU" dirty="0"/>
              <a:t>работает справа налево. Сначала вычисляется самое правое выражение 2 + 2, и затем результат присваивается переменным слева: </a:t>
            </a:r>
            <a:r>
              <a:rPr lang="en-GB" dirty="0"/>
              <a:t>c, b </a:t>
            </a:r>
            <a:r>
              <a:rPr lang="ru-RU" dirty="0"/>
              <a:t>и </a:t>
            </a:r>
            <a:r>
              <a:rPr lang="en-GB" dirty="0"/>
              <a:t>a.</a:t>
            </a:r>
            <a:endParaRPr lang="ru-RU" b="1" dirty="0"/>
          </a:p>
          <a:p>
            <a:pPr marL="0" indent="0">
              <a:buNone/>
            </a:pPr>
            <a:endParaRPr lang="en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4F8C1-C753-044B-8F0E-1BE163775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318" y="1600200"/>
            <a:ext cx="2705364" cy="22941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33AC9D-81BA-704B-BCAD-7D8F0D1FF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478" y="4588495"/>
            <a:ext cx="2141043" cy="226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754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Сокращенная арифметика</a:t>
            </a:r>
            <a:endParaRPr lang="en-RU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80</a:t>
            </a:fld>
            <a:endParaRPr lang="en-GB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7FD48F91-F2DB-D746-9CFF-2DCCDCB778DD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1803400" y="2559050"/>
            <a:ext cx="1676400" cy="1752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37241D-B061-7846-9819-690B39481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89" y="2324100"/>
            <a:ext cx="5854700" cy="22225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709E40B6-902D-B04E-98D9-20913BAD78DB}"/>
              </a:ext>
            </a:extLst>
          </p:cNvPr>
          <p:cNvSpPr/>
          <p:nvPr/>
        </p:nvSpPr>
        <p:spPr>
          <a:xfrm>
            <a:off x="3911600" y="3175000"/>
            <a:ext cx="1181100" cy="673100"/>
          </a:xfrm>
          <a:prstGeom prst="rightArrow">
            <a:avLst/>
          </a:prstGeom>
          <a:solidFill>
            <a:srgbClr val="FF7E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ln>
                <a:solidFill>
                  <a:srgbClr val="FF7E79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672989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Сокращенная арифметика</a:t>
            </a:r>
            <a:endParaRPr lang="en-RU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81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D4B3A5-265A-D74B-9DE6-6179CD1B5C5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R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26AEF6-2ED1-5D4D-9E26-ECFF56318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0" y="2317750"/>
            <a:ext cx="17907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594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Сокращенная арифметика</a:t>
            </a:r>
            <a:endParaRPr lang="en-RU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82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D4B3A5-265A-D74B-9DE6-6179CD1B5C5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AF422D-A8E1-8940-845C-1EADE1432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2317750"/>
            <a:ext cx="91821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200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Инкремент/декремент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83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B7C125-0E48-2642-817A-20F7493407EF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5143500" y="4372130"/>
            <a:ext cx="6502400" cy="1981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E7778B-CA55-2E48-88EB-49E7E08D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86" y="2019300"/>
            <a:ext cx="8851900" cy="1752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173413-A057-F043-9351-502AA8F74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86" y="4372130"/>
            <a:ext cx="32893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370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Задачи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84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ru-RU" dirty="0"/>
              <a:t>Чему будут равны переменные </a:t>
            </a:r>
            <a:r>
              <a:rPr lang="en-GB" dirty="0"/>
              <a:t>a, b, c </a:t>
            </a:r>
            <a:r>
              <a:rPr lang="ru-RU" dirty="0"/>
              <a:t>и </a:t>
            </a:r>
            <a:r>
              <a:rPr lang="en-GB" dirty="0"/>
              <a:t>d </a:t>
            </a:r>
            <a:r>
              <a:rPr lang="ru-RU" dirty="0"/>
              <a:t>в примере ниже?</a:t>
            </a:r>
            <a:endParaRPr lang="en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FAED1B-186B-F346-BC59-5DC514B25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150" y="2438400"/>
            <a:ext cx="24257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640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Задачи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85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ru-RU" dirty="0"/>
              <a:t>Чему будут равны переменные </a:t>
            </a:r>
            <a:r>
              <a:rPr lang="en-GB" dirty="0"/>
              <a:t>a, b, c </a:t>
            </a:r>
            <a:r>
              <a:rPr lang="ru-RU" dirty="0"/>
              <a:t>и </a:t>
            </a:r>
            <a:r>
              <a:rPr lang="en-GB" dirty="0"/>
              <a:t>d </a:t>
            </a:r>
            <a:r>
              <a:rPr lang="ru-RU" dirty="0"/>
              <a:t>в примере ниже?</a:t>
            </a:r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00608C-8416-E942-85D8-7D1196807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082800"/>
            <a:ext cx="74676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2355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Задачи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86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ru-RU" dirty="0"/>
              <a:t>Чему будут равны переменные </a:t>
            </a:r>
            <a:r>
              <a:rPr lang="en-GB" dirty="0"/>
              <a:t>a </a:t>
            </a:r>
            <a:r>
              <a:rPr lang="ru-RU" dirty="0"/>
              <a:t>и </a:t>
            </a:r>
            <a:r>
              <a:rPr lang="en-GB" dirty="0"/>
              <a:t>x </a:t>
            </a:r>
            <a:r>
              <a:rPr lang="ru-RU" dirty="0"/>
              <a:t>после исполнения кода в примере ниже?</a:t>
            </a: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877B0-4D2B-CE45-B43A-E58B8C5D5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552700"/>
            <a:ext cx="28575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726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Задачи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87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ru-RU" dirty="0"/>
              <a:t>Чему будут равны переменные </a:t>
            </a:r>
            <a:r>
              <a:rPr lang="en-GB" dirty="0"/>
              <a:t>a </a:t>
            </a:r>
            <a:r>
              <a:rPr lang="ru-RU" dirty="0"/>
              <a:t>и </a:t>
            </a:r>
            <a:r>
              <a:rPr lang="en-GB" dirty="0"/>
              <a:t>x </a:t>
            </a:r>
            <a:r>
              <a:rPr lang="ru-RU" dirty="0"/>
              <a:t>после исполнения кода в примере ниже?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= 4 (</a:t>
            </a:r>
            <a:r>
              <a:rPr lang="ru-RU" dirty="0"/>
              <a:t>умножено на 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x = 5 (</a:t>
            </a:r>
            <a:r>
              <a:rPr lang="ru-RU" dirty="0"/>
              <a:t>вычислено как 1 + 4)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749345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Задачи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88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ru-RU" dirty="0"/>
              <a:t>Какой результат будет у выражений ниже?</a:t>
            </a:r>
          </a:p>
          <a:p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4A604C-E4F2-D84D-9021-BD5CD5A7F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236" y="2169146"/>
            <a:ext cx="24130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223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Математические операции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Задачи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89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5" y="1743900"/>
            <a:ext cx="6644216" cy="48537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Какой результат будет у выражений ниже?</a:t>
            </a:r>
          </a:p>
          <a:p>
            <a:endParaRPr lang="ru-RU" dirty="0"/>
          </a:p>
          <a:p>
            <a:pPr>
              <a:buFont typeface="+mj-lt"/>
              <a:buAutoNum type="arabicPeriod"/>
            </a:pPr>
            <a:r>
              <a:rPr lang="ru-RU" dirty="0"/>
              <a:t>Сложение со строкой "" + 1 преобразует 1 к строке: "" + 1 = "1", и в следующем случае "1" + 0 работает то же самое правило.</a:t>
            </a:r>
          </a:p>
          <a:p>
            <a:pPr>
              <a:buFont typeface="+mj-lt"/>
              <a:buAutoNum type="arabicPeriod"/>
            </a:pPr>
            <a:r>
              <a:rPr lang="ru-RU" dirty="0"/>
              <a:t>Вычитание - (как и большинство математических операторов) работает только с числами, пустая строка "" приводится к 0.</a:t>
            </a:r>
          </a:p>
          <a:p>
            <a:pPr>
              <a:buFont typeface="+mj-lt"/>
              <a:buAutoNum type="arabicPeriod"/>
            </a:pPr>
            <a:r>
              <a:rPr lang="ru-RU" dirty="0"/>
              <a:t>Сложение со строкой превращает число 5 в строку и добавляет к строке.</a:t>
            </a:r>
          </a:p>
          <a:p>
            <a:pPr>
              <a:buFont typeface="+mj-lt"/>
              <a:buAutoNum type="arabicPeriod"/>
            </a:pPr>
            <a:r>
              <a:rPr lang="ru-RU" dirty="0"/>
              <a:t>Вычитание всегда преобразует к числу, значит строка " -9 " становится числом -9 (пробелы по краям обрезаются).</a:t>
            </a:r>
          </a:p>
          <a:p>
            <a:pPr>
              <a:buFont typeface="+mj-lt"/>
              <a:buAutoNum type="arabicPeriod"/>
            </a:pPr>
            <a:r>
              <a:rPr lang="en-GB" dirty="0"/>
              <a:t>null </a:t>
            </a:r>
            <a:r>
              <a:rPr lang="ru-RU" dirty="0"/>
              <a:t>становится 0 после численного преобразования.</a:t>
            </a:r>
          </a:p>
          <a:p>
            <a:pPr>
              <a:buFont typeface="+mj-lt"/>
              <a:buAutoNum type="arabicPeriod"/>
            </a:pPr>
            <a:r>
              <a:rPr lang="en-GB" dirty="0"/>
              <a:t>undefined </a:t>
            </a:r>
            <a:r>
              <a:rPr lang="ru-RU" dirty="0"/>
              <a:t>становится </a:t>
            </a:r>
            <a:r>
              <a:rPr lang="en-GB" dirty="0" err="1"/>
              <a:t>NaN</a:t>
            </a:r>
            <a:r>
              <a:rPr lang="en-GB" dirty="0"/>
              <a:t> </a:t>
            </a:r>
            <a:r>
              <a:rPr lang="ru-RU" dirty="0"/>
              <a:t>после численного преобразования.</a:t>
            </a:r>
          </a:p>
          <a:p>
            <a:pPr>
              <a:buFont typeface="+mj-lt"/>
              <a:buAutoNum type="arabicPeriod"/>
            </a:pPr>
            <a:r>
              <a:rPr lang="ru-RU" dirty="0"/>
              <a:t>Пробельные символы, такие как \</a:t>
            </a:r>
            <a:r>
              <a:rPr lang="en-GB" dirty="0"/>
              <a:t>t </a:t>
            </a:r>
            <a:r>
              <a:rPr lang="ru-RU" dirty="0"/>
              <a:t>и \</a:t>
            </a:r>
            <a:r>
              <a:rPr lang="en-GB" dirty="0"/>
              <a:t>n, </a:t>
            </a:r>
            <a:r>
              <a:rPr lang="ru-RU" dirty="0"/>
              <a:t>по краям строки игнорируются при преобразовании в число, так что строка " \</a:t>
            </a:r>
            <a:r>
              <a:rPr lang="en-GB" dirty="0"/>
              <a:t>t \n", </a:t>
            </a:r>
            <a:r>
              <a:rPr lang="ru-RU" dirty="0"/>
              <a:t>аналогично пустой строке, становится 0 после численного преобразования.</a:t>
            </a:r>
          </a:p>
          <a:p>
            <a:pPr marL="0" indent="0">
              <a:buNone/>
            </a:pPr>
            <a:endParaRPr lang="ru-RU" dirty="0"/>
          </a:p>
          <a:p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E0E94-64C0-6749-843A-90D9559D8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89" y="1875030"/>
            <a:ext cx="43307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17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ru-RU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90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5" y="1743900"/>
            <a:ext cx="11090804" cy="48537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Больше/меньше: </a:t>
            </a:r>
            <a:r>
              <a:rPr lang="en-GB" dirty="0"/>
              <a:t>a &gt; b, a &lt; 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Больше/меньше или равно: </a:t>
            </a:r>
            <a:r>
              <a:rPr lang="en-GB" dirty="0"/>
              <a:t>a &gt;= b, a &lt;= 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Равно: </a:t>
            </a:r>
            <a:r>
              <a:rPr lang="en-GB" dirty="0"/>
              <a:t>a == b. </a:t>
            </a:r>
            <a:r>
              <a:rPr lang="ru-RU" dirty="0"/>
              <a:t>Обратите внимание, для сравнения используется двойной знак равенства ==. Один знак равенства </a:t>
            </a:r>
            <a:r>
              <a:rPr lang="en-GB" dirty="0"/>
              <a:t>a = b </a:t>
            </a:r>
            <a:r>
              <a:rPr lang="ru-RU" dirty="0"/>
              <a:t>означал бы присваивание.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равно. В математике обозначается символом ≠, но в </a:t>
            </a:r>
            <a:r>
              <a:rPr lang="en-GB" dirty="0"/>
              <a:t>JavaScript </a:t>
            </a:r>
            <a:r>
              <a:rPr lang="ru-RU" dirty="0"/>
              <a:t>записывается как </a:t>
            </a:r>
            <a:r>
              <a:rPr lang="en-GB" dirty="0"/>
              <a:t>a != b.</a:t>
            </a:r>
          </a:p>
          <a:p>
            <a:endParaRPr lang="en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18DEE9-02B7-6346-BDE1-675A0029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808623"/>
            <a:ext cx="47244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786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Сравнение строк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91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5" y="1743900"/>
            <a:ext cx="11090804" cy="4853750"/>
          </a:xfrm>
        </p:spPr>
        <p:txBody>
          <a:bodyPr>
            <a:normAutofit/>
          </a:bodyPr>
          <a:lstStyle/>
          <a:p>
            <a:r>
              <a:rPr lang="ru-RU" dirty="0"/>
              <a:t>Чтобы определить, что одна строка больше другой, </a:t>
            </a:r>
            <a:r>
              <a:rPr lang="en-GB" dirty="0"/>
              <a:t>JavaScript </a:t>
            </a:r>
            <a:r>
              <a:rPr lang="ru-RU" dirty="0"/>
              <a:t>использует «алфавитный» или «лексикографический» порядок.</a:t>
            </a:r>
          </a:p>
          <a:p>
            <a:r>
              <a:rPr lang="ru-RU" dirty="0"/>
              <a:t>Алгоритм сравнения двух строк:</a:t>
            </a:r>
          </a:p>
          <a:p>
            <a:pPr>
              <a:buFont typeface="+mj-lt"/>
              <a:buAutoNum type="arabicPeriod"/>
            </a:pPr>
            <a:r>
              <a:rPr lang="ru-RU" dirty="0"/>
              <a:t>Сначала сравниваются первые символы строк.</a:t>
            </a:r>
          </a:p>
          <a:p>
            <a:pPr>
              <a:buFont typeface="+mj-lt"/>
              <a:buAutoNum type="arabicPeriod"/>
            </a:pPr>
            <a:r>
              <a:rPr lang="ru-RU" dirty="0"/>
              <a:t>Если первый символ первой строки больше (меньше), чем первый символ второй, то первая строка больше (меньше) второй. Сравнение завершено.</a:t>
            </a:r>
          </a:p>
          <a:p>
            <a:pPr>
              <a:buFont typeface="+mj-lt"/>
              <a:buAutoNum type="arabicPeriod"/>
            </a:pPr>
            <a:r>
              <a:rPr lang="ru-RU" dirty="0"/>
              <a:t>Если первые символы равны, то таким же образом сравниваются уже вторые символы строк.</a:t>
            </a:r>
          </a:p>
          <a:p>
            <a:pPr>
              <a:buFont typeface="+mj-lt"/>
              <a:buAutoNum type="arabicPeriod"/>
            </a:pPr>
            <a:r>
              <a:rPr lang="ru-RU" dirty="0"/>
              <a:t>Сравнение продолжается, пока не закончится одна из строк.</a:t>
            </a:r>
          </a:p>
          <a:p>
            <a:pPr>
              <a:buFont typeface="+mj-lt"/>
              <a:buAutoNum type="arabicPeriod"/>
            </a:pPr>
            <a:r>
              <a:rPr lang="ru-RU" dirty="0"/>
              <a:t>Если обе строки заканчиваются одновременно, то они равны. Иначе, большей считается более длинная строка.</a:t>
            </a:r>
          </a:p>
          <a:p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F77A7C-0020-0D48-BD1C-83D9030DB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4712006"/>
            <a:ext cx="4622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693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Сравнение различных типов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92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5" y="1743900"/>
            <a:ext cx="11090804" cy="4853750"/>
          </a:xfrm>
        </p:spPr>
        <p:txBody>
          <a:bodyPr>
            <a:normAutofit/>
          </a:bodyPr>
          <a:lstStyle/>
          <a:p>
            <a:r>
              <a:rPr lang="ru-RU" dirty="0"/>
              <a:t>При сравнении значений разных типов </a:t>
            </a:r>
            <a:r>
              <a:rPr lang="en-GB" dirty="0"/>
              <a:t>JavaScript </a:t>
            </a:r>
            <a:r>
              <a:rPr lang="ru-RU" dirty="0"/>
              <a:t>приводит каждое из них к числу.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Логическое значение </a:t>
            </a:r>
            <a:r>
              <a:rPr lang="en-GB" dirty="0"/>
              <a:t>true </a:t>
            </a:r>
            <a:r>
              <a:rPr lang="ru-RU" dirty="0"/>
              <a:t>становится 1, а </a:t>
            </a:r>
            <a:r>
              <a:rPr lang="en-GB" dirty="0"/>
              <a:t>false – 0</a:t>
            </a:r>
            <a:endParaRPr lang="ru-RU" dirty="0"/>
          </a:p>
          <a:p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8E36F1-D388-7F4E-BFA6-31C53C563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0" y="2115877"/>
            <a:ext cx="7404100" cy="1511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EB504A-4A23-FA47-8DBF-0332C6A31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50" y="4240107"/>
            <a:ext cx="39751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744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Строгое сравнение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93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5" y="1743900"/>
            <a:ext cx="11090804" cy="4853750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обычного сравнения == может вызывать проблемы. Например, оно не отличает 0 от </a:t>
            </a:r>
            <a:r>
              <a:rPr lang="en-GB" dirty="0"/>
              <a:t>false: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Та же проблема с пустой строкой: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9BB887-6799-1A42-B249-8EB393703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0" y="2402059"/>
            <a:ext cx="3975100" cy="128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FF275B-00F8-F544-98CD-2667C55B1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300" y="4778513"/>
            <a:ext cx="4089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9705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Строгое сравнение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94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5" y="1743900"/>
            <a:ext cx="11090804" cy="4853750"/>
          </a:xfrm>
        </p:spPr>
        <p:txBody>
          <a:bodyPr>
            <a:normAutofit/>
          </a:bodyPr>
          <a:lstStyle/>
          <a:p>
            <a:r>
              <a:rPr lang="ru-RU" dirty="0"/>
              <a:t>Это происходит из-за того, что операнды разных типов преобразуются оператором == к числу. В итоге, и пустая строка, и </a:t>
            </a:r>
            <a:r>
              <a:rPr lang="en-GB" dirty="0"/>
              <a:t>false </a:t>
            </a:r>
            <a:r>
              <a:rPr lang="ru-RU" dirty="0"/>
              <a:t>становятся нулём.</a:t>
            </a:r>
          </a:p>
          <a:p>
            <a:r>
              <a:rPr lang="ru-RU" b="1" dirty="0"/>
              <a:t>Оператор строгого равенства === проверяет равенство без приведения типов.</a:t>
            </a:r>
            <a:endParaRPr lang="ru-RU" dirty="0"/>
          </a:p>
          <a:p>
            <a:r>
              <a:rPr lang="ru-RU" dirty="0"/>
              <a:t>Другими словами, если </a:t>
            </a:r>
            <a:r>
              <a:rPr lang="en-GB" dirty="0"/>
              <a:t>a </a:t>
            </a:r>
            <a:r>
              <a:rPr lang="ru-RU" dirty="0"/>
              <a:t>и </a:t>
            </a:r>
            <a:r>
              <a:rPr lang="en-GB" dirty="0"/>
              <a:t>b </a:t>
            </a:r>
            <a:r>
              <a:rPr lang="ru-RU" dirty="0"/>
              <a:t>имеют разные типы, то проверка </a:t>
            </a:r>
            <a:r>
              <a:rPr lang="en-GB" dirty="0"/>
              <a:t>a === b </a:t>
            </a:r>
            <a:r>
              <a:rPr lang="ru-RU" dirty="0"/>
              <a:t>немедленно возвращает </a:t>
            </a:r>
            <a:r>
              <a:rPr lang="en-GB" dirty="0"/>
              <a:t>false </a:t>
            </a:r>
            <a:r>
              <a:rPr lang="ru-RU" dirty="0"/>
              <a:t>без попытки их преобразования.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Существует оператор строгого неравенства !==, аналогичный !=.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BA8E13-15C8-9C42-A60E-5E097525E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0" y="3294425"/>
            <a:ext cx="78359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409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Сравнение </a:t>
            </a:r>
            <a:r>
              <a:rPr lang="en-US" dirty="0"/>
              <a:t>null </a:t>
            </a:r>
            <a:r>
              <a:rPr lang="ru-RU" dirty="0"/>
              <a:t>и </a:t>
            </a:r>
            <a:r>
              <a:rPr lang="en-US" dirty="0"/>
              <a:t>undefined</a:t>
            </a:r>
            <a:endParaRPr lang="ru-RU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95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34F894-CA83-0D4C-9554-B8736181B7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6485" y="1743900"/>
            <a:ext cx="11090804" cy="4853750"/>
          </a:xfrm>
        </p:spPr>
        <p:txBody>
          <a:bodyPr>
            <a:normAutofit/>
          </a:bodyPr>
          <a:lstStyle/>
          <a:p>
            <a:r>
              <a:rPr lang="ru-RU" dirty="0"/>
              <a:t>При строгом равенстве === эти значения различны, так как различны их типы.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При нестрогом равенстве == эти значения равны друг другу и не равны никаким другим значениям. Это специальное правило языка.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использовании математических операторов и других операторов сравнения &lt; &gt; &lt;= &gt;= Значения </a:t>
            </a:r>
            <a:r>
              <a:rPr lang="en-GB" dirty="0"/>
              <a:t>null/undefined </a:t>
            </a:r>
            <a:r>
              <a:rPr lang="ru-RU" dirty="0"/>
              <a:t>преобразуются к числам: </a:t>
            </a:r>
            <a:r>
              <a:rPr lang="en-GB" dirty="0"/>
              <a:t>null </a:t>
            </a:r>
            <a:r>
              <a:rPr lang="ru-RU" dirty="0"/>
              <a:t>становится 0, а </a:t>
            </a:r>
            <a:r>
              <a:rPr lang="en-GB" dirty="0"/>
              <a:t>undefined – </a:t>
            </a:r>
            <a:r>
              <a:rPr lang="en-GB" dirty="0" err="1"/>
              <a:t>NaN</a:t>
            </a:r>
            <a:r>
              <a:rPr lang="en-GB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01FD66-C58E-DD46-BA33-1294EF5FE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50" y="2047148"/>
            <a:ext cx="4940300" cy="1282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DCD29B-C889-2B46-A93A-4E0A33985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4021538"/>
            <a:ext cx="4724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8184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</a:t>
            </a:r>
            <a:r>
              <a:rPr lang="ru-RU" b="1" dirty="0"/>
              <a:t>езультат сравнения </a:t>
            </a:r>
            <a:r>
              <a:rPr lang="en-GB" b="1" dirty="0"/>
              <a:t>null </a:t>
            </a:r>
            <a:r>
              <a:rPr lang="ru-RU" b="1" dirty="0"/>
              <a:t>и 0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96</a:t>
            </a:fld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711179C-6EA8-DC44-B9F3-7DB08CEE3C08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3568436" y="1743900"/>
            <a:ext cx="4406900" cy="1752600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881104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</a:t>
            </a:r>
            <a:r>
              <a:rPr lang="ru-RU" b="1" dirty="0"/>
              <a:t>езультат сравнения </a:t>
            </a:r>
            <a:r>
              <a:rPr lang="en-GB" b="1" dirty="0"/>
              <a:t>null </a:t>
            </a:r>
            <a:r>
              <a:rPr lang="ru-RU" b="1" dirty="0"/>
              <a:t>и 0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97</a:t>
            </a:fld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711179C-6EA8-DC44-B9F3-7DB08CEE3C08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3568436" y="1743900"/>
            <a:ext cx="4406900" cy="1752600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 err="1"/>
          </a:p>
          <a:p>
            <a:endParaRPr lang="ru-RU" dirty="0" err="1"/>
          </a:p>
          <a:p>
            <a:endParaRPr lang="ru-RU" dirty="0" err="1"/>
          </a:p>
          <a:p>
            <a:endParaRPr lang="ru-RU" dirty="0" err="1"/>
          </a:p>
          <a:p>
            <a:endParaRPr lang="ru-RU" dirty="0" err="1"/>
          </a:p>
          <a:p>
            <a:endParaRPr lang="ru-RU" dirty="0" err="1"/>
          </a:p>
          <a:p>
            <a:pPr marL="0" indent="0">
              <a:buNone/>
            </a:pPr>
            <a:r>
              <a:rPr lang="ru-RU" dirty="0"/>
              <a:t>Нестрогое равенство и сравнения &gt; &lt; &gt;= &lt;= работают по-разному. Сравнения преобразуют </a:t>
            </a:r>
            <a:r>
              <a:rPr lang="en-GB" dirty="0"/>
              <a:t>null </a:t>
            </a:r>
            <a:r>
              <a:rPr lang="ru-RU" dirty="0"/>
              <a:t>в число, рассматривая его как 0. Поэтому выражение (3) </a:t>
            </a:r>
            <a:r>
              <a:rPr lang="en-GB" dirty="0"/>
              <a:t>null &gt;= 0 </a:t>
            </a:r>
            <a:r>
              <a:rPr lang="ru-RU" dirty="0"/>
              <a:t>истинно, а </a:t>
            </a:r>
            <a:r>
              <a:rPr lang="en-GB" dirty="0"/>
              <a:t>null &gt; 0 </a:t>
            </a:r>
            <a:r>
              <a:rPr lang="ru-RU" dirty="0"/>
              <a:t>ложно.</a:t>
            </a:r>
          </a:p>
        </p:txBody>
      </p:sp>
    </p:spTree>
    <p:extLst>
      <p:ext uri="{BB962C8B-B14F-4D97-AF65-F5344CB8AC3E}">
        <p14:creationId xmlns:p14="http://schemas.microsoft.com/office/powerpoint/2010/main" val="23317497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</a:t>
            </a:r>
            <a:r>
              <a:rPr lang="ru-RU" b="1" dirty="0"/>
              <a:t>начение </a:t>
            </a:r>
            <a:r>
              <a:rPr lang="en-GB" b="1" dirty="0"/>
              <a:t>undefined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98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Сравнения (1) и (2) возвращают </a:t>
            </a:r>
            <a:r>
              <a:rPr lang="en-GB" dirty="0"/>
              <a:t>false, </a:t>
            </a:r>
            <a:r>
              <a:rPr lang="ru-RU" dirty="0"/>
              <a:t>потому что </a:t>
            </a:r>
            <a:r>
              <a:rPr lang="en-GB" dirty="0"/>
              <a:t>undefined </a:t>
            </a:r>
            <a:r>
              <a:rPr lang="ru-RU" dirty="0"/>
              <a:t>преобразуется в </a:t>
            </a:r>
            <a:r>
              <a:rPr lang="en-GB" dirty="0" err="1"/>
              <a:t>NaN</a:t>
            </a:r>
            <a:r>
              <a:rPr lang="en-GB" dirty="0"/>
              <a:t>, </a:t>
            </a:r>
            <a:r>
              <a:rPr lang="ru-RU" dirty="0"/>
              <a:t>а </a:t>
            </a:r>
            <a:r>
              <a:rPr lang="en-GB" dirty="0" err="1"/>
              <a:t>NaN</a:t>
            </a:r>
            <a:r>
              <a:rPr lang="en-GB" dirty="0"/>
              <a:t> – </a:t>
            </a:r>
            <a:r>
              <a:rPr lang="ru-RU" dirty="0"/>
              <a:t>это специальное числовое значение, которое возвращает </a:t>
            </a:r>
            <a:r>
              <a:rPr lang="en-GB" dirty="0"/>
              <a:t>false </a:t>
            </a:r>
            <a:r>
              <a:rPr lang="ru-RU" dirty="0"/>
              <a:t>при любых сравнениях.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Нестрогое равенство (3) возвращает </a:t>
            </a:r>
            <a:r>
              <a:rPr lang="en-GB" dirty="0"/>
              <a:t>false, </a:t>
            </a:r>
            <a:r>
              <a:rPr lang="ru-RU" dirty="0"/>
              <a:t>потому что </a:t>
            </a:r>
            <a:r>
              <a:rPr lang="en-GB" dirty="0"/>
              <a:t>undefined </a:t>
            </a:r>
            <a:r>
              <a:rPr lang="ru-RU" dirty="0"/>
              <a:t>равно только </a:t>
            </a:r>
            <a:r>
              <a:rPr lang="en-GB" dirty="0"/>
              <a:t>null, undefined </a:t>
            </a:r>
            <a:r>
              <a:rPr lang="ru-RU" dirty="0"/>
              <a:t>и ничему больше.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213C4D-65AD-6547-85C5-2C758FDE3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50" y="3180662"/>
            <a:ext cx="49403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5632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Итог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99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Операторы сравнения возвращают значения логического типа.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Строки сравниваются посимвольно в лексикографическом порядке.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Значения разных типов при сравнении приводятся к числу. Исключением является сравнение с помощью операторов строгого равенства/неравенства.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Значения </a:t>
            </a:r>
            <a:r>
              <a:rPr lang="en-GB" dirty="0"/>
              <a:t>null </a:t>
            </a:r>
            <a:r>
              <a:rPr lang="ru-RU" dirty="0"/>
              <a:t>и </a:t>
            </a:r>
            <a:r>
              <a:rPr lang="en-GB" dirty="0"/>
              <a:t>undefined </a:t>
            </a:r>
            <a:r>
              <a:rPr lang="ru-RU" dirty="0"/>
              <a:t>равны == друг другу и не равны любому другому значению.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Будьте осторожны при использовании операторов сравнений вроде &gt; и &lt; с переменными, которые могут принимать значения </a:t>
            </a:r>
            <a:r>
              <a:rPr lang="en-GB" dirty="0"/>
              <a:t>null/undefined. </a:t>
            </a:r>
            <a:r>
              <a:rPr lang="ru-RU" dirty="0"/>
              <a:t>Хорошей идеей будет сделать отдельную проверку на </a:t>
            </a:r>
            <a:r>
              <a:rPr lang="en-GB" dirty="0"/>
              <a:t>null/undefined.</a:t>
            </a:r>
          </a:p>
        </p:txBody>
      </p:sp>
    </p:spTree>
    <p:extLst>
      <p:ext uri="{BB962C8B-B14F-4D97-AF65-F5344CB8AC3E}">
        <p14:creationId xmlns:p14="http://schemas.microsoft.com/office/powerpoint/2010/main" val="40888729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Задание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100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E2A10F-941A-A341-B390-5B02B5975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936" y="2082800"/>
            <a:ext cx="30099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806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Задание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101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ru-RU" dirty="0"/>
              <a:t>Очевидно, </a:t>
            </a:r>
            <a:r>
              <a:rPr lang="en-GB" dirty="0"/>
              <a:t>true.</a:t>
            </a:r>
          </a:p>
          <a:p>
            <a:pPr>
              <a:buFont typeface="+mj-lt"/>
              <a:buAutoNum type="arabicPeriod"/>
            </a:pPr>
            <a:r>
              <a:rPr lang="ru-RU" dirty="0"/>
              <a:t>Используется посимвольное сравнение, поэтому </a:t>
            </a:r>
            <a:r>
              <a:rPr lang="en-GB" dirty="0"/>
              <a:t>false. "</a:t>
            </a:r>
            <a:r>
              <a:rPr lang="ru-RU" dirty="0"/>
              <a:t>а" меньше, чем "я".</a:t>
            </a:r>
          </a:p>
          <a:p>
            <a:pPr>
              <a:buFont typeface="+mj-lt"/>
              <a:buAutoNum type="arabicPeriod"/>
            </a:pPr>
            <a:r>
              <a:rPr lang="ru-RU" dirty="0"/>
              <a:t>Снова посимвольное сравнение. Первый символ первой строки "2" больше, чем первый символ второй "1".</a:t>
            </a:r>
          </a:p>
          <a:p>
            <a:pPr>
              <a:buFont typeface="+mj-lt"/>
              <a:buAutoNum type="arabicPeriod"/>
            </a:pPr>
            <a:r>
              <a:rPr lang="ru-RU" dirty="0"/>
              <a:t>Специальный случай. Значения </a:t>
            </a:r>
            <a:r>
              <a:rPr lang="en-GB" dirty="0"/>
              <a:t>null </a:t>
            </a:r>
            <a:r>
              <a:rPr lang="ru-RU" dirty="0"/>
              <a:t>и </a:t>
            </a:r>
            <a:r>
              <a:rPr lang="en-GB" dirty="0"/>
              <a:t>undefined </a:t>
            </a:r>
            <a:r>
              <a:rPr lang="ru-RU" dirty="0"/>
              <a:t>равны только друг другу при нестрогом сравнении.</a:t>
            </a:r>
          </a:p>
          <a:p>
            <a:pPr>
              <a:buFont typeface="+mj-lt"/>
              <a:buAutoNum type="arabicPeriod"/>
            </a:pPr>
            <a:r>
              <a:rPr lang="ru-RU" dirty="0"/>
              <a:t>Строгое сравнение разных типов, поэтому </a:t>
            </a:r>
            <a:r>
              <a:rPr lang="en-GB" dirty="0"/>
              <a:t>false.</a:t>
            </a:r>
          </a:p>
          <a:p>
            <a:pPr>
              <a:buFont typeface="+mj-lt"/>
              <a:buAutoNum type="arabicPeriod"/>
            </a:pPr>
            <a:r>
              <a:rPr lang="ru-RU" dirty="0"/>
              <a:t>Аналогично (4), </a:t>
            </a:r>
            <a:r>
              <a:rPr lang="en-GB" dirty="0"/>
              <a:t>null </a:t>
            </a:r>
            <a:r>
              <a:rPr lang="ru-RU" dirty="0"/>
              <a:t>равен только </a:t>
            </a:r>
            <a:r>
              <a:rPr lang="en-GB" dirty="0"/>
              <a:t>undefined.</a:t>
            </a:r>
          </a:p>
          <a:p>
            <a:pPr>
              <a:buFont typeface="+mj-lt"/>
              <a:buAutoNum type="arabicPeriod"/>
            </a:pPr>
            <a:r>
              <a:rPr lang="ru-RU" dirty="0"/>
              <a:t>Строгое сравнение разных типов.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F4BB0-855B-4847-8074-6C20C951E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789" y="3702280"/>
            <a:ext cx="38735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400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102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ru-RU" dirty="0"/>
              <a:t>Основные: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ИЛИ </a:t>
            </a:r>
            <a:r>
              <a:rPr lang="en-US" dirty="0"/>
              <a:t>(||)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И (</a:t>
            </a:r>
            <a:r>
              <a:rPr lang="en-US" dirty="0"/>
              <a:t>&amp;&amp;</a:t>
            </a:r>
            <a:r>
              <a:rPr lang="ru-RU" dirty="0"/>
              <a:t>)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ru-RU" dirty="0"/>
              <a:t>НЕ (</a:t>
            </a:r>
            <a:r>
              <a:rPr lang="en-US" dirty="0"/>
              <a:t>!</a:t>
            </a:r>
            <a:r>
              <a:rPr lang="ru-RU" dirty="0"/>
              <a:t>)</a:t>
            </a:r>
          </a:p>
          <a:p>
            <a:pPr>
              <a:buFont typeface="+mj-lt"/>
              <a:buAutoNum type="arabicPeriod"/>
            </a:pPr>
            <a:r>
              <a:rPr lang="ru-RU" dirty="0" err="1"/>
              <a:t>Редкоиспользуемые</a:t>
            </a:r>
            <a:r>
              <a:rPr lang="ru-RU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||= (Оператор логического присваивания ИЛИ)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&amp;&amp;= (Оператор логического присваивания И)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?? (Оператор нулевого слияния) 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??= (Оператор нулевого присваивания)</a:t>
            </a:r>
            <a:endParaRPr lang="en-US" dirty="0"/>
          </a:p>
          <a:p>
            <a:pPr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567879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Логическое ИЛИ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103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Традиционно в программировании ИЛИ предназначено только для манипулирования булевыми значениями: в случае, если какой-либо из аргументов </a:t>
            </a:r>
            <a:r>
              <a:rPr lang="en-GB" dirty="0"/>
              <a:t>true, </a:t>
            </a:r>
            <a:r>
              <a:rPr lang="ru-RU" dirty="0"/>
              <a:t>он вернёт </a:t>
            </a:r>
            <a:r>
              <a:rPr lang="en-GB" dirty="0"/>
              <a:t>true, </a:t>
            </a:r>
            <a:r>
              <a:rPr lang="ru-RU" dirty="0"/>
              <a:t>в противоположной ситуации возвращается </a:t>
            </a:r>
            <a:r>
              <a:rPr lang="en-GB" dirty="0"/>
              <a:t>false.</a:t>
            </a:r>
          </a:p>
          <a:p>
            <a:r>
              <a:rPr lang="ru-RU" dirty="0"/>
              <a:t> Оператор || выполняет следующие действия: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Вычисляет операнды слева направо.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Каждый операнд конвертирует в логическое значение. Если результат </a:t>
            </a:r>
            <a:r>
              <a:rPr lang="en-GB" dirty="0"/>
              <a:t>true, </a:t>
            </a:r>
            <a:r>
              <a:rPr lang="ru-RU" dirty="0"/>
              <a:t>останавливается и возвращает исходное значение этого операнда.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Если все операнды являются ложными (</a:t>
            </a:r>
            <a:r>
              <a:rPr lang="en-GB" dirty="0"/>
              <a:t>false), </a:t>
            </a:r>
            <a:r>
              <a:rPr lang="ru-RU" dirty="0"/>
              <a:t>возвращает последний из них.</a:t>
            </a:r>
          </a:p>
          <a:p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D2EAC3-FA89-4C4E-92A6-68282EC42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4407130"/>
            <a:ext cx="4521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7685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Логическое ИЛИ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104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Это делает возможным более интересное применение оператора по сравнению с «чистым, традиционным, только булевым ИЛИ»: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Получение первого истинного значения из списка переменных или выражений.</a:t>
            </a:r>
          </a:p>
          <a:p>
            <a:pPr>
              <a:buFont typeface="+mj-lt"/>
              <a:buAutoNum type="arabicPeriod"/>
            </a:pPr>
            <a:endParaRPr lang="ru-RU" dirty="0"/>
          </a:p>
          <a:p>
            <a:pPr>
              <a:buFont typeface="+mj-lt"/>
              <a:buAutoNum type="arabicPeriod"/>
            </a:pPr>
            <a:endParaRPr lang="ru-RU" b="1" dirty="0"/>
          </a:p>
          <a:p>
            <a:pPr>
              <a:buFont typeface="+mj-lt"/>
              <a:buAutoNum type="arabicPeriod"/>
            </a:pPr>
            <a:endParaRPr lang="ru-RU" dirty="0"/>
          </a:p>
          <a:p>
            <a:pPr>
              <a:buFont typeface="+mj-lt"/>
              <a:buAutoNum type="arabicPeriod"/>
            </a:pPr>
            <a:endParaRPr lang="ru-RU" b="1" dirty="0"/>
          </a:p>
          <a:p>
            <a:pPr>
              <a:buFont typeface="+mj-lt"/>
              <a:buAutoNum type="arabicPeriod"/>
            </a:pPr>
            <a:endParaRPr lang="ru-RU" dirty="0"/>
          </a:p>
          <a:p>
            <a:pPr>
              <a:buFont typeface="+mj-lt"/>
              <a:buAutoNum type="arabicPeriod"/>
            </a:pPr>
            <a:endParaRPr lang="ru-RU" b="1" dirty="0"/>
          </a:p>
          <a:p>
            <a:pPr>
              <a:buFont typeface="+mj-lt"/>
              <a:buAutoNum type="arabicPeriod"/>
            </a:pPr>
            <a:r>
              <a:rPr lang="ru-RU" b="1" dirty="0"/>
              <a:t>Сокращённое вычисление.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B5BE84-AB0B-7945-A4B8-AD767B647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586" y="2596817"/>
            <a:ext cx="7820828" cy="2102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2B9118-77F3-3448-A311-CC4006BAA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0" y="5034020"/>
            <a:ext cx="50546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4604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Логическое И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105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 традиционном программировании И возвращает </a:t>
            </a:r>
            <a:r>
              <a:rPr lang="en-GB" dirty="0"/>
              <a:t>true, </a:t>
            </a:r>
            <a:r>
              <a:rPr lang="ru-RU" dirty="0"/>
              <a:t>если оба аргумента истинны, а иначе – </a:t>
            </a:r>
            <a:r>
              <a:rPr lang="en-GB" dirty="0"/>
              <a:t>false: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ru-RU" dirty="0"/>
              <a:t>Оператор &amp;&amp; выполняет следующие действия: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Вычисляет операнды слева направо.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Каждый операнд преобразует в логическое значение. Если результат </a:t>
            </a:r>
            <a:r>
              <a:rPr lang="en-GB" dirty="0"/>
              <a:t>false, </a:t>
            </a:r>
            <a:r>
              <a:rPr lang="ru-RU" dirty="0"/>
              <a:t>останавливается и возвращает исходное значение этого операнда.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Если все операнды были истинными, возвращается последний.</a:t>
            </a:r>
          </a:p>
          <a:p>
            <a:r>
              <a:rPr lang="ru-RU" dirty="0"/>
              <a:t>Другими словами, И возвращает первое ложное значение. Или последнее, если ничего не найдено.</a:t>
            </a:r>
          </a:p>
          <a:p>
            <a:r>
              <a:rPr lang="ru-RU" dirty="0"/>
              <a:t>Вышеуказанные правила схожи с поведением ИЛИ. Разница в том, что И возвращает первое </a:t>
            </a:r>
            <a:r>
              <a:rPr lang="ru-RU" i="1" dirty="0"/>
              <a:t>ложное</a:t>
            </a:r>
            <a:r>
              <a:rPr lang="ru-RU" dirty="0"/>
              <a:t> значение, а ИЛИ –  первое </a:t>
            </a:r>
            <a:r>
              <a:rPr lang="ru-RU" i="1" dirty="0"/>
              <a:t>истинное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3AAE0-DB0D-C842-91E7-4AA1D6438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2049519"/>
            <a:ext cx="4521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441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Логическое </a:t>
            </a:r>
            <a:r>
              <a:rPr lang="ru-RU" dirty="0"/>
              <a:t>НЕ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106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Оператор НЕ представлен восклицательным знаком: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Оператор принимает один аргумент и выполняет следующие действия:</a:t>
            </a:r>
          </a:p>
          <a:p>
            <a:pPr>
              <a:buFont typeface="+mj-lt"/>
              <a:buAutoNum type="arabicPeriod"/>
            </a:pPr>
            <a:r>
              <a:rPr lang="ru-RU" dirty="0"/>
              <a:t>Сначала приводит аргумент к логическому типу </a:t>
            </a:r>
            <a:r>
              <a:rPr lang="en-GB" dirty="0"/>
              <a:t>true/false.</a:t>
            </a:r>
          </a:p>
          <a:p>
            <a:pPr>
              <a:buFont typeface="+mj-lt"/>
              <a:buAutoNum type="arabicPeriod"/>
            </a:pPr>
            <a:r>
              <a:rPr lang="ru-RU" dirty="0"/>
              <a:t>Затем возвращает противоположное значение.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4D513D-1B42-734B-BC17-8B0EBEEAF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146300"/>
            <a:ext cx="27051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495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Задания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107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Что выведет код ниже?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0DD674-9EC9-3A45-9359-FF5FA45AD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46300"/>
            <a:ext cx="4419600" cy="1282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1B37D6-E5D7-4A49-91B7-735877889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450" y="3529425"/>
            <a:ext cx="4737100" cy="128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B5D393-76A5-2044-A691-936D8503E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022224"/>
            <a:ext cx="35560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1098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5F47F-BDAC-4765-B67C-89CB6328E6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5E62B8-CC51-4EF5-968A-94C7F21C5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Задания</a:t>
            </a:r>
            <a:endParaRPr lang="en-GB" b="1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4A9B6B-816D-C84C-A4F0-A77529C807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88336" y="6548630"/>
            <a:ext cx="2743200" cy="365125"/>
          </a:xfrm>
        </p:spPr>
        <p:txBody>
          <a:bodyPr/>
          <a:lstStyle/>
          <a:p>
            <a:fld id="{161A77F0-8116-4C01-8208-2824BACA9CC7}" type="slidenum">
              <a:rPr lang="en-GB"/>
              <a:pPr/>
              <a:t>108</a:t>
            </a:fld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E1F067C-6A27-A540-A1F3-ABA2BFA69024}"/>
              </a:ext>
            </a:extLst>
          </p:cNvPr>
          <p:cNvSpPr txBox="1">
            <a:spLocks/>
          </p:cNvSpPr>
          <p:nvPr/>
        </p:nvSpPr>
        <p:spPr>
          <a:xfrm>
            <a:off x="226485" y="1743900"/>
            <a:ext cx="11090804" cy="4853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600" b="1" kern="1200">
                <a:solidFill>
                  <a:srgbClr val="1E1F1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ru-RU" dirty="0"/>
              <a:t>Напишите условие </a:t>
            </a:r>
            <a:r>
              <a:rPr lang="en-GB" dirty="0"/>
              <a:t>if </a:t>
            </a:r>
            <a:r>
              <a:rPr lang="ru-RU" dirty="0"/>
              <a:t>для проверки, что переменная </a:t>
            </a:r>
            <a:r>
              <a:rPr lang="en-GB" dirty="0"/>
              <a:t>age </a:t>
            </a:r>
            <a:r>
              <a:rPr lang="ru-RU" dirty="0"/>
              <a:t>находится в диапазоне между 14 и 90 включительно.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ru-RU" dirty="0"/>
              <a:t>Напишите условие </a:t>
            </a:r>
            <a:r>
              <a:rPr lang="en-GB" dirty="0"/>
              <a:t>if </a:t>
            </a:r>
            <a:r>
              <a:rPr lang="ru-RU" dirty="0"/>
              <a:t>для проверки, что значение переменной </a:t>
            </a:r>
            <a:r>
              <a:rPr lang="en-GB" dirty="0"/>
              <a:t>age </a:t>
            </a:r>
            <a:r>
              <a:rPr lang="ru-RU" dirty="0"/>
              <a:t>НЕ находится в диапазоне 14 и 90 включительно.</a:t>
            </a:r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6952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46256</TotalTime>
  <Words>4927</Words>
  <Application>Microsoft Macintosh PowerPoint</Application>
  <PresentationFormat>Widescreen</PresentationFormat>
  <Paragraphs>878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4" baseType="lpstr">
      <vt:lpstr>Arial</vt:lpstr>
      <vt:lpstr>Calibri</vt:lpstr>
      <vt:lpstr>Calibri Light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Alexander Volkov</cp:lastModifiedBy>
  <cp:revision>43</cp:revision>
  <dcterms:created xsi:type="dcterms:W3CDTF">2022-05-12T13:49:15Z</dcterms:created>
  <dcterms:modified xsi:type="dcterms:W3CDTF">2025-04-28T12:32:04Z</dcterms:modified>
</cp:coreProperties>
</file>